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RASID, Hindi for “receipt”, turns every GST e-invoice into one verified token on a shared DRUNIX ledger. The card on the right is what a lender sees: the invoice’s IRP signature is verified, it is unique across the network, it has an AI risk score, and it was paid out over IMPS within hours. MSMEs get paid in hours instead of months, and lenders can finance invoices without fear of fakes or double financing. Primary theme: real asset tokenization; it also touches real-time payments, financial inclusion and AI fraud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MSMEs are owed about ₹10.7 lakh crore in delayed payments and typically wait 60 to 120 days, even though the law says 45. The formal credit gap is ₹20–25 lakh crore, so many borrow informally at 18–30%. The cost falls on everyone: suppliers pay high rates, lenders take fraud losses, buyers run duplicate programmes, and TReDS platforms struggle to attract 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bank, NBFC and TReDS platform keeps its own books, so the same ₹8 lakh invoice can be financed three times for ₹24 lakh and nobody notices. Four gaps cause this: registries are fragmented, invoices are checked once and then forgotten, static rules miss fraud patterns, and settlement is reconciled by hand. Lenders respond with collateral and high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RASID is a consortium network on DRUNIX shared by NPCI, banks, NBFCs and TReDS platforms. Four things happen to every invoice: chaincode verifies the IRP signature, the invoice is registered once network-wide, lenders bid privately, and settlement is confirmed by real payment UTRs. The table shows what changes for each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three users. Each step is one chaincode call, shown in blue, and moves the token to the state underneath. The MSME uploads in any Indian language, the buyer accepts in one click, lenders bid privately, the MSME is paid by IMPS or UPI within hours, and on the due date the buyer’s e-NACH mandate repays and lenders are paid pro rata. Today the same cash takes 60 to 120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InvoiceRegistry contract enforces one path for every token. It is registered by the MSME, accepted by the buyer, listed for bids, and moves to FUNDING_PENDING when a bid is awarded. It becomes FUNDED only after the bank posts the payout UTR, so the ledger and the money never drift apart. After repayment, Settlement pays every holder and closes the token. Late tokens move to OVERDUE, then either REPAID or DEFAULTED.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reach RASID through the MSME app or WhatsApp, bank and NBFC portals, TReDS platforms and buyers’ ERPs. RASID’s own services are the API gateway, the AI risk engine, settlement adapters and a vernacular assistant. Everything that must be trusted lives on DRUNIX: our Go chaincode, lite and committing peers, stateless validation, Raft ordering by NPCI, YugabyteDB for state and KeyDB for private data, deployed with Falcon. Money and identity come from existing 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member runs its own peers: horizontally scaled lite peers for endorsement plus a committing peer. NPCI operates Raft ordering and must co-sign every state change with the originating organisation, so no single lender can rewrite the registry. All members see the same invoice registry, while bid rates and personal data stay in private collections. An anchor bank such as Citi could buy diversified pools of accepted receivables originated by NBFCs.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invoice. 1: the MSME registers it; chaincode verifies the IRP signature and rejects duplicates. 2: the buyer signs acceptance. 3: lenders send sealed bids through the KeyDB transient store. 4: chaincode awards the best bid and emits a FundingRequested event. 5 and 6: the winning bank pays the MSME over IMPS, UPI or RTGS within hours. 7: the bank posts the UTR, and only then is the token FUNDED. 8: on the due date the buyer’s e-NACH debit arrives and its UTR marks the token REPAID. 9: chaincode splits the payout among token holders and closes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gates, in order. Chaincode verifies the IRP signature on the e-invoice QR, so a forged or edited invoice is rejected outright. The shared ledger checks the invoice’s unique key network-wide, and its MVCC check stops two simultaneous registrations, so a duplicate is blocked and every lender is alerted. Finally the AI layer scores the invoice; high-risk ones are held for buyer co-signature and manual review. Only invoices that pass all three are listed for 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we will write. Chaincode is DRUNIX’s smart-contract layer, and RASID’s four contracts, in Go, hold every rule. InvoiceRegistry verifies the IRP signature, enforces one token per invoice and controls who can move it to each state. Marketplace runs sealed-bid auctions. ReceivableToken splits an invoice into units that lenders can hold and transfer. Settlement accepts payment UTRs and pays holders pro rata. The shared ledger holds only what every member needs; bid rates, bank details and cash-flow data stay in private collections and are purged on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layer runs off-chain but reads the whole network’s invoice graph, which no single lender can see today. It looks for three things: circular trading between related firms, near-duplicate invoices that a strict uniqueness key would miss, and buyer repayment behaviour. Every score is signed by the model service and anchored on the token with the model version, so a regulator can audit any lending decision. For the prototype we train on synthetic invoice networks with known fraud patterns injected.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all eight DRUNIX elements on the form, each for a concrete reason. Lite peers absorb month-end invoice spikes without adding ledger copies. Stateless validation keeps signature checks fast. YugabyteDB gives lenders SQL over the registry for exposure and maturity reports. KeyDB and private data keep bid rates confidential but provable by hash. The Go chaincode is the core logic, the multi-org design means no lender owns the registry, and Falcon makes onboarding a new bank repeatable. We also plan to give three pieces back to DRUNIX: a Caliper benchmark pack, a reusable sealed-bid auction module and autoscaling profiles for Falcon.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estimate is bottom-up and every assumption is on the slide. If RASID finances ₹50,000 crore of invoices a year by year 3, about 5% of the delayed-payment pool, moving MSMEs from about 19% informal credit to about 10% buyer-priced discounting saves ₹740 crore a year over a 60-day tenor. Automated verification and reconciliation save another ₹50 crore at ₹200 per invoice. At about ₹1 crore per MSME, that reaches 50,000 MSMEs. The savings scale linearly, so even 2% of the pool is worth over ₹300 crore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RASID compares with typical invoice finance today. Lenders check duplicates only in their own books, review PDFs by hand, price through bilateral deals and reconcile settlement manually. RASID replaces each of these with something verifiable: a shared registry, chaincode-verified IRP signatures, sealed bids, UTR-confirmed settlement and network-wide fraud detection, all on a ledger no member controls. The moat is the network itself: every lender that joins makes the registry more valuable to the rest, and a neutral ledger run with NPCI is hard for any single player to replicate.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six main risks. Regulation: tokenized receivables are new, so we start inside existing TReDS and factoring rules and would apply to the RBI regulatory sandbox. Adoption: the network is only valuable with many lenders, so we pilot with one anchor bank and its NBFC partners. Privacy: only hashes go on-chain and personal data is purged on schedule. Throughput: lite peers autoscale and we benchmark with Caliper first. Model risk: the AI can only hold an invoice for review, never reject it. Buyer default: the buyer signs an e-NACH mandate at acceptance, and late or defaulted tokens follow explicit on-chain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submit this pitch by 25 October and build from 10 to 22 November: a three-organisation DRUNIX network deployed with Falcon, our four Go contracts with tests, mock IRP and UPI/IMPS sandbox adapters, a fraud model trained on synthetic invoice graphs, and a Caliper benchmark. Code and README go into the rasid-drunix repo by 22 November, and at the finale we demo one invoice end to end. The budget is ₹3 lakh over 45 days, mostly cloud infrastructure for the network and benchmarks. After the hackathon, the goal is a pilot with one anchor bank and its NBFC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RASID is the trust layer India’s MSME receivables are missing. Chaincode makes double financing of a registered invoice impossible, NPCI rails pay MSMEs in hours, and DRUNIX is the core of the system, not an add-on. At just 5% of the delayed-payment pool, that is about ₹790 crore a year saved and 50,000 MSMEs reached. The code will be on GitHub at rasid-drunix.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335260"/>
          </a:xfrm>
          <a:prstGeom prst="rect">
            <a:avLst/>
          </a:prstGeom>
          <a:noFill/>
          <a:ln/>
        </p:spPr>
        <p:txBody>
          <a:bodyPr wrap="square" lIns="0" tIns="0" rIns="0" bIns="0" rtlCol="0" anchor="t"/>
          <a:lstStyle>
            <a:lvl1pPr algn="l" indent="0" marL="0">
              <a:lnSpc>
                <a:spcPct val="115000"/>
              </a:lnSpc>
              <a:buNone/>
              <a:defRPr lang="en-US" sz="2200" dirty="0">
                <a:solidFill>
                  <a:srgbClr val="1A1D21"/>
                </a:solidFill>
                <a:latin typeface="Georgia" pitchFamily="34" charset="0"/>
                <a:ea typeface="Georgia" pitchFamily="34" charset="-122"/>
                <a:cs typeface="Georgia" pitchFamily="34" charset="-120"/>
              </a:defRPr>
            </a:lvl1pPr>
          </a:lstStyle>
          <a:p>
            <a:pPr algn="l" indent="0" marL="0">
              <a:lnSpc>
                <a:spcPct val="115000"/>
              </a:lnSpc>
              <a:buNone/>
            </a:pPr>
            <a:endParaRPr lang="en-US" sz="2200" dirty="0"/>
          </a:p>
        </p:txBody>
      </p:sp>
      <p:sp>
        <p:nvSpPr>
          <p:cNvPr id="3" name="Text Placeholder 2"/>
          <p:cNvSpPr/>
          <p:nvPr>
            <p:ph idx="101" type="body"/>
          </p:nvPr>
        </p:nvSpPr>
        <p:spPr>
          <a:xfrm>
            <a:off x="812800" y="1452860"/>
            <a:ext cx="10566400" cy="4592340"/>
          </a:xfrm>
          <a:prstGeom prst="rect">
            <a:avLst/>
          </a:prstGeom>
          <a:noFill/>
          <a:ln/>
        </p:spPr>
        <p:txBody>
          <a:bodyPr wrap="square" lIns="0" tIns="0" rIns="0" bIns="0" rtlCol="0" anchor="t"/>
          <a:lstStyle>
            <a:lvl1pPr algn="l" indent="0" marL="0">
              <a:lnSpc>
                <a:spcPct val="140000"/>
              </a:lnSpc>
              <a:buNone/>
              <a:defRPr lang="en-US" sz="1600" dirty="0">
                <a:solidFill>
                  <a:srgbClr val="1A1D2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335260"/>
          </a:xfrm>
          <a:prstGeom prst="rect">
            <a:avLst/>
          </a:prstGeom>
          <a:noFill/>
          <a:ln/>
        </p:spPr>
        <p:txBody>
          <a:bodyPr wrap="square" lIns="0" tIns="0" rIns="0" bIns="0" rtlCol="0" anchor="t"/>
          <a:lstStyle>
            <a:lvl1pPr algn="l" indent="0" marL="0">
              <a:lnSpc>
                <a:spcPct val="115000"/>
              </a:lnSpc>
              <a:buNone/>
              <a:defRPr lang="en-US" sz="2200" dirty="0">
                <a:solidFill>
                  <a:srgbClr val="1A1D21"/>
                </a:solidFill>
                <a:latin typeface="Georgia" pitchFamily="34" charset="0"/>
                <a:ea typeface="Georgia" pitchFamily="34" charset="-122"/>
                <a:cs typeface="Georgia" pitchFamily="34" charset="-120"/>
              </a:defRPr>
            </a:lvl1pPr>
          </a:lstStyle>
          <a:p>
            <a:pPr algn="l" indent="0" marL="0">
              <a:lnSpc>
                <a:spcPct val="115000"/>
              </a:lnSpc>
              <a:buNone/>
            </a:pPr>
            <a:endParaRPr lang="en-US" sz="2200" dirty="0"/>
          </a:p>
        </p:txBody>
      </p:sp>
      <p:sp>
        <p:nvSpPr>
          <p:cNvPr id="3" name="Text Placeholder 2"/>
          <p:cNvSpPr/>
          <p:nvPr>
            <p:ph idx="101" type="body"/>
          </p:nvPr>
        </p:nvSpPr>
        <p:spPr>
          <a:xfrm>
            <a:off x="812800" y="1452860"/>
            <a:ext cx="10566400" cy="4592340"/>
          </a:xfrm>
          <a:prstGeom prst="rect">
            <a:avLst/>
          </a:prstGeom>
          <a:noFill/>
          <a:ln/>
        </p:spPr>
        <p:txBody>
          <a:bodyPr wrap="square" lIns="0" tIns="0" rIns="0" bIns="0" rtlCol="0" anchor="t"/>
          <a:lstStyle>
            <a:lvl1pPr algn="l" indent="0" marL="0">
              <a:lnSpc>
                <a:spcPct val="140000"/>
              </a:lnSpc>
              <a:buNone/>
              <a:defRPr lang="en-US" sz="1600" dirty="0">
                <a:solidFill>
                  <a:srgbClr val="1A1D21"/>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slideLayout" Target="../slideLayouts/slideLayout2.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812800" y="8128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Citi × NPCI DRUNIX Hackathon 2026 · Stage 3 idea pitch</a:t>
            </a:r>
            <a:endParaRPr lang="en-US" sz="1200" dirty="0"/>
          </a:p>
        </p:txBody>
      </p:sp>
      <p:sp>
        <p:nvSpPr>
          <p:cNvPr id="3" name="Shape 1"/>
          <p:cNvSpPr/>
          <p:nvPr/>
        </p:nvSpPr>
        <p:spPr>
          <a:xfrm>
            <a:off x="812800" y="1841500"/>
            <a:ext cx="609600" cy="38100"/>
          </a:xfrm>
          <a:prstGeom prst="rect">
            <a:avLst/>
          </a:prstGeom>
          <a:solidFill>
            <a:srgbClr val="1F4E9A"/>
          </a:solidFill>
          <a:ln/>
        </p:spPr>
      </p:sp>
      <p:sp>
        <p:nvSpPr>
          <p:cNvPr id="4" name="Text 2"/>
          <p:cNvSpPr/>
          <p:nvPr>
            <p:ph type="title"/>
          </p:nvPr>
        </p:nvSpPr>
        <p:spPr>
          <a:xfrm>
            <a:off x="812800" y="2032000"/>
            <a:ext cx="6069584"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1A1D21"/>
                </a:solidFill>
                <a:latin typeface="Georgia" pitchFamily="18" charset="0"/>
                <a:ea typeface="Georgia" pitchFamily="18" charset="-122"/>
                <a:cs typeface="Georgia" pitchFamily="18" charset="-120"/>
              </a:rPr>
              <a:t>RASID</a:t>
            </a:r>
            <a:endParaRPr lang="en-US" sz="8000" dirty="0"/>
          </a:p>
        </p:txBody>
      </p:sp>
      <p:sp>
        <p:nvSpPr>
          <p:cNvPr id="5" name="Text 3"/>
          <p:cNvSpPr/>
          <p:nvPr/>
        </p:nvSpPr>
        <p:spPr>
          <a:xfrm>
            <a:off x="812800" y="3200400"/>
            <a:ext cx="60695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270"/>
                </a:solidFill>
                <a:latin typeface="Arial" pitchFamily="34" charset="0"/>
                <a:ea typeface="Arial" pitchFamily="34" charset="-122"/>
                <a:cs typeface="Arial" pitchFamily="34" charset="-120"/>
              </a:rPr>
              <a:t>Hindi for “receipt”</a:t>
            </a:r>
            <a:endParaRPr lang="en-US" sz="1400" dirty="0"/>
          </a:p>
        </p:txBody>
      </p:sp>
      <p:sp>
        <p:nvSpPr>
          <p:cNvPr id="6" name="Text 4"/>
          <p:cNvSpPr/>
          <p:nvPr/>
        </p:nvSpPr>
        <p:spPr>
          <a:xfrm>
            <a:off x="812800" y="3601690"/>
            <a:ext cx="6069584" cy="121409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1A1D21"/>
                </a:solidFill>
                <a:latin typeface="Georgia" pitchFamily="18" charset="0"/>
                <a:ea typeface="Georgia" pitchFamily="18" charset="-122"/>
                <a:cs typeface="Georgia" pitchFamily="18" charset="-120"/>
              </a:rPr>
              <a:t>Fraud-proof invoice finance for India’s MSMEs, built on DRUNIX and paid in hours, not months.</a:t>
            </a:r>
            <a:endParaRPr lang="en-US" sz="2400" dirty="0"/>
          </a:p>
        </p:txBody>
      </p:sp>
      <p:sp>
        <p:nvSpPr>
          <p:cNvPr id="7" name="Text 5"/>
          <p:cNvSpPr/>
          <p:nvPr/>
        </p:nvSpPr>
        <p:spPr>
          <a:xfrm>
            <a:off x="812800" y="5257800"/>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Team</a:t>
            </a:r>
            <a:endParaRPr lang="en-US" sz="1200" dirty="0"/>
          </a:p>
        </p:txBody>
      </p:sp>
      <p:sp>
        <p:nvSpPr>
          <p:cNvPr id="8" name="Text 6"/>
          <p:cNvSpPr/>
          <p:nvPr/>
        </p:nvSpPr>
        <p:spPr>
          <a:xfrm>
            <a:off x="812800" y="5509220"/>
            <a:ext cx="18836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ARD</a:t>
            </a:r>
            <a:endParaRPr lang="en-US" sz="1200" dirty="0"/>
          </a:p>
        </p:txBody>
      </p:sp>
      <p:sp>
        <p:nvSpPr>
          <p:cNvPr id="9" name="Text 7"/>
          <p:cNvSpPr/>
          <p:nvPr/>
        </p:nvSpPr>
        <p:spPr>
          <a:xfrm>
            <a:off x="2844800" y="5257800"/>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Registration ID</a:t>
            </a:r>
            <a:endParaRPr lang="en-US" sz="1200" dirty="0"/>
          </a:p>
        </p:txBody>
      </p:sp>
      <p:sp>
        <p:nvSpPr>
          <p:cNvPr id="10" name="Text 8"/>
          <p:cNvSpPr/>
          <p:nvPr/>
        </p:nvSpPr>
        <p:spPr>
          <a:xfrm>
            <a:off x="2844800" y="5509220"/>
            <a:ext cx="18836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STU5011</a:t>
            </a:r>
            <a:endParaRPr lang="en-US" sz="1200" dirty="0"/>
          </a:p>
        </p:txBody>
      </p:sp>
      <p:sp>
        <p:nvSpPr>
          <p:cNvPr id="11" name="Text 9"/>
          <p:cNvSpPr/>
          <p:nvPr/>
        </p:nvSpPr>
        <p:spPr>
          <a:xfrm>
            <a:off x="4876800" y="5257800"/>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Primary theme</a:t>
            </a:r>
            <a:endParaRPr lang="en-US" sz="1200" dirty="0"/>
          </a:p>
        </p:txBody>
      </p:sp>
      <p:sp>
        <p:nvSpPr>
          <p:cNvPr id="12" name="Text 10"/>
          <p:cNvSpPr/>
          <p:nvPr/>
        </p:nvSpPr>
        <p:spPr>
          <a:xfrm>
            <a:off x="4876800" y="5509220"/>
            <a:ext cx="18836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Real Asset Tokenization</a:t>
            </a:r>
            <a:endParaRPr lang="en-US" sz="1200" dirty="0"/>
          </a:p>
        </p:txBody>
      </p:sp>
      <p:sp>
        <p:nvSpPr>
          <p:cNvPr id="13" name="Shape 11"/>
          <p:cNvSpPr/>
          <p:nvPr/>
        </p:nvSpPr>
        <p:spPr>
          <a:xfrm>
            <a:off x="7315200" y="0"/>
            <a:ext cx="4876800" cy="6858000"/>
          </a:xfrm>
          <a:prstGeom prst="rect">
            <a:avLst/>
          </a:prstGeom>
          <a:solidFill>
            <a:srgbClr val="1F4E9A"/>
          </a:solidFill>
          <a:ln/>
        </p:spPr>
      </p:sp>
      <p:pic>
        <p:nvPicPr>
          <p:cNvPr id="14" name="Image 0" descr="Faint network of connected lender nodes behind the invoice token">    </p:cNvPr>
          <p:cNvPicPr>
            <a:picLocks noChangeAspect="1"/>
          </p:cNvPicPr>
          <p:nvPr/>
        </p:nvPicPr>
        <p:blipFill>
          <a:blip r:embed="rId1"/>
          <a:srcRect l="-12" r="-12" t="0" b="0"/>
          <a:stretch/>
        </p:blipFill>
        <p:spPr>
          <a:xfrm>
            <a:off x="7315200" y="0"/>
            <a:ext cx="4876800" cy="6858000"/>
          </a:xfrm>
          <a:prstGeom prst="rect">
            <a:avLst/>
          </a:prstGeom>
        </p:spPr>
      </p:pic>
      <p:sp>
        <p:nvSpPr>
          <p:cNvPr id="15" name="Shape 12"/>
          <p:cNvSpPr/>
          <p:nvPr/>
        </p:nvSpPr>
        <p:spPr>
          <a:xfrm>
            <a:off x="7975600" y="1460500"/>
            <a:ext cx="3556000" cy="3683000"/>
          </a:xfrm>
          <a:prstGeom prst="roundRect">
            <a:avLst>
              <a:gd name="adj" fmla="val 1429"/>
            </a:avLst>
          </a:prstGeom>
          <a:solidFill>
            <a:srgbClr val="FFFFFF"/>
          </a:solidFill>
          <a:ln/>
          <a:effectLst>
            <a:outerShdw sx="100000" sy="100000" kx="0" ky="0" algn="bl" rotWithShape="0" blurRad="304800" dist="152400" dir="5400000">
              <a:srgbClr val="0A193C">
                <a:alpha val="35000"/>
              </a:srgbClr>
            </a:outerShdw>
          </a:effectLst>
        </p:spPr>
      </p:sp>
      <p:sp>
        <p:nvSpPr>
          <p:cNvPr id="16" name="Text 13"/>
          <p:cNvSpPr/>
          <p:nvPr/>
        </p:nvSpPr>
        <p:spPr>
          <a:xfrm>
            <a:off x="8229600" y="1739900"/>
            <a:ext cx="13313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270"/>
                </a:solidFill>
                <a:latin typeface="Arial" pitchFamily="34" charset="0"/>
                <a:ea typeface="Arial" pitchFamily="34" charset="-122"/>
                <a:cs typeface="Arial" pitchFamily="34" charset="-120"/>
              </a:rPr>
              <a:t>e-Invoice token</a:t>
            </a:r>
            <a:endParaRPr lang="en-US" sz="1200" dirty="0"/>
          </a:p>
        </p:txBody>
      </p:sp>
      <p:sp>
        <p:nvSpPr>
          <p:cNvPr id="17" name="Text 14"/>
          <p:cNvSpPr/>
          <p:nvPr/>
        </p:nvSpPr>
        <p:spPr>
          <a:xfrm>
            <a:off x="10557421" y="1720850"/>
            <a:ext cx="713829" cy="251420"/>
          </a:xfrm>
          <a:prstGeom prst="roundRect">
            <a:avLst>
              <a:gd name="adj" fmla="val 7577"/>
            </a:avLst>
          </a:prstGeom>
          <a:noFill/>
          <a:ln w="12700">
            <a:solidFill>
              <a:srgbClr val="1F4E9A"/>
            </a:solidFill>
            <a:prstDash val="solid"/>
          </a:ln>
        </p:spPr>
        <p:txBody>
          <a:bodyPr wrap="none" lIns="0" tIns="0" rIns="0" bIns="0" rtlCol="0" anchor="ctr">
            <a:normAutofit/>
          </a:bodyPr>
          <a:lstStyle/>
          <a:p>
            <a:pPr algn="ctr"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FUNDED</a:t>
            </a:r>
            <a:endParaRPr lang="en-US" sz="1200" dirty="0"/>
          </a:p>
        </p:txBody>
      </p:sp>
      <p:sp>
        <p:nvSpPr>
          <p:cNvPr id="18" name="Text 15"/>
          <p:cNvSpPr/>
          <p:nvPr/>
        </p:nvSpPr>
        <p:spPr>
          <a:xfrm>
            <a:off x="8229600" y="2105620"/>
            <a:ext cx="313944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A1D21"/>
                </a:solidFill>
                <a:latin typeface="Georgia" pitchFamily="18" charset="0"/>
                <a:ea typeface="Georgia" pitchFamily="18" charset="-122"/>
                <a:cs typeface="Georgia" pitchFamily="18" charset="-120"/>
              </a:rPr>
              <a:t>₹8,00,000</a:t>
            </a:r>
            <a:endParaRPr lang="en-US" sz="3600" dirty="0"/>
          </a:p>
        </p:txBody>
      </p:sp>
      <p:sp>
        <p:nvSpPr>
          <p:cNvPr id="19" name="Text 16"/>
          <p:cNvSpPr/>
          <p:nvPr/>
        </p:nvSpPr>
        <p:spPr>
          <a:xfrm>
            <a:off x="8229600" y="2633911"/>
            <a:ext cx="3139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Buyer accepted · due in 60 days</a:t>
            </a:r>
            <a:endParaRPr lang="en-US" sz="1200" dirty="0"/>
          </a:p>
        </p:txBody>
      </p:sp>
      <p:sp>
        <p:nvSpPr>
          <p:cNvPr id="20" name="Text 17"/>
          <p:cNvSpPr/>
          <p:nvPr/>
        </p:nvSpPr>
        <p:spPr>
          <a:xfrm>
            <a:off x="8229600" y="3037731"/>
            <a:ext cx="11047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IRP signature</a:t>
            </a:r>
            <a:endParaRPr lang="en-US" sz="1200" dirty="0"/>
          </a:p>
        </p:txBody>
      </p:sp>
      <p:sp>
        <p:nvSpPr>
          <p:cNvPr id="21" name="Text 18"/>
          <p:cNvSpPr/>
          <p:nvPr/>
        </p:nvSpPr>
        <p:spPr>
          <a:xfrm>
            <a:off x="10401657" y="3037731"/>
            <a:ext cx="875943"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4E9A"/>
                </a:solidFill>
                <a:latin typeface="Arial" pitchFamily="34" charset="0"/>
                <a:ea typeface="Arial" pitchFamily="34" charset="-122"/>
                <a:cs typeface="Arial" pitchFamily="34" charset="-120"/>
              </a:rPr>
              <a:t>✓ Verified</a:t>
            </a:r>
            <a:endParaRPr lang="en-US" sz="1200" dirty="0"/>
          </a:p>
        </p:txBody>
      </p:sp>
      <p:sp>
        <p:nvSpPr>
          <p:cNvPr id="22" name="Text 19"/>
          <p:cNvSpPr/>
          <p:nvPr/>
        </p:nvSpPr>
        <p:spPr>
          <a:xfrm>
            <a:off x="8229600" y="3378051"/>
            <a:ext cx="1290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Duplicate check</a:t>
            </a:r>
            <a:endParaRPr lang="en-US" sz="1200" dirty="0"/>
          </a:p>
        </p:txBody>
      </p:sp>
      <p:sp>
        <p:nvSpPr>
          <p:cNvPr id="23" name="Text 20"/>
          <p:cNvSpPr/>
          <p:nvPr/>
        </p:nvSpPr>
        <p:spPr>
          <a:xfrm>
            <a:off x="10442674" y="3378051"/>
            <a:ext cx="83492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F4E9A"/>
                </a:solidFill>
                <a:latin typeface="Arial" pitchFamily="34" charset="0"/>
                <a:ea typeface="Arial" pitchFamily="34" charset="-122"/>
                <a:cs typeface="Arial" pitchFamily="34" charset="-120"/>
              </a:rPr>
              <a:t>✓ Unique</a:t>
            </a:r>
            <a:endParaRPr lang="en-US" sz="1200" dirty="0"/>
          </a:p>
        </p:txBody>
      </p:sp>
      <p:sp>
        <p:nvSpPr>
          <p:cNvPr id="24" name="Text 21"/>
          <p:cNvSpPr/>
          <p:nvPr/>
        </p:nvSpPr>
        <p:spPr>
          <a:xfrm>
            <a:off x="8229600" y="3718371"/>
            <a:ext cx="10060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AI risk score</a:t>
            </a:r>
            <a:endParaRPr lang="en-US" sz="1200" dirty="0"/>
          </a:p>
        </p:txBody>
      </p:sp>
      <p:sp>
        <p:nvSpPr>
          <p:cNvPr id="25" name="Text 22"/>
          <p:cNvSpPr/>
          <p:nvPr/>
        </p:nvSpPr>
        <p:spPr>
          <a:xfrm>
            <a:off x="10393442" y="3718371"/>
            <a:ext cx="884158"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A1D21"/>
                </a:solidFill>
                <a:latin typeface="Arial" pitchFamily="34" charset="0"/>
                <a:ea typeface="Arial" pitchFamily="34" charset="-122"/>
                <a:cs typeface="Arial" pitchFamily="34" charset="-120"/>
              </a:rPr>
              <a:t>Low · 0.08</a:t>
            </a:r>
            <a:endParaRPr lang="en-US" sz="1200" dirty="0"/>
          </a:p>
        </p:txBody>
      </p:sp>
      <p:sp>
        <p:nvSpPr>
          <p:cNvPr id="26" name="Text 23"/>
          <p:cNvSpPr/>
          <p:nvPr/>
        </p:nvSpPr>
        <p:spPr>
          <a:xfrm>
            <a:off x="8229600" y="4058692"/>
            <a:ext cx="11485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Paid via IMPS</a:t>
            </a:r>
            <a:endParaRPr lang="en-US" sz="1200" dirty="0"/>
          </a:p>
        </p:txBody>
      </p:sp>
      <p:sp>
        <p:nvSpPr>
          <p:cNvPr id="27" name="Text 24"/>
          <p:cNvSpPr/>
          <p:nvPr/>
        </p:nvSpPr>
        <p:spPr>
          <a:xfrm>
            <a:off x="10169843" y="4058692"/>
            <a:ext cx="1107758"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A1D21"/>
                </a:solidFill>
                <a:latin typeface="Arial" pitchFamily="34" charset="0"/>
                <a:ea typeface="Arial" pitchFamily="34" charset="-122"/>
                <a:cs typeface="Arial" pitchFamily="34" charset="-120"/>
              </a:rPr>
              <a:t>in 3 h 12 min</a:t>
            </a:r>
            <a:endParaRPr lang="en-US" sz="1200" dirty="0"/>
          </a:p>
        </p:txBody>
      </p:sp>
      <p:sp>
        <p:nvSpPr>
          <p:cNvPr id="28" name="Text 25"/>
          <p:cNvSpPr/>
          <p:nvPr/>
        </p:nvSpPr>
        <p:spPr>
          <a:xfrm>
            <a:off x="8229600" y="4462512"/>
            <a:ext cx="3139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AF"/>
                </a:solidFill>
                <a:latin typeface="Courier New" pitchFamily="49" charset="0"/>
                <a:ea typeface="Courier New" pitchFamily="49" charset="-122"/>
                <a:cs typeface="Courier New" pitchFamily="49" charset="-120"/>
              </a:rPr>
              <a:t>key 9f3a…c41e = SHA-256(IRN)</a:t>
            </a:r>
            <a:endParaRPr lang="en-US" sz="1200" dirty="0"/>
          </a:p>
        </p:txBody>
      </p:sp>
      <p:sp>
        <p:nvSpPr>
          <p:cNvPr id="29" name="Text 26"/>
          <p:cNvSpPr/>
          <p:nvPr/>
        </p:nvSpPr>
        <p:spPr>
          <a:xfrm>
            <a:off x="7975600" y="5397500"/>
            <a:ext cx="36626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5"/>
                </a:solidFill>
                <a:latin typeface="Arial" pitchFamily="34" charset="0"/>
                <a:ea typeface="Arial" pitchFamily="34" charset="-122"/>
                <a:cs typeface="Arial" pitchFamily="34" charset="-120"/>
              </a:rPr>
              <a:t>One verified token per invoice, shared by every lender on the network.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MSMEs wait months to be paid, and lenders can’t safely fund the wait</a:t>
            </a:r>
            <a:endParaRPr lang="en-US" sz="2200" dirty="0"/>
          </a:p>
        </p:txBody>
      </p:sp>
      <p:sp>
        <p:nvSpPr>
          <p:cNvPr id="3" name="Text 1"/>
          <p:cNvSpPr/>
          <p:nvPr/>
        </p:nvSpPr>
        <p:spPr>
          <a:xfrm>
            <a:off x="812800" y="1503660"/>
            <a:ext cx="366268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4E9A"/>
                </a:solidFill>
                <a:latin typeface="Georgia" pitchFamily="18" charset="0"/>
                <a:ea typeface="Georgia" pitchFamily="18" charset="-122"/>
                <a:cs typeface="Georgia" pitchFamily="18" charset="-120"/>
              </a:rPr>
              <a:t>₹10.7 lakh cr</a:t>
            </a:r>
            <a:endParaRPr lang="en-US" sz="3600" dirty="0"/>
          </a:p>
        </p:txBody>
      </p:sp>
      <p:sp>
        <p:nvSpPr>
          <p:cNvPr id="4" name="Text 2"/>
          <p:cNvSpPr/>
          <p:nvPr/>
        </p:nvSpPr>
        <p:spPr>
          <a:xfrm>
            <a:off x="812800" y="205735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owed to MSMEs in delayed payments¹</a:t>
            </a:r>
            <a:endParaRPr lang="en-US" sz="1200" dirty="0"/>
          </a:p>
        </p:txBody>
      </p:sp>
      <p:sp>
        <p:nvSpPr>
          <p:cNvPr id="5" name="Text 3"/>
          <p:cNvSpPr/>
          <p:nvPr/>
        </p:nvSpPr>
        <p:spPr>
          <a:xfrm>
            <a:off x="812800" y="2524671"/>
            <a:ext cx="3662680"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4E9A"/>
                </a:solidFill>
                <a:latin typeface="Georgia" pitchFamily="18" charset="0"/>
                <a:ea typeface="Georgia" pitchFamily="18" charset="-122"/>
                <a:cs typeface="Georgia" pitchFamily="18" charset="-120"/>
              </a:rPr>
              <a:t>60–120 days</a:t>
            </a:r>
            <a:endParaRPr lang="en-US" sz="3600" dirty="0"/>
          </a:p>
        </p:txBody>
      </p:sp>
      <p:sp>
        <p:nvSpPr>
          <p:cNvPr id="6" name="Text 4"/>
          <p:cNvSpPr/>
          <p:nvPr/>
        </p:nvSpPr>
        <p:spPr>
          <a:xfrm>
            <a:off x="812800" y="3078361"/>
            <a:ext cx="396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typical wait to be paid, despite the 45-day legal limit²</a:t>
            </a:r>
            <a:endParaRPr lang="en-US" sz="1200" dirty="0"/>
          </a:p>
        </p:txBody>
      </p:sp>
      <p:sp>
        <p:nvSpPr>
          <p:cNvPr id="7" name="Text 5"/>
          <p:cNvSpPr/>
          <p:nvPr/>
        </p:nvSpPr>
        <p:spPr>
          <a:xfrm>
            <a:off x="812800" y="3545681"/>
            <a:ext cx="3662680" cy="103118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4E9A"/>
                </a:solidFill>
                <a:latin typeface="Georgia" pitchFamily="18" charset="0"/>
                <a:ea typeface="Georgia" pitchFamily="18" charset="-122"/>
                <a:cs typeface="Georgia" pitchFamily="18" charset="-120"/>
              </a:rPr>
              <a:t>₹20–25 lakh cr</a:t>
            </a:r>
            <a:endParaRPr lang="en-US" sz="3600" dirty="0"/>
          </a:p>
        </p:txBody>
      </p:sp>
      <p:sp>
        <p:nvSpPr>
          <p:cNvPr id="8" name="Text 6"/>
          <p:cNvSpPr/>
          <p:nvPr/>
        </p:nvSpPr>
        <p:spPr>
          <a:xfrm>
            <a:off x="812800" y="4602262"/>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estimated formal MSME credit gap³</a:t>
            </a:r>
            <a:endParaRPr lang="en-US" sz="1200" dirty="0"/>
          </a:p>
        </p:txBody>
      </p:sp>
      <p:sp>
        <p:nvSpPr>
          <p:cNvPr id="9" name="Text 7"/>
          <p:cNvSpPr/>
          <p:nvPr/>
        </p:nvSpPr>
        <p:spPr>
          <a:xfrm>
            <a:off x="4775200" y="1402060"/>
            <a:ext cx="68021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Who carries the cost</a:t>
            </a:r>
            <a:endParaRPr lang="en-US" sz="1600" dirty="0"/>
          </a:p>
        </p:txBody>
      </p:sp>
      <p:sp>
        <p:nvSpPr>
          <p:cNvPr id="10" name="Shape 8"/>
          <p:cNvSpPr/>
          <p:nvPr/>
        </p:nvSpPr>
        <p:spPr>
          <a:xfrm>
            <a:off x="4775200" y="1747490"/>
            <a:ext cx="6604000" cy="340320"/>
          </a:xfrm>
          <a:prstGeom prst="rect">
            <a:avLst/>
          </a:prstGeom>
          <a:solidFill>
            <a:srgbClr val="EAF0F8"/>
          </a:solidFill>
          <a:ln/>
        </p:spPr>
      </p:sp>
      <p:sp>
        <p:nvSpPr>
          <p:cNvPr id="11" name="Text 9"/>
          <p:cNvSpPr/>
          <p:nvPr/>
        </p:nvSpPr>
        <p:spPr>
          <a:xfrm>
            <a:off x="4876800" y="1810990"/>
            <a:ext cx="16093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Group</a:t>
            </a:r>
            <a:endParaRPr lang="en-US" sz="1200" dirty="0"/>
          </a:p>
        </p:txBody>
      </p:sp>
      <p:sp>
        <p:nvSpPr>
          <p:cNvPr id="12" name="Text 10"/>
          <p:cNvSpPr/>
          <p:nvPr/>
        </p:nvSpPr>
        <p:spPr>
          <a:xfrm>
            <a:off x="6638528" y="1810990"/>
            <a:ext cx="2346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What happens today</a:t>
            </a:r>
            <a:endParaRPr lang="en-US" sz="1200" dirty="0"/>
          </a:p>
        </p:txBody>
      </p:sp>
      <p:sp>
        <p:nvSpPr>
          <p:cNvPr id="13" name="Text 11"/>
          <p:cNvSpPr/>
          <p:nvPr/>
        </p:nvSpPr>
        <p:spPr>
          <a:xfrm>
            <a:off x="9119592" y="1810990"/>
            <a:ext cx="22227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What it costs them</a:t>
            </a:r>
            <a:endParaRPr lang="en-US" sz="1200" dirty="0"/>
          </a:p>
        </p:txBody>
      </p:sp>
      <p:sp>
        <p:nvSpPr>
          <p:cNvPr id="14" name="Text 12"/>
          <p:cNvSpPr/>
          <p:nvPr/>
        </p:nvSpPr>
        <p:spPr>
          <a:xfrm>
            <a:off x="4876800" y="2151311"/>
            <a:ext cx="16093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MSME suppliers</a:t>
            </a:r>
            <a:endParaRPr lang="en-US" sz="1200" dirty="0"/>
          </a:p>
        </p:txBody>
      </p:sp>
      <p:sp>
        <p:nvSpPr>
          <p:cNvPr id="15" name="Text 13"/>
          <p:cNvSpPr/>
          <p:nvPr/>
        </p:nvSpPr>
        <p:spPr>
          <a:xfrm>
            <a:off x="6638528" y="2151311"/>
            <a:ext cx="2346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Paid in 60–120 days, no collateral to borrow against</a:t>
            </a:r>
            <a:endParaRPr lang="en-US" sz="1200" dirty="0"/>
          </a:p>
        </p:txBody>
      </p:sp>
      <p:sp>
        <p:nvSpPr>
          <p:cNvPr id="16" name="Text 14"/>
          <p:cNvSpPr/>
          <p:nvPr/>
        </p:nvSpPr>
        <p:spPr>
          <a:xfrm>
            <a:off x="9119592" y="2151311"/>
            <a:ext cx="22227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Informal credit at 18–30% a year</a:t>
            </a:r>
            <a:endParaRPr lang="en-US" sz="1200" dirty="0"/>
          </a:p>
        </p:txBody>
      </p:sp>
      <p:sp>
        <p:nvSpPr>
          <p:cNvPr id="17" name="Shape 15"/>
          <p:cNvSpPr/>
          <p:nvPr/>
        </p:nvSpPr>
        <p:spPr>
          <a:xfrm>
            <a:off x="4775200" y="2641451"/>
            <a:ext cx="6604000" cy="553641"/>
          </a:xfrm>
          <a:prstGeom prst="rect">
            <a:avLst/>
          </a:prstGeom>
          <a:solidFill>
            <a:srgbClr val="F1F4F9"/>
          </a:solidFill>
          <a:ln/>
        </p:spPr>
      </p:sp>
      <p:sp>
        <p:nvSpPr>
          <p:cNvPr id="18" name="Text 16"/>
          <p:cNvSpPr/>
          <p:nvPr/>
        </p:nvSpPr>
        <p:spPr>
          <a:xfrm>
            <a:off x="4876800" y="2704951"/>
            <a:ext cx="16093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Banks and NBFCs</a:t>
            </a:r>
            <a:endParaRPr lang="en-US" sz="1200" dirty="0"/>
          </a:p>
        </p:txBody>
      </p:sp>
      <p:sp>
        <p:nvSpPr>
          <p:cNvPr id="19" name="Text 17"/>
          <p:cNvSpPr/>
          <p:nvPr/>
        </p:nvSpPr>
        <p:spPr>
          <a:xfrm>
            <a:off x="6638528" y="2704951"/>
            <a:ext cx="2346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Can’t see what other lenders have financed</a:t>
            </a:r>
            <a:endParaRPr lang="en-US" sz="1200" dirty="0"/>
          </a:p>
        </p:txBody>
      </p:sp>
      <p:sp>
        <p:nvSpPr>
          <p:cNvPr id="20" name="Text 18"/>
          <p:cNvSpPr/>
          <p:nvPr/>
        </p:nvSpPr>
        <p:spPr>
          <a:xfrm>
            <a:off x="9119592" y="2704951"/>
            <a:ext cx="22227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Fraud losses, slow manual checks</a:t>
            </a:r>
            <a:endParaRPr lang="en-US" sz="1200" dirty="0"/>
          </a:p>
        </p:txBody>
      </p:sp>
      <p:sp>
        <p:nvSpPr>
          <p:cNvPr id="21" name="Text 19"/>
          <p:cNvSpPr/>
          <p:nvPr/>
        </p:nvSpPr>
        <p:spPr>
          <a:xfrm>
            <a:off x="4876800" y="3258592"/>
            <a:ext cx="16093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Large buyers</a:t>
            </a:r>
            <a:endParaRPr lang="en-US" sz="1200" dirty="0"/>
          </a:p>
        </p:txBody>
      </p:sp>
      <p:sp>
        <p:nvSpPr>
          <p:cNvPr id="22" name="Text 20"/>
          <p:cNvSpPr/>
          <p:nvPr/>
        </p:nvSpPr>
        <p:spPr>
          <a:xfrm>
            <a:off x="6638528" y="3258592"/>
            <a:ext cx="2346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Separate supplier-finance scheme with each bank</a:t>
            </a:r>
            <a:endParaRPr lang="en-US" sz="1200" dirty="0"/>
          </a:p>
        </p:txBody>
      </p:sp>
      <p:sp>
        <p:nvSpPr>
          <p:cNvPr id="23" name="Text 21"/>
          <p:cNvSpPr/>
          <p:nvPr/>
        </p:nvSpPr>
        <p:spPr>
          <a:xfrm>
            <a:off x="9119592" y="3258592"/>
            <a:ext cx="22227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Duplicate onboarding, 43B(h) exposure</a:t>
            </a:r>
            <a:endParaRPr lang="en-US" sz="1200" dirty="0"/>
          </a:p>
        </p:txBody>
      </p:sp>
      <p:sp>
        <p:nvSpPr>
          <p:cNvPr id="24" name="Shape 22"/>
          <p:cNvSpPr/>
          <p:nvPr/>
        </p:nvSpPr>
        <p:spPr>
          <a:xfrm>
            <a:off x="4775200" y="3748732"/>
            <a:ext cx="6604000" cy="553641"/>
          </a:xfrm>
          <a:prstGeom prst="rect">
            <a:avLst/>
          </a:prstGeom>
          <a:solidFill>
            <a:srgbClr val="F1F4F9"/>
          </a:solidFill>
          <a:ln/>
        </p:spPr>
      </p:sp>
      <p:sp>
        <p:nvSpPr>
          <p:cNvPr id="25" name="Text 23"/>
          <p:cNvSpPr/>
          <p:nvPr/>
        </p:nvSpPr>
        <p:spPr>
          <a:xfrm>
            <a:off x="4876800" y="3812232"/>
            <a:ext cx="16093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TReDS platforms</a:t>
            </a:r>
            <a:endParaRPr lang="en-US" sz="1200" dirty="0"/>
          </a:p>
        </p:txBody>
      </p:sp>
      <p:sp>
        <p:nvSpPr>
          <p:cNvPr id="26" name="Text 24"/>
          <p:cNvSpPr/>
          <p:nvPr/>
        </p:nvSpPr>
        <p:spPr>
          <a:xfrm>
            <a:off x="6638528" y="3812232"/>
            <a:ext cx="23462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Duplicate checks stay inside one platform</a:t>
            </a:r>
            <a:endParaRPr lang="en-US" sz="1200" dirty="0"/>
          </a:p>
        </p:txBody>
      </p:sp>
      <p:sp>
        <p:nvSpPr>
          <p:cNvPr id="27" name="Text 25"/>
          <p:cNvSpPr/>
          <p:nvPr/>
        </p:nvSpPr>
        <p:spPr>
          <a:xfrm>
            <a:off x="9119592" y="3812232"/>
            <a:ext cx="22227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Lenders hesitate to bid</a:t>
            </a:r>
            <a:endParaRPr lang="en-US" sz="1200" dirty="0"/>
          </a:p>
        </p:txBody>
      </p:sp>
      <p:sp>
        <p:nvSpPr>
          <p:cNvPr id="28" name="Text 26"/>
          <p:cNvSpPr/>
          <p:nvPr/>
        </p:nvSpPr>
        <p:spPr>
          <a:xfrm>
            <a:off x="812800" y="506958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Sources: ¹ GAME report on delayed payments (2022). ² MSMED Act s.15; Income Tax Act s.43B(h). ³ IFC and SIDBI estimates.</a:t>
            </a:r>
            <a:endParaRPr lang="en-US" sz="1200" dirty="0"/>
          </a:p>
        </p:txBody>
      </p:sp>
      <p:sp>
        <p:nvSpPr>
          <p:cNvPr id="29" name="Text 27"/>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30" name="Text 28"/>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The root cause: every lender checks only its own books</a:t>
            </a:r>
            <a:endParaRPr lang="en-US" sz="2200" dirty="0"/>
          </a:p>
        </p:txBody>
      </p:sp>
      <p:sp>
        <p:nvSpPr>
          <p:cNvPr id="3" name="Shape 1"/>
          <p:cNvSpPr/>
          <p:nvPr/>
        </p:nvSpPr>
        <p:spPr>
          <a:xfrm>
            <a:off x="819150" y="2043410"/>
            <a:ext cx="2019300" cy="1130300"/>
          </a:xfrm>
          <a:prstGeom prst="roundRect">
            <a:avLst>
              <a:gd name="adj" fmla="val 2809"/>
            </a:avLst>
          </a:prstGeom>
          <a:solidFill>
            <a:srgbClr val="FFFFFF"/>
          </a:solidFill>
          <a:ln w="12700">
            <a:solidFill>
              <a:srgbClr val="1A1D21"/>
            </a:solidFill>
            <a:prstDash val="solid"/>
          </a:ln>
        </p:spPr>
      </p:sp>
      <p:sp>
        <p:nvSpPr>
          <p:cNvPr id="4" name="Text 2"/>
          <p:cNvSpPr/>
          <p:nvPr/>
        </p:nvSpPr>
        <p:spPr>
          <a:xfrm>
            <a:off x="977900" y="2202160"/>
            <a:ext cx="1752854" cy="217537"/>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5A6270"/>
                </a:solidFill>
                <a:latin typeface="Arial" pitchFamily="34" charset="0"/>
                <a:ea typeface="Arial" pitchFamily="34" charset="-122"/>
                <a:cs typeface="Arial" pitchFamily="34" charset="-120"/>
              </a:rPr>
              <a:t>GST invoice</a:t>
            </a:r>
            <a:endParaRPr lang="en-US" sz="1088" dirty="0"/>
          </a:p>
        </p:txBody>
      </p:sp>
      <p:sp>
        <p:nvSpPr>
          <p:cNvPr id="5" name="Text 3"/>
          <p:cNvSpPr/>
          <p:nvPr/>
        </p:nvSpPr>
        <p:spPr>
          <a:xfrm>
            <a:off x="977900" y="2432397"/>
            <a:ext cx="1752854" cy="377726"/>
          </a:xfrm>
          <a:prstGeom prst="rect">
            <a:avLst/>
          </a:prstGeom>
          <a:noFill/>
          <a:ln/>
        </p:spPr>
        <p:txBody>
          <a:bodyPr wrap="square" lIns="0" tIns="0" rIns="0" bIns="0" rtlCol="0" anchor="t">
            <a:normAutofit/>
          </a:bodyPr>
          <a:lstStyle/>
          <a:p>
            <a:pPr algn="l" indent="0" marL="0">
              <a:lnSpc>
                <a:spcPts val="2772"/>
              </a:lnSpc>
              <a:buNone/>
            </a:pPr>
            <a:r>
              <a:rPr lang="en-US" sz="1980" b="1" dirty="0">
                <a:solidFill>
                  <a:srgbClr val="1A1D21"/>
                </a:solidFill>
                <a:latin typeface="Georgia" pitchFamily="18" charset="0"/>
                <a:ea typeface="Georgia" pitchFamily="18" charset="-122"/>
                <a:cs typeface="Georgia" pitchFamily="18" charset="-120"/>
              </a:rPr>
              <a:t>₹8 lakh</a:t>
            </a:r>
            <a:endParaRPr lang="en-US" sz="1980" dirty="0"/>
          </a:p>
        </p:txBody>
      </p:sp>
      <p:sp>
        <p:nvSpPr>
          <p:cNvPr id="6" name="Text 4"/>
          <p:cNvSpPr/>
          <p:nvPr/>
        </p:nvSpPr>
        <p:spPr>
          <a:xfrm>
            <a:off x="977900" y="2822823"/>
            <a:ext cx="1752854" cy="217537"/>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5A6270"/>
                </a:solidFill>
                <a:latin typeface="Arial" pitchFamily="34" charset="0"/>
                <a:ea typeface="Arial" pitchFamily="34" charset="-122"/>
                <a:cs typeface="Arial" pitchFamily="34" charset="-120"/>
              </a:rPr>
              <a:t>owed by a large buyer</a:t>
            </a:r>
            <a:endParaRPr lang="en-US" sz="1088" dirty="0"/>
          </a:p>
        </p:txBody>
      </p:sp>
      <p:sp>
        <p:nvSpPr>
          <p:cNvPr id="7" name="Shape 5"/>
          <p:cNvSpPr/>
          <p:nvPr/>
        </p:nvSpPr>
        <p:spPr>
          <a:xfrm>
            <a:off x="812800" y="3497560"/>
            <a:ext cx="2032000" cy="1714500"/>
          </a:xfrm>
          <a:prstGeom prst="rect">
            <a:avLst/>
          </a:prstGeom>
          <a:solidFill>
            <a:srgbClr val="FBEFE9"/>
          </a:solidFill>
          <a:ln/>
        </p:spPr>
      </p:sp>
      <p:sp>
        <p:nvSpPr>
          <p:cNvPr id="8" name="Shape 6"/>
          <p:cNvSpPr/>
          <p:nvPr/>
        </p:nvSpPr>
        <p:spPr>
          <a:xfrm>
            <a:off x="825500" y="3497560"/>
            <a:ext cx="0" cy="1714500"/>
          </a:xfrm>
          <a:prstGeom prst="line">
            <a:avLst/>
          </a:prstGeom>
          <a:noFill/>
          <a:ln w="25400">
            <a:solidFill>
              <a:srgbClr val="B54A1C"/>
            </a:solidFill>
            <a:prstDash val="solid"/>
          </a:ln>
        </p:spPr>
      </p:sp>
      <p:sp>
        <p:nvSpPr>
          <p:cNvPr id="9" name="Text 7"/>
          <p:cNvSpPr/>
          <p:nvPr/>
        </p:nvSpPr>
        <p:spPr>
          <a:xfrm>
            <a:off x="990600" y="3649960"/>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Total lent</a:t>
            </a:r>
            <a:endParaRPr lang="en-US" sz="1200" dirty="0"/>
          </a:p>
        </p:txBody>
      </p:sp>
      <p:sp>
        <p:nvSpPr>
          <p:cNvPr id="10" name="Text 8"/>
          <p:cNvSpPr/>
          <p:nvPr/>
        </p:nvSpPr>
        <p:spPr>
          <a:xfrm>
            <a:off x="990600" y="3901380"/>
            <a:ext cx="175285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54A1C"/>
                </a:solidFill>
                <a:latin typeface="Georgia" pitchFamily="18" charset="0"/>
                <a:ea typeface="Georgia" pitchFamily="18" charset="-122"/>
                <a:cs typeface="Georgia" pitchFamily="18" charset="-120"/>
              </a:rPr>
              <a:t>₹24 lakh</a:t>
            </a:r>
            <a:endParaRPr lang="en-US" sz="2200" dirty="0"/>
          </a:p>
        </p:txBody>
      </p:sp>
      <p:sp>
        <p:nvSpPr>
          <p:cNvPr id="11" name="Text 9"/>
          <p:cNvSpPr/>
          <p:nvPr/>
        </p:nvSpPr>
        <p:spPr>
          <a:xfrm>
            <a:off x="990600" y="4330601"/>
            <a:ext cx="17528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against one ₹8 lakh invoice</a:t>
            </a:r>
            <a:endParaRPr lang="en-US" sz="1200" dirty="0"/>
          </a:p>
        </p:txBody>
      </p:sp>
      <p:sp>
        <p:nvSpPr>
          <p:cNvPr id="12" name="Shape 10"/>
          <p:cNvSpPr/>
          <p:nvPr/>
        </p:nvSpPr>
        <p:spPr>
          <a:xfrm>
            <a:off x="4117975" y="1405235"/>
            <a:ext cx="2533650" cy="1009650"/>
          </a:xfrm>
          <a:prstGeom prst="roundRect">
            <a:avLst>
              <a:gd name="adj" fmla="val 3459"/>
            </a:avLst>
          </a:prstGeom>
          <a:solidFill>
            <a:srgbClr val="FFFFFF"/>
          </a:solidFill>
          <a:ln w="6350">
            <a:solidFill>
              <a:srgbClr val="C9CED6"/>
            </a:solidFill>
            <a:prstDash val="solid"/>
          </a:ln>
        </p:spPr>
      </p:sp>
      <p:sp>
        <p:nvSpPr>
          <p:cNvPr id="13" name="Text 11"/>
          <p:cNvSpPr/>
          <p:nvPr/>
        </p:nvSpPr>
        <p:spPr>
          <a:xfrm>
            <a:off x="4273550" y="1510010"/>
            <a:ext cx="22891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Bank A</a:t>
            </a:r>
            <a:endParaRPr lang="en-US" sz="1600" dirty="0"/>
          </a:p>
        </p:txBody>
      </p:sp>
      <p:sp>
        <p:nvSpPr>
          <p:cNvPr id="14" name="Text 12"/>
          <p:cNvSpPr/>
          <p:nvPr/>
        </p:nvSpPr>
        <p:spPr>
          <a:xfrm>
            <a:off x="4273550" y="1766540"/>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Finances ₹8 lakh</a:t>
            </a:r>
            <a:endParaRPr lang="en-US" sz="1200" dirty="0"/>
          </a:p>
        </p:txBody>
      </p:sp>
      <p:sp>
        <p:nvSpPr>
          <p:cNvPr id="15" name="Text 13"/>
          <p:cNvSpPr/>
          <p:nvPr/>
        </p:nvSpPr>
        <p:spPr>
          <a:xfrm>
            <a:off x="4273550" y="1992561"/>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Checks its own books only</a:t>
            </a:r>
            <a:endParaRPr lang="en-US" sz="1200" dirty="0"/>
          </a:p>
        </p:txBody>
      </p:sp>
      <p:sp>
        <p:nvSpPr>
          <p:cNvPr id="16" name="Shape 14"/>
          <p:cNvSpPr/>
          <p:nvPr/>
        </p:nvSpPr>
        <p:spPr>
          <a:xfrm>
            <a:off x="4117975" y="2802235"/>
            <a:ext cx="2533650" cy="1009650"/>
          </a:xfrm>
          <a:prstGeom prst="roundRect">
            <a:avLst>
              <a:gd name="adj" fmla="val 3459"/>
            </a:avLst>
          </a:prstGeom>
          <a:solidFill>
            <a:srgbClr val="FFFFFF"/>
          </a:solidFill>
          <a:ln w="6350">
            <a:solidFill>
              <a:srgbClr val="C9CED6"/>
            </a:solidFill>
            <a:prstDash val="solid"/>
          </a:ln>
        </p:spPr>
      </p:sp>
      <p:sp>
        <p:nvSpPr>
          <p:cNvPr id="17" name="Text 15"/>
          <p:cNvSpPr/>
          <p:nvPr/>
        </p:nvSpPr>
        <p:spPr>
          <a:xfrm>
            <a:off x="4273550" y="2907010"/>
            <a:ext cx="22891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Bank B</a:t>
            </a:r>
            <a:endParaRPr lang="en-US" sz="1600" dirty="0"/>
          </a:p>
        </p:txBody>
      </p:sp>
      <p:sp>
        <p:nvSpPr>
          <p:cNvPr id="18" name="Text 16"/>
          <p:cNvSpPr/>
          <p:nvPr/>
        </p:nvSpPr>
        <p:spPr>
          <a:xfrm>
            <a:off x="4273550" y="3163540"/>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Finances ₹8 lakh</a:t>
            </a:r>
            <a:endParaRPr lang="en-US" sz="1200" dirty="0"/>
          </a:p>
        </p:txBody>
      </p:sp>
      <p:sp>
        <p:nvSpPr>
          <p:cNvPr id="19" name="Text 17"/>
          <p:cNvSpPr/>
          <p:nvPr/>
        </p:nvSpPr>
        <p:spPr>
          <a:xfrm>
            <a:off x="4273550" y="3389561"/>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Checks its own books only</a:t>
            </a:r>
            <a:endParaRPr lang="en-US" sz="1200" dirty="0"/>
          </a:p>
        </p:txBody>
      </p:sp>
      <p:sp>
        <p:nvSpPr>
          <p:cNvPr id="20" name="Shape 18"/>
          <p:cNvSpPr/>
          <p:nvPr/>
        </p:nvSpPr>
        <p:spPr>
          <a:xfrm>
            <a:off x="4117975" y="4199235"/>
            <a:ext cx="2533650" cy="1009650"/>
          </a:xfrm>
          <a:prstGeom prst="roundRect">
            <a:avLst>
              <a:gd name="adj" fmla="val 3459"/>
            </a:avLst>
          </a:prstGeom>
          <a:solidFill>
            <a:srgbClr val="FFFFFF"/>
          </a:solidFill>
          <a:ln w="6350">
            <a:solidFill>
              <a:srgbClr val="C9CED6"/>
            </a:solidFill>
            <a:prstDash val="solid"/>
          </a:ln>
        </p:spPr>
      </p:sp>
      <p:sp>
        <p:nvSpPr>
          <p:cNvPr id="21" name="Text 19"/>
          <p:cNvSpPr/>
          <p:nvPr/>
        </p:nvSpPr>
        <p:spPr>
          <a:xfrm>
            <a:off x="4273550" y="4304010"/>
            <a:ext cx="228917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NBFC</a:t>
            </a:r>
            <a:endParaRPr lang="en-US" sz="1600" dirty="0"/>
          </a:p>
        </p:txBody>
      </p:sp>
      <p:sp>
        <p:nvSpPr>
          <p:cNvPr id="22" name="Text 20"/>
          <p:cNvSpPr/>
          <p:nvPr/>
        </p:nvSpPr>
        <p:spPr>
          <a:xfrm>
            <a:off x="4273550" y="4560540"/>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Finances ₹8 lakh</a:t>
            </a:r>
            <a:endParaRPr lang="en-US" sz="1200" dirty="0"/>
          </a:p>
        </p:txBody>
      </p:sp>
      <p:sp>
        <p:nvSpPr>
          <p:cNvPr id="23" name="Text 21"/>
          <p:cNvSpPr/>
          <p:nvPr/>
        </p:nvSpPr>
        <p:spPr>
          <a:xfrm>
            <a:off x="4273550" y="4786561"/>
            <a:ext cx="2289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Checks its own books only</a:t>
            </a:r>
            <a:endParaRPr lang="en-US" sz="1200" dirty="0"/>
          </a:p>
        </p:txBody>
      </p:sp>
      <p:pic>
        <p:nvPicPr>
          <p:cNvPr id="24" name="Image 0" descr="connector">    </p:cNvPr>
          <p:cNvPicPr>
            <a:picLocks noChangeAspect="1"/>
          </p:cNvPicPr>
          <p:nvPr/>
        </p:nvPicPr>
        <p:blipFill>
          <a:blip r:embed="rId1"/>
          <a:srcRect l="0" r="0" t="0" b="0"/>
          <a:stretch/>
        </p:blipFill>
        <p:spPr>
          <a:xfrm>
            <a:off x="2806700" y="2570460"/>
            <a:ext cx="711200" cy="76200"/>
          </a:xfrm>
          <a:prstGeom prst="rect">
            <a:avLst/>
          </a:prstGeom>
        </p:spPr>
      </p:pic>
      <p:pic>
        <p:nvPicPr>
          <p:cNvPr id="25" name="Image 1" descr="connector">    </p:cNvPr>
          <p:cNvPicPr>
            <a:picLocks noChangeAspect="1"/>
          </p:cNvPicPr>
          <p:nvPr/>
        </p:nvPicPr>
        <p:blipFill>
          <a:blip r:embed="rId2"/>
          <a:srcRect l="0" r="0" t="0" b="0"/>
          <a:stretch/>
        </p:blipFill>
        <p:spPr>
          <a:xfrm>
            <a:off x="3441700" y="1871960"/>
            <a:ext cx="76200" cy="2870200"/>
          </a:xfrm>
          <a:prstGeom prst="rect">
            <a:avLst/>
          </a:prstGeom>
        </p:spPr>
      </p:pic>
      <p:pic>
        <p:nvPicPr>
          <p:cNvPr id="26" name="Image 2" descr="connector">    </p:cNvPr>
          <p:cNvPicPr>
            <a:picLocks noChangeAspect="1"/>
          </p:cNvPicPr>
          <p:nvPr/>
        </p:nvPicPr>
        <p:blipFill>
          <a:blip r:embed="rId3"/>
          <a:srcRect l="0" r="0" t="0" b="0"/>
          <a:stretch/>
        </p:blipFill>
        <p:spPr>
          <a:xfrm>
            <a:off x="3441700" y="1871960"/>
            <a:ext cx="711200" cy="76200"/>
          </a:xfrm>
          <a:prstGeom prst="rect">
            <a:avLst/>
          </a:prstGeom>
        </p:spPr>
      </p:pic>
      <p:pic>
        <p:nvPicPr>
          <p:cNvPr id="27" name="Image 3" descr="connector">    </p:cNvPr>
          <p:cNvPicPr>
            <a:picLocks noChangeAspect="1"/>
          </p:cNvPicPr>
          <p:nvPr/>
        </p:nvPicPr>
        <p:blipFill>
          <a:blip r:embed="rId4"/>
          <a:srcRect l="0" r="0" t="0" b="0"/>
          <a:stretch/>
        </p:blipFill>
        <p:spPr>
          <a:xfrm>
            <a:off x="3441700" y="3268960"/>
            <a:ext cx="711200" cy="76200"/>
          </a:xfrm>
          <a:prstGeom prst="rect">
            <a:avLst/>
          </a:prstGeom>
        </p:spPr>
      </p:pic>
      <p:pic>
        <p:nvPicPr>
          <p:cNvPr id="28" name="Image 4" descr="connector">    </p:cNvPr>
          <p:cNvPicPr>
            <a:picLocks noChangeAspect="1"/>
          </p:cNvPicPr>
          <p:nvPr/>
        </p:nvPicPr>
        <p:blipFill>
          <a:blip r:embed="rId5"/>
          <a:srcRect l="0" r="0" t="0" b="0"/>
          <a:stretch/>
        </p:blipFill>
        <p:spPr>
          <a:xfrm>
            <a:off x="3441700" y="4665960"/>
            <a:ext cx="711200" cy="76200"/>
          </a:xfrm>
          <a:prstGeom prst="rect">
            <a:avLst/>
          </a:prstGeom>
        </p:spPr>
      </p:pic>
      <p:sp>
        <p:nvSpPr>
          <p:cNvPr id="29" name="Text 22"/>
          <p:cNvSpPr/>
          <p:nvPr/>
        </p:nvSpPr>
        <p:spPr>
          <a:xfrm>
            <a:off x="7467600" y="1402060"/>
            <a:ext cx="402894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Four gaps in today’s system</a:t>
            </a:r>
            <a:endParaRPr lang="en-US" sz="1600" dirty="0"/>
          </a:p>
        </p:txBody>
      </p:sp>
      <p:sp>
        <p:nvSpPr>
          <p:cNvPr id="30" name="Text 23"/>
          <p:cNvSpPr/>
          <p:nvPr/>
        </p:nvSpPr>
        <p:spPr>
          <a:xfrm>
            <a:off x="7467600" y="1823690"/>
            <a:ext cx="40289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1. Fragmented registries</a:t>
            </a:r>
            <a:endParaRPr lang="en-US" sz="1200" dirty="0"/>
          </a:p>
        </p:txBody>
      </p:sp>
      <p:sp>
        <p:nvSpPr>
          <p:cNvPr id="31" name="Text 24"/>
          <p:cNvSpPr/>
          <p:nvPr/>
        </p:nvSpPr>
        <p:spPr>
          <a:xfrm>
            <a:off x="7467600" y="2062411"/>
            <a:ext cx="40289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TReDS platforms, bank portals and NBFCs check duplicates only internally.</a:t>
            </a:r>
            <a:endParaRPr lang="en-US" sz="1200" dirty="0"/>
          </a:p>
        </p:txBody>
      </p:sp>
      <p:sp>
        <p:nvSpPr>
          <p:cNvPr id="32" name="Text 25"/>
          <p:cNvSpPr/>
          <p:nvPr/>
        </p:nvSpPr>
        <p:spPr>
          <a:xfrm>
            <a:off x="7467600" y="2666851"/>
            <a:ext cx="40289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2. One-time checks</a:t>
            </a:r>
            <a:endParaRPr lang="en-US" sz="1200" dirty="0"/>
          </a:p>
        </p:txBody>
      </p:sp>
      <p:sp>
        <p:nvSpPr>
          <p:cNvPr id="33" name="Text 26"/>
          <p:cNvSpPr/>
          <p:nvPr/>
        </p:nvSpPr>
        <p:spPr>
          <a:xfrm>
            <a:off x="7467600" y="2905571"/>
            <a:ext cx="40289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An invoice is verified at onboarding; nobody tracks it after that.</a:t>
            </a:r>
            <a:endParaRPr lang="en-US" sz="1200" dirty="0"/>
          </a:p>
        </p:txBody>
      </p:sp>
      <p:sp>
        <p:nvSpPr>
          <p:cNvPr id="34" name="Text 27"/>
          <p:cNvSpPr/>
          <p:nvPr/>
        </p:nvSpPr>
        <p:spPr>
          <a:xfrm>
            <a:off x="7467600" y="3510012"/>
            <a:ext cx="40289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3. Rules miss patterns</a:t>
            </a:r>
            <a:endParaRPr lang="en-US" sz="1200" dirty="0"/>
          </a:p>
        </p:txBody>
      </p:sp>
      <p:sp>
        <p:nvSpPr>
          <p:cNvPr id="35" name="Text 28"/>
          <p:cNvSpPr/>
          <p:nvPr/>
        </p:nvSpPr>
        <p:spPr>
          <a:xfrm>
            <a:off x="7467600" y="3748732"/>
            <a:ext cx="40289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Circular trading and slightly altered duplicates pass static rules.</a:t>
            </a:r>
            <a:endParaRPr lang="en-US" sz="1200" dirty="0"/>
          </a:p>
        </p:txBody>
      </p:sp>
      <p:sp>
        <p:nvSpPr>
          <p:cNvPr id="36" name="Text 29"/>
          <p:cNvSpPr/>
          <p:nvPr/>
        </p:nvSpPr>
        <p:spPr>
          <a:xfrm>
            <a:off x="7467600" y="4353173"/>
            <a:ext cx="40289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4. Manual settlement</a:t>
            </a:r>
            <a:endParaRPr lang="en-US" sz="1200" dirty="0"/>
          </a:p>
        </p:txBody>
      </p:sp>
      <p:sp>
        <p:nvSpPr>
          <p:cNvPr id="37" name="Text 30"/>
          <p:cNvSpPr/>
          <p:nvPr/>
        </p:nvSpPr>
        <p:spPr>
          <a:xfrm>
            <a:off x="7467600" y="4591893"/>
            <a:ext cx="402894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Payment references are matched to invoices and split by hand.</a:t>
            </a:r>
            <a:endParaRPr lang="en-US" sz="1200" dirty="0"/>
          </a:p>
        </p:txBody>
      </p:sp>
      <p:sp>
        <p:nvSpPr>
          <p:cNvPr id="38" name="Text 31"/>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39" name="Text 32"/>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RASID gives every invoice one verified, tradable record on DRUNIX</a:t>
            </a:r>
            <a:endParaRPr lang="en-US" sz="2200" dirty="0"/>
          </a:p>
        </p:txBody>
      </p:sp>
      <p:sp>
        <p:nvSpPr>
          <p:cNvPr id="3" name="Shape 1"/>
          <p:cNvSpPr/>
          <p:nvPr/>
        </p:nvSpPr>
        <p:spPr>
          <a:xfrm>
            <a:off x="812800" y="1411585"/>
            <a:ext cx="2489200" cy="0"/>
          </a:xfrm>
          <a:prstGeom prst="line">
            <a:avLst/>
          </a:prstGeom>
          <a:noFill/>
          <a:ln w="19050">
            <a:solidFill>
              <a:srgbClr val="1F4E9A"/>
            </a:solidFill>
            <a:prstDash val="solid"/>
          </a:ln>
        </p:spPr>
      </p:sp>
      <p:sp>
        <p:nvSpPr>
          <p:cNvPr id="4" name="Text 2"/>
          <p:cNvSpPr/>
          <p:nvPr/>
        </p:nvSpPr>
        <p:spPr>
          <a:xfrm>
            <a:off x="812800" y="1522710"/>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1</a:t>
            </a:r>
            <a:endParaRPr lang="en-US" sz="1200" dirty="0"/>
          </a:p>
        </p:txBody>
      </p:sp>
      <p:sp>
        <p:nvSpPr>
          <p:cNvPr id="5" name="Text 3"/>
          <p:cNvSpPr/>
          <p:nvPr/>
        </p:nvSpPr>
        <p:spPr>
          <a:xfrm>
            <a:off x="812800" y="1786830"/>
            <a:ext cx="25638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Verify</a:t>
            </a:r>
            <a:endParaRPr lang="en-US" sz="1600" dirty="0"/>
          </a:p>
        </p:txBody>
      </p:sp>
      <p:sp>
        <p:nvSpPr>
          <p:cNvPr id="6" name="Text 4"/>
          <p:cNvSpPr/>
          <p:nvPr/>
        </p:nvSpPr>
        <p:spPr>
          <a:xfrm>
            <a:off x="812800" y="2081461"/>
            <a:ext cx="25638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Checks the IRP-signed QR inside chaincode.</a:t>
            </a:r>
            <a:endParaRPr lang="en-US" sz="1200" dirty="0"/>
          </a:p>
        </p:txBody>
      </p:sp>
      <p:sp>
        <p:nvSpPr>
          <p:cNvPr id="7" name="Text 5"/>
          <p:cNvSpPr/>
          <p:nvPr/>
        </p:nvSpPr>
        <p:spPr>
          <a:xfrm>
            <a:off x="812800" y="2558901"/>
            <a:ext cx="25638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JWT verified against IRP keys; no oracle.</a:t>
            </a:r>
            <a:endParaRPr lang="en-US" sz="1200" dirty="0"/>
          </a:p>
        </p:txBody>
      </p:sp>
      <p:sp>
        <p:nvSpPr>
          <p:cNvPr id="8" name="Shape 6"/>
          <p:cNvSpPr/>
          <p:nvPr/>
        </p:nvSpPr>
        <p:spPr>
          <a:xfrm>
            <a:off x="3505200" y="1411585"/>
            <a:ext cx="2489200" cy="0"/>
          </a:xfrm>
          <a:prstGeom prst="line">
            <a:avLst/>
          </a:prstGeom>
          <a:noFill/>
          <a:ln w="19050">
            <a:solidFill>
              <a:srgbClr val="1F4E9A"/>
            </a:solidFill>
            <a:prstDash val="solid"/>
          </a:ln>
        </p:spPr>
      </p:sp>
      <p:sp>
        <p:nvSpPr>
          <p:cNvPr id="9" name="Text 7"/>
          <p:cNvSpPr/>
          <p:nvPr/>
        </p:nvSpPr>
        <p:spPr>
          <a:xfrm>
            <a:off x="3505200" y="1522710"/>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2</a:t>
            </a:r>
            <a:endParaRPr lang="en-US" sz="1200" dirty="0"/>
          </a:p>
        </p:txBody>
      </p:sp>
      <p:sp>
        <p:nvSpPr>
          <p:cNvPr id="10" name="Text 8"/>
          <p:cNvSpPr/>
          <p:nvPr/>
        </p:nvSpPr>
        <p:spPr>
          <a:xfrm>
            <a:off x="3505200" y="1786830"/>
            <a:ext cx="25638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Register once</a:t>
            </a:r>
            <a:endParaRPr lang="en-US" sz="1600" dirty="0"/>
          </a:p>
        </p:txBody>
      </p:sp>
      <p:sp>
        <p:nvSpPr>
          <p:cNvPr id="11" name="Text 9"/>
          <p:cNvSpPr/>
          <p:nvPr/>
        </p:nvSpPr>
        <p:spPr>
          <a:xfrm>
            <a:off x="3505200" y="2081461"/>
            <a:ext cx="25638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One token per invoice, across all lenders.</a:t>
            </a:r>
            <a:endParaRPr lang="en-US" sz="1200" dirty="0"/>
          </a:p>
        </p:txBody>
      </p:sp>
      <p:sp>
        <p:nvSpPr>
          <p:cNvPr id="12" name="Text 10"/>
          <p:cNvSpPr/>
          <p:nvPr/>
        </p:nvSpPr>
        <p:spPr>
          <a:xfrm>
            <a:off x="3505200" y="2558901"/>
            <a:ext cx="25638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Key = SHA-256(IRN); MVCC stops races.</a:t>
            </a:r>
            <a:endParaRPr lang="en-US" sz="1200" dirty="0"/>
          </a:p>
        </p:txBody>
      </p:sp>
      <p:sp>
        <p:nvSpPr>
          <p:cNvPr id="13" name="Shape 11"/>
          <p:cNvSpPr/>
          <p:nvPr/>
        </p:nvSpPr>
        <p:spPr>
          <a:xfrm>
            <a:off x="6197600" y="1411585"/>
            <a:ext cx="2489200" cy="0"/>
          </a:xfrm>
          <a:prstGeom prst="line">
            <a:avLst/>
          </a:prstGeom>
          <a:noFill/>
          <a:ln w="19050">
            <a:solidFill>
              <a:srgbClr val="1F4E9A"/>
            </a:solidFill>
            <a:prstDash val="solid"/>
          </a:ln>
        </p:spPr>
      </p:sp>
      <p:sp>
        <p:nvSpPr>
          <p:cNvPr id="14" name="Text 12"/>
          <p:cNvSpPr/>
          <p:nvPr/>
        </p:nvSpPr>
        <p:spPr>
          <a:xfrm>
            <a:off x="6197600" y="1522710"/>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3</a:t>
            </a:r>
            <a:endParaRPr lang="en-US" sz="1200" dirty="0"/>
          </a:p>
        </p:txBody>
      </p:sp>
      <p:sp>
        <p:nvSpPr>
          <p:cNvPr id="15" name="Text 13"/>
          <p:cNvSpPr/>
          <p:nvPr/>
        </p:nvSpPr>
        <p:spPr>
          <a:xfrm>
            <a:off x="6197600" y="1786830"/>
            <a:ext cx="25638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Finance privately</a:t>
            </a:r>
            <a:endParaRPr lang="en-US" sz="1600" dirty="0"/>
          </a:p>
        </p:txBody>
      </p:sp>
      <p:sp>
        <p:nvSpPr>
          <p:cNvPr id="16" name="Text 14"/>
          <p:cNvSpPr/>
          <p:nvPr/>
        </p:nvSpPr>
        <p:spPr>
          <a:xfrm>
            <a:off x="6197600" y="2081461"/>
            <a:ext cx="25638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Sealed bids; the MSME takes the best rate.</a:t>
            </a:r>
            <a:endParaRPr lang="en-US" sz="1200" dirty="0"/>
          </a:p>
        </p:txBody>
      </p:sp>
      <p:sp>
        <p:nvSpPr>
          <p:cNvPr id="17" name="Text 15"/>
          <p:cNvSpPr/>
          <p:nvPr/>
        </p:nvSpPr>
        <p:spPr>
          <a:xfrm>
            <a:off x="6197600" y="2558901"/>
            <a:ext cx="25638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Bids go through KeyDB; only hashes on-chain.</a:t>
            </a:r>
            <a:endParaRPr lang="en-US" sz="1200" dirty="0"/>
          </a:p>
        </p:txBody>
      </p:sp>
      <p:sp>
        <p:nvSpPr>
          <p:cNvPr id="18" name="Shape 16"/>
          <p:cNvSpPr/>
          <p:nvPr/>
        </p:nvSpPr>
        <p:spPr>
          <a:xfrm>
            <a:off x="8890000" y="1411585"/>
            <a:ext cx="2489200" cy="0"/>
          </a:xfrm>
          <a:prstGeom prst="line">
            <a:avLst/>
          </a:prstGeom>
          <a:noFill/>
          <a:ln w="19050">
            <a:solidFill>
              <a:srgbClr val="1F4E9A"/>
            </a:solidFill>
            <a:prstDash val="solid"/>
          </a:ln>
        </p:spPr>
      </p:sp>
      <p:sp>
        <p:nvSpPr>
          <p:cNvPr id="19" name="Text 17"/>
          <p:cNvSpPr/>
          <p:nvPr/>
        </p:nvSpPr>
        <p:spPr>
          <a:xfrm>
            <a:off x="8890000" y="1522710"/>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4</a:t>
            </a:r>
            <a:endParaRPr lang="en-US" sz="1200" dirty="0"/>
          </a:p>
        </p:txBody>
      </p:sp>
      <p:sp>
        <p:nvSpPr>
          <p:cNvPr id="20" name="Text 18"/>
          <p:cNvSpPr/>
          <p:nvPr/>
        </p:nvSpPr>
        <p:spPr>
          <a:xfrm>
            <a:off x="8890000" y="1786830"/>
            <a:ext cx="256387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Settle automatically</a:t>
            </a:r>
            <a:endParaRPr lang="en-US" sz="1600" dirty="0"/>
          </a:p>
        </p:txBody>
      </p:sp>
      <p:sp>
        <p:nvSpPr>
          <p:cNvPr id="21" name="Text 19"/>
          <p:cNvSpPr/>
          <p:nvPr/>
        </p:nvSpPr>
        <p:spPr>
          <a:xfrm>
            <a:off x="8890000" y="2081461"/>
            <a:ext cx="25638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Paid in hours; repaid and split on the due date.</a:t>
            </a:r>
            <a:endParaRPr lang="en-US" sz="1200" dirty="0"/>
          </a:p>
        </p:txBody>
      </p:sp>
      <p:sp>
        <p:nvSpPr>
          <p:cNvPr id="22" name="Text 20"/>
          <p:cNvSpPr/>
          <p:nvPr/>
        </p:nvSpPr>
        <p:spPr>
          <a:xfrm>
            <a:off x="8890000" y="2558901"/>
            <a:ext cx="25638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Payment UTRs confirm each state change.</a:t>
            </a:r>
            <a:endParaRPr lang="en-US" sz="1200" dirty="0"/>
          </a:p>
        </p:txBody>
      </p:sp>
      <p:sp>
        <p:nvSpPr>
          <p:cNvPr id="23" name="Text 21"/>
          <p:cNvSpPr/>
          <p:nvPr/>
        </p:nvSpPr>
        <p:spPr>
          <a:xfrm>
            <a:off x="812800" y="3239542"/>
            <a:ext cx="108833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What changes for each user</a:t>
            </a:r>
            <a:endParaRPr lang="en-US" sz="1600" dirty="0"/>
          </a:p>
        </p:txBody>
      </p:sp>
      <p:sp>
        <p:nvSpPr>
          <p:cNvPr id="24" name="Shape 22"/>
          <p:cNvSpPr/>
          <p:nvPr/>
        </p:nvSpPr>
        <p:spPr>
          <a:xfrm>
            <a:off x="812800" y="3584972"/>
            <a:ext cx="10566400" cy="340320"/>
          </a:xfrm>
          <a:prstGeom prst="rect">
            <a:avLst/>
          </a:prstGeom>
          <a:solidFill>
            <a:srgbClr val="EAF0F8"/>
          </a:solidFill>
          <a:ln/>
        </p:spPr>
      </p:sp>
      <p:sp>
        <p:nvSpPr>
          <p:cNvPr id="25" name="Text 23"/>
          <p:cNvSpPr/>
          <p:nvPr/>
        </p:nvSpPr>
        <p:spPr>
          <a:xfrm>
            <a:off x="914400" y="3648472"/>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User</a:t>
            </a:r>
            <a:endParaRPr lang="en-US" sz="1200" dirty="0"/>
          </a:p>
        </p:txBody>
      </p:sp>
      <p:sp>
        <p:nvSpPr>
          <p:cNvPr id="26" name="Text 24"/>
          <p:cNvSpPr/>
          <p:nvPr/>
        </p:nvSpPr>
        <p:spPr>
          <a:xfrm>
            <a:off x="3108970" y="3648472"/>
            <a:ext cx="410217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Today</a:t>
            </a:r>
            <a:endParaRPr lang="en-US" sz="1200" dirty="0"/>
          </a:p>
        </p:txBody>
      </p:sp>
      <p:sp>
        <p:nvSpPr>
          <p:cNvPr id="27" name="Text 25"/>
          <p:cNvSpPr/>
          <p:nvPr/>
        </p:nvSpPr>
        <p:spPr>
          <a:xfrm>
            <a:off x="7294860" y="3648472"/>
            <a:ext cx="410222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With RASID</a:t>
            </a:r>
            <a:endParaRPr lang="en-US" sz="1200" dirty="0"/>
          </a:p>
        </p:txBody>
      </p:sp>
      <p:sp>
        <p:nvSpPr>
          <p:cNvPr id="28" name="Text 26"/>
          <p:cNvSpPr/>
          <p:nvPr/>
        </p:nvSpPr>
        <p:spPr>
          <a:xfrm>
            <a:off x="914400" y="3988792"/>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MSME</a:t>
            </a:r>
            <a:endParaRPr lang="en-US" sz="1200" dirty="0"/>
          </a:p>
        </p:txBody>
      </p:sp>
      <p:sp>
        <p:nvSpPr>
          <p:cNvPr id="29" name="Text 27"/>
          <p:cNvSpPr/>
          <p:nvPr/>
        </p:nvSpPr>
        <p:spPr>
          <a:xfrm>
            <a:off x="3108970" y="3988792"/>
            <a:ext cx="4102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Waits 60–120 days; borrows at 18–30%</a:t>
            </a:r>
            <a:endParaRPr lang="en-US" sz="1200" dirty="0"/>
          </a:p>
        </p:txBody>
      </p:sp>
      <p:sp>
        <p:nvSpPr>
          <p:cNvPr id="30" name="Text 28"/>
          <p:cNvSpPr/>
          <p:nvPr/>
        </p:nvSpPr>
        <p:spPr>
          <a:xfrm>
            <a:off x="7294860" y="3988792"/>
            <a:ext cx="41022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Paid within hours at buyer-risk rates</a:t>
            </a:r>
            <a:endParaRPr lang="en-US" sz="1200" dirty="0"/>
          </a:p>
        </p:txBody>
      </p:sp>
      <p:sp>
        <p:nvSpPr>
          <p:cNvPr id="31" name="Shape 29"/>
          <p:cNvSpPr/>
          <p:nvPr/>
        </p:nvSpPr>
        <p:spPr>
          <a:xfrm>
            <a:off x="812800" y="4265613"/>
            <a:ext cx="10566400" cy="340320"/>
          </a:xfrm>
          <a:prstGeom prst="rect">
            <a:avLst/>
          </a:prstGeom>
          <a:solidFill>
            <a:srgbClr val="F1F4F9"/>
          </a:solidFill>
          <a:ln/>
        </p:spPr>
      </p:sp>
      <p:sp>
        <p:nvSpPr>
          <p:cNvPr id="32" name="Text 30"/>
          <p:cNvSpPr/>
          <p:nvPr/>
        </p:nvSpPr>
        <p:spPr>
          <a:xfrm>
            <a:off x="914400" y="4329113"/>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Lender</a:t>
            </a:r>
            <a:endParaRPr lang="en-US" sz="1200" dirty="0"/>
          </a:p>
        </p:txBody>
      </p:sp>
      <p:sp>
        <p:nvSpPr>
          <p:cNvPr id="33" name="Text 31"/>
          <p:cNvSpPr/>
          <p:nvPr/>
        </p:nvSpPr>
        <p:spPr>
          <a:xfrm>
            <a:off x="3108970" y="4329113"/>
            <a:ext cx="4102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Blind to other lenders’ exposure</a:t>
            </a:r>
            <a:endParaRPr lang="en-US" sz="1200" dirty="0"/>
          </a:p>
        </p:txBody>
      </p:sp>
      <p:sp>
        <p:nvSpPr>
          <p:cNvPr id="34" name="Text 32"/>
          <p:cNvSpPr/>
          <p:nvPr/>
        </p:nvSpPr>
        <p:spPr>
          <a:xfrm>
            <a:off x="7294860" y="4329113"/>
            <a:ext cx="41022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Network-wide duplicate check and AI score</a:t>
            </a:r>
            <a:endParaRPr lang="en-US" sz="1200" dirty="0"/>
          </a:p>
        </p:txBody>
      </p:sp>
      <p:sp>
        <p:nvSpPr>
          <p:cNvPr id="35" name="Text 33"/>
          <p:cNvSpPr/>
          <p:nvPr/>
        </p:nvSpPr>
        <p:spPr>
          <a:xfrm>
            <a:off x="914400" y="4669433"/>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Buyer</a:t>
            </a:r>
            <a:endParaRPr lang="en-US" sz="1200" dirty="0"/>
          </a:p>
        </p:txBody>
      </p:sp>
      <p:sp>
        <p:nvSpPr>
          <p:cNvPr id="36" name="Text 34"/>
          <p:cNvSpPr/>
          <p:nvPr/>
        </p:nvSpPr>
        <p:spPr>
          <a:xfrm>
            <a:off x="3108970" y="4669433"/>
            <a:ext cx="4102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Separate scheme with each bank</a:t>
            </a:r>
            <a:endParaRPr lang="en-US" sz="1200" dirty="0"/>
          </a:p>
        </p:txBody>
      </p:sp>
      <p:sp>
        <p:nvSpPr>
          <p:cNvPr id="37" name="Text 35"/>
          <p:cNvSpPr/>
          <p:nvPr/>
        </p:nvSpPr>
        <p:spPr>
          <a:xfrm>
            <a:off x="7294860" y="4669433"/>
            <a:ext cx="41022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One acceptance works with every lender</a:t>
            </a:r>
            <a:endParaRPr lang="en-US" sz="1200" dirty="0"/>
          </a:p>
        </p:txBody>
      </p:sp>
      <p:sp>
        <p:nvSpPr>
          <p:cNvPr id="38" name="Shape 36"/>
          <p:cNvSpPr/>
          <p:nvPr/>
        </p:nvSpPr>
        <p:spPr>
          <a:xfrm>
            <a:off x="812800" y="4946253"/>
            <a:ext cx="10566400" cy="340320"/>
          </a:xfrm>
          <a:prstGeom prst="rect">
            <a:avLst/>
          </a:prstGeom>
          <a:solidFill>
            <a:srgbClr val="F1F4F9"/>
          </a:solidFill>
          <a:ln/>
        </p:spPr>
      </p:sp>
      <p:sp>
        <p:nvSpPr>
          <p:cNvPr id="39" name="Text 37"/>
          <p:cNvSpPr/>
          <p:nvPr/>
        </p:nvSpPr>
        <p:spPr>
          <a:xfrm>
            <a:off x="914400" y="5009753"/>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NPCI</a:t>
            </a:r>
            <a:endParaRPr lang="en-US" sz="1200" dirty="0"/>
          </a:p>
        </p:txBody>
      </p:sp>
      <p:sp>
        <p:nvSpPr>
          <p:cNvPr id="40" name="Text 38"/>
          <p:cNvSpPr/>
          <p:nvPr/>
        </p:nvSpPr>
        <p:spPr>
          <a:xfrm>
            <a:off x="3108970" y="5009753"/>
            <a:ext cx="4102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No shared rail for receivables</a:t>
            </a:r>
            <a:endParaRPr lang="en-US" sz="1200" dirty="0"/>
          </a:p>
        </p:txBody>
      </p:sp>
      <p:sp>
        <p:nvSpPr>
          <p:cNvPr id="41" name="Text 39"/>
          <p:cNvSpPr/>
          <p:nvPr/>
        </p:nvSpPr>
        <p:spPr>
          <a:xfrm>
            <a:off x="7294860" y="5009753"/>
            <a:ext cx="41022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Neutral network for tokenized invoices</a:t>
            </a:r>
            <a:endParaRPr lang="en-US" sz="1200" dirty="0"/>
          </a:p>
        </p:txBody>
      </p:sp>
      <p:sp>
        <p:nvSpPr>
          <p:cNvPr id="42" name="Text 40"/>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43" name="Text 41"/>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One invoice, from upload to repayment, in five steps</a:t>
            </a:r>
            <a:endParaRPr lang="en-US" sz="2200" dirty="0"/>
          </a:p>
        </p:txBody>
      </p:sp>
      <p:sp>
        <p:nvSpPr>
          <p:cNvPr id="3" name="Text 1"/>
          <p:cNvSpPr/>
          <p:nvPr/>
        </p:nvSpPr>
        <p:spPr>
          <a:xfrm>
            <a:off x="812800" y="1402060"/>
            <a:ext cx="20510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Step 1</a:t>
            </a:r>
            <a:endParaRPr lang="en-US" sz="1200" dirty="0"/>
          </a:p>
        </p:txBody>
      </p:sp>
      <p:sp>
        <p:nvSpPr>
          <p:cNvPr id="4" name="Text 2"/>
          <p:cNvSpPr/>
          <p:nvPr/>
        </p:nvSpPr>
        <p:spPr>
          <a:xfrm>
            <a:off x="2956520" y="14020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Step 2</a:t>
            </a:r>
            <a:endParaRPr lang="en-US" sz="1200" dirty="0"/>
          </a:p>
        </p:txBody>
      </p:sp>
      <p:sp>
        <p:nvSpPr>
          <p:cNvPr id="5" name="Text 3"/>
          <p:cNvSpPr/>
          <p:nvPr/>
        </p:nvSpPr>
        <p:spPr>
          <a:xfrm>
            <a:off x="5100290" y="14020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Step 3</a:t>
            </a:r>
            <a:endParaRPr lang="en-US" sz="1200" dirty="0"/>
          </a:p>
        </p:txBody>
      </p:sp>
      <p:sp>
        <p:nvSpPr>
          <p:cNvPr id="6" name="Text 4"/>
          <p:cNvSpPr/>
          <p:nvPr/>
        </p:nvSpPr>
        <p:spPr>
          <a:xfrm>
            <a:off x="7244060" y="14020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Step 4</a:t>
            </a:r>
            <a:endParaRPr lang="en-US" sz="1200" dirty="0"/>
          </a:p>
        </p:txBody>
      </p:sp>
      <p:sp>
        <p:nvSpPr>
          <p:cNvPr id="7" name="Text 5"/>
          <p:cNvSpPr/>
          <p:nvPr/>
        </p:nvSpPr>
        <p:spPr>
          <a:xfrm>
            <a:off x="9387830" y="14020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Step 5</a:t>
            </a:r>
            <a:endParaRPr lang="en-US" sz="1200" dirty="0"/>
          </a:p>
        </p:txBody>
      </p:sp>
      <p:sp>
        <p:nvSpPr>
          <p:cNvPr id="8" name="Shape 6"/>
          <p:cNvSpPr/>
          <p:nvPr/>
        </p:nvSpPr>
        <p:spPr>
          <a:xfrm>
            <a:off x="812800" y="1761430"/>
            <a:ext cx="10566400" cy="12700"/>
          </a:xfrm>
          <a:prstGeom prst="rect">
            <a:avLst/>
          </a:prstGeom>
          <a:solidFill>
            <a:srgbClr val="A9BEE0"/>
          </a:solidFill>
          <a:ln/>
        </p:spPr>
      </p:sp>
      <p:pic>
        <p:nvPicPr>
          <p:cNvPr id="9" name="Image 0" descr="ellipse">    </p:cNvPr>
          <p:cNvPicPr>
            <a:picLocks noChangeAspect="1"/>
          </p:cNvPicPr>
          <p:nvPr/>
        </p:nvPicPr>
        <p:blipFill>
          <a:blip r:embed="rId1"/>
          <a:srcRect l="0" r="0" t="0" b="0"/>
          <a:stretch/>
        </p:blipFill>
        <p:spPr>
          <a:xfrm>
            <a:off x="812800" y="1716980"/>
            <a:ext cx="101600" cy="101600"/>
          </a:xfrm>
          <a:prstGeom prst="rect">
            <a:avLst/>
          </a:prstGeom>
        </p:spPr>
      </p:pic>
      <p:pic>
        <p:nvPicPr>
          <p:cNvPr id="10" name="Image 1" descr="ellipse">    </p:cNvPr>
          <p:cNvPicPr>
            <a:picLocks noChangeAspect="1"/>
          </p:cNvPicPr>
          <p:nvPr/>
        </p:nvPicPr>
        <p:blipFill>
          <a:blip r:embed="rId2"/>
          <a:srcRect l="0" r="0" t="0" b="0"/>
          <a:stretch/>
        </p:blipFill>
        <p:spPr>
          <a:xfrm>
            <a:off x="2959100" y="1716980"/>
            <a:ext cx="101600" cy="101600"/>
          </a:xfrm>
          <a:prstGeom prst="rect">
            <a:avLst/>
          </a:prstGeom>
        </p:spPr>
      </p:pic>
      <p:pic>
        <p:nvPicPr>
          <p:cNvPr id="11" name="Image 2" descr="ellipse">    </p:cNvPr>
          <p:cNvPicPr>
            <a:picLocks noChangeAspect="1"/>
          </p:cNvPicPr>
          <p:nvPr/>
        </p:nvPicPr>
        <p:blipFill>
          <a:blip r:embed="rId3"/>
          <a:srcRect l="0" r="0" t="0" b="0"/>
          <a:stretch/>
        </p:blipFill>
        <p:spPr>
          <a:xfrm>
            <a:off x="5099050" y="1716980"/>
            <a:ext cx="101600" cy="101600"/>
          </a:xfrm>
          <a:prstGeom prst="rect">
            <a:avLst/>
          </a:prstGeom>
        </p:spPr>
      </p:pic>
      <p:pic>
        <p:nvPicPr>
          <p:cNvPr id="12" name="Image 3" descr="ellipse">    </p:cNvPr>
          <p:cNvPicPr>
            <a:picLocks noChangeAspect="1"/>
          </p:cNvPicPr>
          <p:nvPr/>
        </p:nvPicPr>
        <p:blipFill>
          <a:blip r:embed="rId4"/>
          <a:srcRect l="0" r="0" t="0" b="0"/>
          <a:stretch/>
        </p:blipFill>
        <p:spPr>
          <a:xfrm>
            <a:off x="7245350" y="1716980"/>
            <a:ext cx="101600" cy="101600"/>
          </a:xfrm>
          <a:prstGeom prst="rect">
            <a:avLst/>
          </a:prstGeom>
        </p:spPr>
      </p:pic>
      <p:pic>
        <p:nvPicPr>
          <p:cNvPr id="13" name="Image 4" descr="ellipse">    </p:cNvPr>
          <p:cNvPicPr>
            <a:picLocks noChangeAspect="1"/>
          </p:cNvPicPr>
          <p:nvPr/>
        </p:nvPicPr>
        <p:blipFill>
          <a:blip r:embed="rId5"/>
          <a:srcRect l="0" r="0" t="0" b="0"/>
          <a:stretch/>
        </p:blipFill>
        <p:spPr>
          <a:xfrm>
            <a:off x="9385300" y="1716980"/>
            <a:ext cx="101600" cy="101600"/>
          </a:xfrm>
          <a:prstGeom prst="rect">
            <a:avLst/>
          </a:prstGeom>
        </p:spPr>
      </p:pic>
      <p:sp>
        <p:nvSpPr>
          <p:cNvPr id="14" name="Text 7"/>
          <p:cNvSpPr/>
          <p:nvPr/>
        </p:nvSpPr>
        <p:spPr>
          <a:xfrm>
            <a:off x="812800" y="1920180"/>
            <a:ext cx="2051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Upload</a:t>
            </a:r>
            <a:endParaRPr lang="en-US" sz="1600" dirty="0"/>
          </a:p>
        </p:txBody>
      </p:sp>
      <p:sp>
        <p:nvSpPr>
          <p:cNvPr id="15" name="Text 8"/>
          <p:cNvSpPr/>
          <p:nvPr/>
        </p:nvSpPr>
        <p:spPr>
          <a:xfrm>
            <a:off x="812800" y="2202111"/>
            <a:ext cx="205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MSME</a:t>
            </a:r>
            <a:endParaRPr lang="en-US" sz="1200" dirty="0"/>
          </a:p>
        </p:txBody>
      </p:sp>
      <p:sp>
        <p:nvSpPr>
          <p:cNvPr id="16" name="Text 9"/>
          <p:cNvSpPr/>
          <p:nvPr/>
        </p:nvSpPr>
        <p:spPr>
          <a:xfrm>
            <a:off x="812800" y="2453531"/>
            <a:ext cx="205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Photo, voice or e-invoice file, in any Indian language</a:t>
            </a:r>
            <a:endParaRPr lang="en-US" sz="1200" dirty="0"/>
          </a:p>
        </p:txBody>
      </p:sp>
      <p:sp>
        <p:nvSpPr>
          <p:cNvPr id="17" name="Text 10"/>
          <p:cNvSpPr/>
          <p:nvPr/>
        </p:nvSpPr>
        <p:spPr>
          <a:xfrm>
            <a:off x="812800" y="2918271"/>
            <a:ext cx="205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RegisterInvoice</a:t>
            </a:r>
            <a:endParaRPr lang="en-US" sz="1200" dirty="0"/>
          </a:p>
        </p:txBody>
      </p:sp>
      <p:sp>
        <p:nvSpPr>
          <p:cNvPr id="18" name="Text 11"/>
          <p:cNvSpPr/>
          <p:nvPr/>
        </p:nvSpPr>
        <p:spPr>
          <a:xfrm>
            <a:off x="812800" y="3169692"/>
            <a:ext cx="205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REGISTERED · minutes</a:t>
            </a:r>
            <a:endParaRPr lang="en-US" sz="1200" dirty="0"/>
          </a:p>
        </p:txBody>
      </p:sp>
      <p:sp>
        <p:nvSpPr>
          <p:cNvPr id="19" name="Text 12"/>
          <p:cNvSpPr/>
          <p:nvPr/>
        </p:nvSpPr>
        <p:spPr>
          <a:xfrm>
            <a:off x="2956520" y="192018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Accept</a:t>
            </a:r>
            <a:endParaRPr lang="en-US" sz="1600" dirty="0"/>
          </a:p>
        </p:txBody>
      </p:sp>
      <p:sp>
        <p:nvSpPr>
          <p:cNvPr id="20" name="Text 13"/>
          <p:cNvSpPr/>
          <p:nvPr/>
        </p:nvSpPr>
        <p:spPr>
          <a:xfrm>
            <a:off x="2956520" y="220211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Buyer</a:t>
            </a:r>
            <a:endParaRPr lang="en-US" sz="1200" dirty="0"/>
          </a:p>
        </p:txBody>
      </p:sp>
      <p:sp>
        <p:nvSpPr>
          <p:cNvPr id="21" name="Text 14"/>
          <p:cNvSpPr/>
          <p:nvPr/>
        </p:nvSpPr>
        <p:spPr>
          <a:xfrm>
            <a:off x="2956520" y="245353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Confirms amount and due date in one click</a:t>
            </a:r>
            <a:endParaRPr lang="en-US" sz="1200" dirty="0"/>
          </a:p>
        </p:txBody>
      </p:sp>
      <p:sp>
        <p:nvSpPr>
          <p:cNvPr id="22" name="Text 15"/>
          <p:cNvSpPr/>
          <p:nvPr/>
        </p:nvSpPr>
        <p:spPr>
          <a:xfrm>
            <a:off x="2956520" y="291827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AcceptInvoice</a:t>
            </a:r>
            <a:endParaRPr lang="en-US" sz="1200" dirty="0"/>
          </a:p>
        </p:txBody>
      </p:sp>
      <p:sp>
        <p:nvSpPr>
          <p:cNvPr id="23" name="Text 16"/>
          <p:cNvSpPr/>
          <p:nvPr/>
        </p:nvSpPr>
        <p:spPr>
          <a:xfrm>
            <a:off x="2956520" y="3169692"/>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ACCEPTED · same day</a:t>
            </a:r>
            <a:endParaRPr lang="en-US" sz="1200" dirty="0"/>
          </a:p>
        </p:txBody>
      </p:sp>
      <p:sp>
        <p:nvSpPr>
          <p:cNvPr id="24" name="Text 17"/>
          <p:cNvSpPr/>
          <p:nvPr/>
        </p:nvSpPr>
        <p:spPr>
          <a:xfrm>
            <a:off x="5100290" y="192018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Bid</a:t>
            </a:r>
            <a:endParaRPr lang="en-US" sz="1600" dirty="0"/>
          </a:p>
        </p:txBody>
      </p:sp>
      <p:sp>
        <p:nvSpPr>
          <p:cNvPr id="25" name="Text 18"/>
          <p:cNvSpPr/>
          <p:nvPr/>
        </p:nvSpPr>
        <p:spPr>
          <a:xfrm>
            <a:off x="5100290" y="220211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Lenders</a:t>
            </a:r>
            <a:endParaRPr lang="en-US" sz="1200" dirty="0"/>
          </a:p>
        </p:txBody>
      </p:sp>
      <p:sp>
        <p:nvSpPr>
          <p:cNvPr id="26" name="Text 19"/>
          <p:cNvSpPr/>
          <p:nvPr/>
        </p:nvSpPr>
        <p:spPr>
          <a:xfrm>
            <a:off x="5100290" y="245353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Sealed bids during a fixed bid window</a:t>
            </a:r>
            <a:endParaRPr lang="en-US" sz="1200" dirty="0"/>
          </a:p>
        </p:txBody>
      </p:sp>
      <p:sp>
        <p:nvSpPr>
          <p:cNvPr id="27" name="Text 20"/>
          <p:cNvSpPr/>
          <p:nvPr/>
        </p:nvSpPr>
        <p:spPr>
          <a:xfrm>
            <a:off x="5100290" y="291827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SubmitBid</a:t>
            </a:r>
            <a:endParaRPr lang="en-US" sz="1200" dirty="0"/>
          </a:p>
        </p:txBody>
      </p:sp>
      <p:sp>
        <p:nvSpPr>
          <p:cNvPr id="28" name="Text 21"/>
          <p:cNvSpPr/>
          <p:nvPr/>
        </p:nvSpPr>
        <p:spPr>
          <a:xfrm>
            <a:off x="5100290" y="3169692"/>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LISTED · bid window</a:t>
            </a:r>
            <a:endParaRPr lang="en-US" sz="1200" dirty="0"/>
          </a:p>
        </p:txBody>
      </p:sp>
      <p:sp>
        <p:nvSpPr>
          <p:cNvPr id="29" name="Text 22"/>
          <p:cNvSpPr/>
          <p:nvPr/>
        </p:nvSpPr>
        <p:spPr>
          <a:xfrm>
            <a:off x="7244060" y="192018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Get paid</a:t>
            </a:r>
            <a:endParaRPr lang="en-US" sz="1600" dirty="0"/>
          </a:p>
        </p:txBody>
      </p:sp>
      <p:sp>
        <p:nvSpPr>
          <p:cNvPr id="30" name="Text 23"/>
          <p:cNvSpPr/>
          <p:nvPr/>
        </p:nvSpPr>
        <p:spPr>
          <a:xfrm>
            <a:off x="7244060" y="220211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MSME</a:t>
            </a:r>
            <a:endParaRPr lang="en-US" sz="1200" dirty="0"/>
          </a:p>
        </p:txBody>
      </p:sp>
      <p:sp>
        <p:nvSpPr>
          <p:cNvPr id="31" name="Text 24"/>
          <p:cNvSpPr/>
          <p:nvPr/>
        </p:nvSpPr>
        <p:spPr>
          <a:xfrm>
            <a:off x="7244060" y="245353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Best bid wins; money arrives by IMPS or UPI</a:t>
            </a:r>
            <a:endParaRPr lang="en-US" sz="1200" dirty="0"/>
          </a:p>
        </p:txBody>
      </p:sp>
      <p:sp>
        <p:nvSpPr>
          <p:cNvPr id="32" name="Text 25"/>
          <p:cNvSpPr/>
          <p:nvPr/>
        </p:nvSpPr>
        <p:spPr>
          <a:xfrm>
            <a:off x="7244060" y="291827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ConfirmFunding</a:t>
            </a:r>
            <a:endParaRPr lang="en-US" sz="1200" dirty="0"/>
          </a:p>
        </p:txBody>
      </p:sp>
      <p:sp>
        <p:nvSpPr>
          <p:cNvPr id="33" name="Text 26"/>
          <p:cNvSpPr/>
          <p:nvPr/>
        </p:nvSpPr>
        <p:spPr>
          <a:xfrm>
            <a:off x="7244060" y="3169692"/>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FUNDED · within hours</a:t>
            </a:r>
            <a:endParaRPr lang="en-US" sz="1200" dirty="0"/>
          </a:p>
        </p:txBody>
      </p:sp>
      <p:sp>
        <p:nvSpPr>
          <p:cNvPr id="34" name="Text 27"/>
          <p:cNvSpPr/>
          <p:nvPr/>
        </p:nvSpPr>
        <p:spPr>
          <a:xfrm>
            <a:off x="9387830" y="192018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Repay</a:t>
            </a:r>
            <a:endParaRPr lang="en-US" sz="1600" dirty="0"/>
          </a:p>
        </p:txBody>
      </p:sp>
      <p:sp>
        <p:nvSpPr>
          <p:cNvPr id="35" name="Text 28"/>
          <p:cNvSpPr/>
          <p:nvPr/>
        </p:nvSpPr>
        <p:spPr>
          <a:xfrm>
            <a:off x="9387830" y="220211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Buyer</a:t>
            </a:r>
            <a:endParaRPr lang="en-US" sz="1200" dirty="0"/>
          </a:p>
        </p:txBody>
      </p:sp>
      <p:sp>
        <p:nvSpPr>
          <p:cNvPr id="36" name="Text 29"/>
          <p:cNvSpPr/>
          <p:nvPr/>
        </p:nvSpPr>
        <p:spPr>
          <a:xfrm>
            <a:off x="9387830" y="245353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e-NACH debit on the due date; lenders paid pro rata</a:t>
            </a:r>
            <a:endParaRPr lang="en-US" sz="1200" dirty="0"/>
          </a:p>
        </p:txBody>
      </p:sp>
      <p:sp>
        <p:nvSpPr>
          <p:cNvPr id="37" name="Text 30"/>
          <p:cNvSpPr/>
          <p:nvPr/>
        </p:nvSpPr>
        <p:spPr>
          <a:xfrm>
            <a:off x="9387830" y="2918271"/>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ConfirmRepayment</a:t>
            </a:r>
            <a:endParaRPr lang="en-US" sz="1200" dirty="0"/>
          </a:p>
        </p:txBody>
      </p:sp>
      <p:sp>
        <p:nvSpPr>
          <p:cNvPr id="38" name="Text 31"/>
          <p:cNvSpPr/>
          <p:nvPr/>
        </p:nvSpPr>
        <p:spPr>
          <a:xfrm>
            <a:off x="9387830" y="3169692"/>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CLOSED · due date</a:t>
            </a:r>
            <a:endParaRPr lang="en-US" sz="1200" dirty="0"/>
          </a:p>
        </p:txBody>
      </p:sp>
      <p:sp>
        <p:nvSpPr>
          <p:cNvPr id="39" name="Text 32"/>
          <p:cNvSpPr/>
          <p:nvPr/>
        </p:nvSpPr>
        <p:spPr>
          <a:xfrm>
            <a:off x="812800" y="376401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Time from delivery to cash</a:t>
            </a:r>
            <a:endParaRPr lang="en-US" sz="1200" dirty="0"/>
          </a:p>
        </p:txBody>
      </p:sp>
      <p:sp>
        <p:nvSpPr>
          <p:cNvPr id="40" name="Text 33"/>
          <p:cNvSpPr/>
          <p:nvPr/>
        </p:nvSpPr>
        <p:spPr>
          <a:xfrm>
            <a:off x="812800" y="406117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Today</a:t>
            </a:r>
            <a:endParaRPr lang="en-US" sz="1200" dirty="0"/>
          </a:p>
        </p:txBody>
      </p:sp>
      <p:sp>
        <p:nvSpPr>
          <p:cNvPr id="41" name="Shape 34"/>
          <p:cNvSpPr/>
          <p:nvPr/>
        </p:nvSpPr>
        <p:spPr>
          <a:xfrm>
            <a:off x="2235200" y="4053532"/>
            <a:ext cx="6350000" cy="228600"/>
          </a:xfrm>
          <a:prstGeom prst="rect">
            <a:avLst/>
          </a:prstGeom>
          <a:solidFill>
            <a:srgbClr val="9AA3AF"/>
          </a:solidFill>
          <a:ln/>
        </p:spPr>
      </p:sp>
      <p:sp>
        <p:nvSpPr>
          <p:cNvPr id="42" name="Text 35"/>
          <p:cNvSpPr/>
          <p:nvPr/>
        </p:nvSpPr>
        <p:spPr>
          <a:xfrm>
            <a:off x="8737600" y="4061172"/>
            <a:ext cx="10473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60–120 days</a:t>
            </a:r>
            <a:endParaRPr lang="en-US" sz="1200" dirty="0"/>
          </a:p>
        </p:txBody>
      </p:sp>
      <p:sp>
        <p:nvSpPr>
          <p:cNvPr id="43" name="Text 36"/>
          <p:cNvSpPr/>
          <p:nvPr/>
        </p:nvSpPr>
        <p:spPr>
          <a:xfrm>
            <a:off x="812800" y="4365972"/>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With RASID</a:t>
            </a:r>
            <a:endParaRPr lang="en-US" sz="1200" dirty="0"/>
          </a:p>
        </p:txBody>
      </p:sp>
      <p:sp>
        <p:nvSpPr>
          <p:cNvPr id="44" name="Shape 37"/>
          <p:cNvSpPr/>
          <p:nvPr/>
        </p:nvSpPr>
        <p:spPr>
          <a:xfrm>
            <a:off x="2235200" y="4358332"/>
            <a:ext cx="101600" cy="228600"/>
          </a:xfrm>
          <a:prstGeom prst="rect">
            <a:avLst/>
          </a:prstGeom>
          <a:solidFill>
            <a:srgbClr val="1F4E9A"/>
          </a:solidFill>
          <a:ln/>
        </p:spPr>
      </p:sp>
      <p:sp>
        <p:nvSpPr>
          <p:cNvPr id="45" name="Text 38"/>
          <p:cNvSpPr/>
          <p:nvPr/>
        </p:nvSpPr>
        <p:spPr>
          <a:xfrm>
            <a:off x="2489200" y="4365972"/>
            <a:ext cx="23989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Hours after the buyer accepts</a:t>
            </a:r>
            <a:endParaRPr lang="en-US" sz="1200" dirty="0"/>
          </a:p>
        </p:txBody>
      </p:sp>
      <p:sp>
        <p:nvSpPr>
          <p:cNvPr id="46" name="Text 39"/>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47" name="Text 40"/>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Each invoice token follows one path, enforced in chaincode</a:t>
            </a:r>
            <a:endParaRPr lang="en-US" sz="2200" dirty="0"/>
          </a:p>
        </p:txBody>
      </p:sp>
      <p:sp>
        <p:nvSpPr>
          <p:cNvPr id="3" name="Shape 1"/>
          <p:cNvSpPr/>
          <p:nvPr/>
        </p:nvSpPr>
        <p:spPr>
          <a:xfrm>
            <a:off x="819150" y="1408410"/>
            <a:ext cx="2019300" cy="749300"/>
          </a:xfrm>
          <a:prstGeom prst="roundRect">
            <a:avLst>
              <a:gd name="adj" fmla="val 4237"/>
            </a:avLst>
          </a:prstGeom>
          <a:solidFill>
            <a:srgbClr val="FFFFFF"/>
          </a:solidFill>
          <a:ln w="12700">
            <a:solidFill>
              <a:srgbClr val="1A1D21"/>
            </a:solidFill>
            <a:prstDash val="solid"/>
          </a:ln>
        </p:spPr>
      </p:sp>
      <p:sp>
        <p:nvSpPr>
          <p:cNvPr id="4" name="Text 2"/>
          <p:cNvSpPr/>
          <p:nvPr/>
        </p:nvSpPr>
        <p:spPr>
          <a:xfrm>
            <a:off x="952500" y="1539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D21"/>
                </a:solidFill>
                <a:latin typeface="Courier New" pitchFamily="49" charset="0"/>
                <a:ea typeface="Courier New" pitchFamily="49" charset="-122"/>
                <a:cs typeface="Courier New" pitchFamily="49" charset="-120"/>
              </a:rPr>
              <a:t>REGISTERED</a:t>
            </a:r>
            <a:endParaRPr lang="en-US" sz="1400" dirty="0"/>
          </a:p>
        </p:txBody>
      </p:sp>
      <p:sp>
        <p:nvSpPr>
          <p:cNvPr id="5" name="Text 3"/>
          <p:cNvSpPr/>
          <p:nvPr/>
        </p:nvSpPr>
        <p:spPr>
          <a:xfrm>
            <a:off x="952500" y="1813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MSME uploads</a:t>
            </a:r>
            <a:endParaRPr lang="en-US" sz="1200" dirty="0"/>
          </a:p>
        </p:txBody>
      </p:sp>
      <p:sp>
        <p:nvSpPr>
          <p:cNvPr id="6" name="Shape 4"/>
          <p:cNvSpPr/>
          <p:nvPr/>
        </p:nvSpPr>
        <p:spPr>
          <a:xfrm>
            <a:off x="3663950" y="1408410"/>
            <a:ext cx="2019300" cy="749300"/>
          </a:xfrm>
          <a:prstGeom prst="roundRect">
            <a:avLst>
              <a:gd name="adj" fmla="val 4237"/>
            </a:avLst>
          </a:prstGeom>
          <a:solidFill>
            <a:srgbClr val="FFFFFF"/>
          </a:solidFill>
          <a:ln w="12700">
            <a:solidFill>
              <a:srgbClr val="1A1D21"/>
            </a:solidFill>
            <a:prstDash val="solid"/>
          </a:ln>
        </p:spPr>
      </p:sp>
      <p:sp>
        <p:nvSpPr>
          <p:cNvPr id="7" name="Text 5"/>
          <p:cNvSpPr/>
          <p:nvPr/>
        </p:nvSpPr>
        <p:spPr>
          <a:xfrm>
            <a:off x="3797300" y="1539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D21"/>
                </a:solidFill>
                <a:latin typeface="Courier New" pitchFamily="49" charset="0"/>
                <a:ea typeface="Courier New" pitchFamily="49" charset="-122"/>
                <a:cs typeface="Courier New" pitchFamily="49" charset="-120"/>
              </a:rPr>
              <a:t>ACCEPTED</a:t>
            </a:r>
            <a:endParaRPr lang="en-US" sz="1400" dirty="0"/>
          </a:p>
        </p:txBody>
      </p:sp>
      <p:sp>
        <p:nvSpPr>
          <p:cNvPr id="8" name="Text 6"/>
          <p:cNvSpPr/>
          <p:nvPr/>
        </p:nvSpPr>
        <p:spPr>
          <a:xfrm>
            <a:off x="3797300" y="1813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Buyer signs</a:t>
            </a:r>
            <a:endParaRPr lang="en-US" sz="1200" dirty="0"/>
          </a:p>
        </p:txBody>
      </p:sp>
      <p:sp>
        <p:nvSpPr>
          <p:cNvPr id="9" name="Shape 7"/>
          <p:cNvSpPr/>
          <p:nvPr/>
        </p:nvSpPr>
        <p:spPr>
          <a:xfrm>
            <a:off x="6508750" y="1408410"/>
            <a:ext cx="2019300" cy="749300"/>
          </a:xfrm>
          <a:prstGeom prst="roundRect">
            <a:avLst>
              <a:gd name="adj" fmla="val 4237"/>
            </a:avLst>
          </a:prstGeom>
          <a:solidFill>
            <a:srgbClr val="FFFFFF"/>
          </a:solidFill>
          <a:ln w="12700">
            <a:solidFill>
              <a:srgbClr val="1A1D21"/>
            </a:solidFill>
            <a:prstDash val="solid"/>
          </a:ln>
        </p:spPr>
      </p:sp>
      <p:sp>
        <p:nvSpPr>
          <p:cNvPr id="10" name="Text 8"/>
          <p:cNvSpPr/>
          <p:nvPr/>
        </p:nvSpPr>
        <p:spPr>
          <a:xfrm>
            <a:off x="6642100" y="1539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D21"/>
                </a:solidFill>
                <a:latin typeface="Courier New" pitchFamily="49" charset="0"/>
                <a:ea typeface="Courier New" pitchFamily="49" charset="-122"/>
                <a:cs typeface="Courier New" pitchFamily="49" charset="-120"/>
              </a:rPr>
              <a:t>LISTED</a:t>
            </a:r>
            <a:endParaRPr lang="en-US" sz="1400" dirty="0"/>
          </a:p>
        </p:txBody>
      </p:sp>
      <p:sp>
        <p:nvSpPr>
          <p:cNvPr id="11" name="Text 9"/>
          <p:cNvSpPr/>
          <p:nvPr/>
        </p:nvSpPr>
        <p:spPr>
          <a:xfrm>
            <a:off x="6642100" y="1813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Open for sealed bids</a:t>
            </a:r>
            <a:endParaRPr lang="en-US" sz="1200" dirty="0"/>
          </a:p>
        </p:txBody>
      </p:sp>
      <p:sp>
        <p:nvSpPr>
          <p:cNvPr id="12" name="Shape 10"/>
          <p:cNvSpPr/>
          <p:nvPr/>
        </p:nvSpPr>
        <p:spPr>
          <a:xfrm>
            <a:off x="9353550" y="1408410"/>
            <a:ext cx="2019300" cy="749300"/>
          </a:xfrm>
          <a:prstGeom prst="roundRect">
            <a:avLst>
              <a:gd name="adj" fmla="val 4237"/>
            </a:avLst>
          </a:prstGeom>
          <a:solidFill>
            <a:srgbClr val="FFFFFF"/>
          </a:solidFill>
          <a:ln w="12700">
            <a:solidFill>
              <a:srgbClr val="1A1D21"/>
            </a:solidFill>
            <a:prstDash val="solid"/>
          </a:ln>
        </p:spPr>
      </p:sp>
      <p:sp>
        <p:nvSpPr>
          <p:cNvPr id="13" name="Text 11"/>
          <p:cNvSpPr/>
          <p:nvPr/>
        </p:nvSpPr>
        <p:spPr>
          <a:xfrm>
            <a:off x="9486900" y="1539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D21"/>
                </a:solidFill>
                <a:latin typeface="Courier New" pitchFamily="49" charset="0"/>
                <a:ea typeface="Courier New" pitchFamily="49" charset="-122"/>
                <a:cs typeface="Courier New" pitchFamily="49" charset="-120"/>
              </a:rPr>
              <a:t>FUNDING_PENDING</a:t>
            </a:r>
            <a:endParaRPr lang="en-US" sz="1400" dirty="0"/>
          </a:p>
        </p:txBody>
      </p:sp>
      <p:sp>
        <p:nvSpPr>
          <p:cNvPr id="14" name="Text 12"/>
          <p:cNvSpPr/>
          <p:nvPr/>
        </p:nvSpPr>
        <p:spPr>
          <a:xfrm>
            <a:off x="9486900" y="1813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Bid awarded</a:t>
            </a:r>
            <a:endParaRPr lang="en-US" sz="1200" dirty="0"/>
          </a:p>
        </p:txBody>
      </p:sp>
      <p:sp>
        <p:nvSpPr>
          <p:cNvPr id="15" name="Shape 13"/>
          <p:cNvSpPr/>
          <p:nvPr/>
        </p:nvSpPr>
        <p:spPr>
          <a:xfrm>
            <a:off x="9353550" y="3059410"/>
            <a:ext cx="2019300" cy="749300"/>
          </a:xfrm>
          <a:prstGeom prst="roundRect">
            <a:avLst>
              <a:gd name="adj" fmla="val 4237"/>
            </a:avLst>
          </a:prstGeom>
          <a:solidFill>
            <a:srgbClr val="FFFFFF"/>
          </a:solidFill>
          <a:ln w="12700">
            <a:solidFill>
              <a:srgbClr val="1A1D21"/>
            </a:solidFill>
            <a:prstDash val="solid"/>
          </a:ln>
        </p:spPr>
      </p:sp>
      <p:sp>
        <p:nvSpPr>
          <p:cNvPr id="16" name="Text 14"/>
          <p:cNvSpPr/>
          <p:nvPr/>
        </p:nvSpPr>
        <p:spPr>
          <a:xfrm>
            <a:off x="9486900" y="3190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D21"/>
                </a:solidFill>
                <a:latin typeface="Courier New" pitchFamily="49" charset="0"/>
                <a:ea typeface="Courier New" pitchFamily="49" charset="-122"/>
                <a:cs typeface="Courier New" pitchFamily="49" charset="-120"/>
              </a:rPr>
              <a:t>FUNDED</a:t>
            </a:r>
            <a:endParaRPr lang="en-US" sz="1400" dirty="0"/>
          </a:p>
        </p:txBody>
      </p:sp>
      <p:sp>
        <p:nvSpPr>
          <p:cNvPr id="17" name="Text 15"/>
          <p:cNvSpPr/>
          <p:nvPr/>
        </p:nvSpPr>
        <p:spPr>
          <a:xfrm>
            <a:off x="9486900" y="3464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Payout UTR posted</a:t>
            </a:r>
            <a:endParaRPr lang="en-US" sz="1200" dirty="0"/>
          </a:p>
        </p:txBody>
      </p:sp>
      <p:sp>
        <p:nvSpPr>
          <p:cNvPr id="18" name="Shape 16"/>
          <p:cNvSpPr/>
          <p:nvPr/>
        </p:nvSpPr>
        <p:spPr>
          <a:xfrm>
            <a:off x="6508750" y="3059410"/>
            <a:ext cx="2019300" cy="749300"/>
          </a:xfrm>
          <a:prstGeom prst="roundRect">
            <a:avLst>
              <a:gd name="adj" fmla="val 4237"/>
            </a:avLst>
          </a:prstGeom>
          <a:solidFill>
            <a:srgbClr val="FFFFFF"/>
          </a:solidFill>
          <a:ln w="12700">
            <a:solidFill>
              <a:srgbClr val="1A1D21"/>
            </a:solidFill>
            <a:prstDash val="solid"/>
          </a:ln>
        </p:spPr>
      </p:sp>
      <p:sp>
        <p:nvSpPr>
          <p:cNvPr id="19" name="Text 17"/>
          <p:cNvSpPr/>
          <p:nvPr/>
        </p:nvSpPr>
        <p:spPr>
          <a:xfrm>
            <a:off x="6642100" y="3190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D21"/>
                </a:solidFill>
                <a:latin typeface="Courier New" pitchFamily="49" charset="0"/>
                <a:ea typeface="Courier New" pitchFamily="49" charset="-122"/>
                <a:cs typeface="Courier New" pitchFamily="49" charset="-120"/>
              </a:rPr>
              <a:t>REPAID</a:t>
            </a:r>
            <a:endParaRPr lang="en-US" sz="1400" dirty="0"/>
          </a:p>
        </p:txBody>
      </p:sp>
      <p:sp>
        <p:nvSpPr>
          <p:cNvPr id="20" name="Text 18"/>
          <p:cNvSpPr/>
          <p:nvPr/>
        </p:nvSpPr>
        <p:spPr>
          <a:xfrm>
            <a:off x="6642100" y="3464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Repayment UTR posted</a:t>
            </a:r>
            <a:endParaRPr lang="en-US" sz="1200" dirty="0"/>
          </a:p>
        </p:txBody>
      </p:sp>
      <p:sp>
        <p:nvSpPr>
          <p:cNvPr id="21" name="Shape 19"/>
          <p:cNvSpPr/>
          <p:nvPr/>
        </p:nvSpPr>
        <p:spPr>
          <a:xfrm>
            <a:off x="3663950" y="3059410"/>
            <a:ext cx="2019300" cy="749300"/>
          </a:xfrm>
          <a:prstGeom prst="roundRect">
            <a:avLst>
              <a:gd name="adj" fmla="val 4237"/>
            </a:avLst>
          </a:prstGeom>
          <a:solidFill>
            <a:srgbClr val="1F4E9A"/>
          </a:solidFill>
          <a:ln w="12700">
            <a:solidFill>
              <a:srgbClr val="1F4E9A"/>
            </a:solidFill>
            <a:prstDash val="solid"/>
          </a:ln>
        </p:spPr>
      </p:sp>
      <p:sp>
        <p:nvSpPr>
          <p:cNvPr id="22" name="Text 20"/>
          <p:cNvSpPr/>
          <p:nvPr/>
        </p:nvSpPr>
        <p:spPr>
          <a:xfrm>
            <a:off x="3797300" y="3190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AF8"/>
                </a:solidFill>
                <a:latin typeface="Courier New" pitchFamily="49" charset="0"/>
                <a:ea typeface="Courier New" pitchFamily="49" charset="-122"/>
                <a:cs typeface="Courier New" pitchFamily="49" charset="-120"/>
              </a:rPr>
              <a:t>CLOSED</a:t>
            </a:r>
            <a:endParaRPr lang="en-US" sz="1400" dirty="0"/>
          </a:p>
        </p:txBody>
      </p:sp>
      <p:sp>
        <p:nvSpPr>
          <p:cNvPr id="23" name="Text 21"/>
          <p:cNvSpPr/>
          <p:nvPr/>
        </p:nvSpPr>
        <p:spPr>
          <a:xfrm>
            <a:off x="3797300" y="3464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5"/>
                </a:solidFill>
                <a:latin typeface="Arial" pitchFamily="34" charset="0"/>
                <a:ea typeface="Arial" pitchFamily="34" charset="-122"/>
                <a:cs typeface="Arial" pitchFamily="34" charset="-120"/>
              </a:rPr>
              <a:t>Lenders paid out</a:t>
            </a:r>
            <a:endParaRPr lang="en-US" sz="1200" dirty="0"/>
          </a:p>
        </p:txBody>
      </p:sp>
      <p:sp>
        <p:nvSpPr>
          <p:cNvPr id="24" name="Shape 22"/>
          <p:cNvSpPr/>
          <p:nvPr/>
        </p:nvSpPr>
        <p:spPr>
          <a:xfrm>
            <a:off x="6508750" y="4710410"/>
            <a:ext cx="2019300" cy="749300"/>
          </a:xfrm>
          <a:prstGeom prst="roundRect">
            <a:avLst>
              <a:gd name="adj" fmla="val 4237"/>
            </a:avLst>
          </a:prstGeom>
          <a:solidFill>
            <a:srgbClr val="FFFFFF"/>
          </a:solidFill>
          <a:ln w="12700">
            <a:solidFill>
              <a:srgbClr val="B54A1C"/>
            </a:solidFill>
            <a:prstDash val="dash"/>
          </a:ln>
        </p:spPr>
      </p:sp>
      <p:sp>
        <p:nvSpPr>
          <p:cNvPr id="25" name="Text 23"/>
          <p:cNvSpPr/>
          <p:nvPr/>
        </p:nvSpPr>
        <p:spPr>
          <a:xfrm>
            <a:off x="6642100" y="4841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4A1C"/>
                </a:solidFill>
                <a:latin typeface="Courier New" pitchFamily="49" charset="0"/>
                <a:ea typeface="Courier New" pitchFamily="49" charset="-122"/>
                <a:cs typeface="Courier New" pitchFamily="49" charset="-120"/>
              </a:rPr>
              <a:t>OVERDUE</a:t>
            </a:r>
            <a:endParaRPr lang="en-US" sz="1400" dirty="0"/>
          </a:p>
        </p:txBody>
      </p:sp>
      <p:sp>
        <p:nvSpPr>
          <p:cNvPr id="26" name="Text 24"/>
          <p:cNvSpPr/>
          <p:nvPr/>
        </p:nvSpPr>
        <p:spPr>
          <a:xfrm>
            <a:off x="6642100" y="5115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Past the due date</a:t>
            </a:r>
            <a:endParaRPr lang="en-US" sz="1200" dirty="0"/>
          </a:p>
        </p:txBody>
      </p:sp>
      <p:sp>
        <p:nvSpPr>
          <p:cNvPr id="27" name="Shape 25"/>
          <p:cNvSpPr/>
          <p:nvPr/>
        </p:nvSpPr>
        <p:spPr>
          <a:xfrm>
            <a:off x="3663950" y="4710410"/>
            <a:ext cx="2019300" cy="749300"/>
          </a:xfrm>
          <a:prstGeom prst="roundRect">
            <a:avLst>
              <a:gd name="adj" fmla="val 4237"/>
            </a:avLst>
          </a:prstGeom>
          <a:solidFill>
            <a:srgbClr val="FFFFFF"/>
          </a:solidFill>
          <a:ln w="12700">
            <a:solidFill>
              <a:srgbClr val="B54A1C"/>
            </a:solidFill>
            <a:prstDash val="dash"/>
          </a:ln>
        </p:spPr>
      </p:sp>
      <p:sp>
        <p:nvSpPr>
          <p:cNvPr id="28" name="Text 26"/>
          <p:cNvSpPr/>
          <p:nvPr/>
        </p:nvSpPr>
        <p:spPr>
          <a:xfrm>
            <a:off x="3797300" y="4841230"/>
            <a:ext cx="180517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4A1C"/>
                </a:solidFill>
                <a:latin typeface="Courier New" pitchFamily="49" charset="0"/>
                <a:ea typeface="Courier New" pitchFamily="49" charset="-122"/>
                <a:cs typeface="Courier New" pitchFamily="49" charset="-120"/>
              </a:rPr>
              <a:t>DEFAULTED</a:t>
            </a:r>
            <a:endParaRPr lang="en-US" sz="1400" dirty="0"/>
          </a:p>
        </p:txBody>
      </p:sp>
      <p:sp>
        <p:nvSpPr>
          <p:cNvPr id="29" name="Text 27"/>
          <p:cNvSpPr/>
          <p:nvPr/>
        </p:nvSpPr>
        <p:spPr>
          <a:xfrm>
            <a:off x="3797300" y="5115520"/>
            <a:ext cx="180517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Recovery starts</a:t>
            </a:r>
            <a:endParaRPr lang="en-US" sz="1200" dirty="0"/>
          </a:p>
        </p:txBody>
      </p:sp>
      <p:sp>
        <p:nvSpPr>
          <p:cNvPr id="30" name="Shape 28"/>
          <p:cNvSpPr/>
          <p:nvPr/>
        </p:nvSpPr>
        <p:spPr>
          <a:xfrm>
            <a:off x="822325" y="3053060"/>
            <a:ext cx="0" cy="2413000"/>
          </a:xfrm>
          <a:prstGeom prst="line">
            <a:avLst/>
          </a:prstGeom>
          <a:noFill/>
          <a:ln w="19050">
            <a:solidFill>
              <a:srgbClr val="1F4E9A"/>
            </a:solidFill>
            <a:prstDash val="solid"/>
          </a:ln>
        </p:spPr>
      </p:sp>
      <p:sp>
        <p:nvSpPr>
          <p:cNvPr id="31" name="Text 29"/>
          <p:cNvSpPr/>
          <p:nvPr/>
        </p:nvSpPr>
        <p:spPr>
          <a:xfrm>
            <a:off x="984250" y="3078460"/>
            <a:ext cx="191636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Each arrow is one endorsed DRUNIX transaction that only the right role can send.</a:t>
            </a:r>
            <a:endParaRPr lang="en-US" sz="1200" dirty="0"/>
          </a:p>
        </p:txBody>
      </p:sp>
      <p:sp>
        <p:nvSpPr>
          <p:cNvPr id="32" name="Text 30"/>
          <p:cNvSpPr/>
          <p:nvPr/>
        </p:nvSpPr>
        <p:spPr>
          <a:xfrm>
            <a:off x="984250" y="4033341"/>
            <a:ext cx="191636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Solid: normal path. Dashed: exception path.</a:t>
            </a:r>
            <a:endParaRPr lang="en-US" sz="1200" dirty="0"/>
          </a:p>
        </p:txBody>
      </p:sp>
      <p:sp>
        <p:nvSpPr>
          <p:cNvPr id="33" name="Text 31"/>
          <p:cNvSpPr/>
          <p:nvPr/>
        </p:nvSpPr>
        <p:spPr>
          <a:xfrm>
            <a:off x="984250" y="4561582"/>
            <a:ext cx="1916367"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FUNDED needs a real payout UTR, so the ledger never runs ahead of the money.</a:t>
            </a:r>
            <a:endParaRPr lang="en-US" sz="1200" dirty="0"/>
          </a:p>
        </p:txBody>
      </p:sp>
      <p:pic>
        <p:nvPicPr>
          <p:cNvPr id="34" name="Image 0" descr="connector">    </p:cNvPr>
          <p:cNvPicPr>
            <a:picLocks noChangeAspect="1"/>
          </p:cNvPicPr>
          <p:nvPr/>
        </p:nvPicPr>
        <p:blipFill>
          <a:blip r:embed="rId1"/>
          <a:srcRect l="0" r="0" t="0" b="0"/>
          <a:stretch/>
        </p:blipFill>
        <p:spPr>
          <a:xfrm>
            <a:off x="2806700" y="1744960"/>
            <a:ext cx="889000" cy="76200"/>
          </a:xfrm>
          <a:prstGeom prst="rect">
            <a:avLst/>
          </a:prstGeom>
        </p:spPr>
      </p:pic>
      <p:pic>
        <p:nvPicPr>
          <p:cNvPr id="35" name="Image 1" descr="connector">    </p:cNvPr>
          <p:cNvPicPr>
            <a:picLocks noChangeAspect="1"/>
          </p:cNvPicPr>
          <p:nvPr/>
        </p:nvPicPr>
        <p:blipFill>
          <a:blip r:embed="rId2"/>
          <a:srcRect l="0" r="0" t="0" b="0"/>
          <a:stretch/>
        </p:blipFill>
        <p:spPr>
          <a:xfrm>
            <a:off x="5651500" y="1744960"/>
            <a:ext cx="889000" cy="76200"/>
          </a:xfrm>
          <a:prstGeom prst="rect">
            <a:avLst/>
          </a:prstGeom>
        </p:spPr>
      </p:pic>
      <p:pic>
        <p:nvPicPr>
          <p:cNvPr id="36" name="Image 2" descr="connector">    </p:cNvPr>
          <p:cNvPicPr>
            <a:picLocks noChangeAspect="1"/>
          </p:cNvPicPr>
          <p:nvPr/>
        </p:nvPicPr>
        <p:blipFill>
          <a:blip r:embed="rId3"/>
          <a:srcRect l="0" r="0" t="0" b="0"/>
          <a:stretch/>
        </p:blipFill>
        <p:spPr>
          <a:xfrm>
            <a:off x="8496300" y="1744960"/>
            <a:ext cx="889000" cy="76200"/>
          </a:xfrm>
          <a:prstGeom prst="rect">
            <a:avLst/>
          </a:prstGeom>
        </p:spPr>
      </p:pic>
      <p:pic>
        <p:nvPicPr>
          <p:cNvPr id="37" name="Image 3" descr="connector">    </p:cNvPr>
          <p:cNvPicPr>
            <a:picLocks noChangeAspect="1"/>
          </p:cNvPicPr>
          <p:nvPr/>
        </p:nvPicPr>
        <p:blipFill>
          <a:blip r:embed="rId4"/>
          <a:srcRect l="0" r="0" t="0" b="0"/>
          <a:stretch/>
        </p:blipFill>
        <p:spPr>
          <a:xfrm>
            <a:off x="10325100" y="2125960"/>
            <a:ext cx="76200" cy="965200"/>
          </a:xfrm>
          <a:prstGeom prst="rect">
            <a:avLst/>
          </a:prstGeom>
        </p:spPr>
      </p:pic>
      <p:pic>
        <p:nvPicPr>
          <p:cNvPr id="38" name="Image 4" descr="connector">    </p:cNvPr>
          <p:cNvPicPr>
            <a:picLocks noChangeAspect="1"/>
          </p:cNvPicPr>
          <p:nvPr/>
        </p:nvPicPr>
        <p:blipFill>
          <a:blip r:embed="rId5"/>
          <a:srcRect l="0" r="0" t="0" b="0"/>
          <a:stretch/>
        </p:blipFill>
        <p:spPr>
          <a:xfrm>
            <a:off x="8496300" y="3395960"/>
            <a:ext cx="889000" cy="76200"/>
          </a:xfrm>
          <a:prstGeom prst="rect">
            <a:avLst/>
          </a:prstGeom>
        </p:spPr>
      </p:pic>
      <p:pic>
        <p:nvPicPr>
          <p:cNvPr id="39" name="Image 5" descr="connector">    </p:cNvPr>
          <p:cNvPicPr>
            <a:picLocks noChangeAspect="1"/>
          </p:cNvPicPr>
          <p:nvPr/>
        </p:nvPicPr>
        <p:blipFill>
          <a:blip r:embed="rId6"/>
          <a:srcRect l="0" r="0" t="0" b="0"/>
          <a:stretch/>
        </p:blipFill>
        <p:spPr>
          <a:xfrm>
            <a:off x="5651500" y="3395960"/>
            <a:ext cx="889000" cy="76200"/>
          </a:xfrm>
          <a:prstGeom prst="rect">
            <a:avLst/>
          </a:prstGeom>
        </p:spPr>
      </p:pic>
      <p:pic>
        <p:nvPicPr>
          <p:cNvPr id="40" name="Image 6" descr="connector">    </p:cNvPr>
          <p:cNvPicPr>
            <a:picLocks noChangeAspect="1"/>
          </p:cNvPicPr>
          <p:nvPr/>
        </p:nvPicPr>
        <p:blipFill>
          <a:blip r:embed="rId7"/>
          <a:srcRect l="0" r="0" t="0" b="0"/>
          <a:stretch/>
        </p:blipFill>
        <p:spPr>
          <a:xfrm>
            <a:off x="8496300" y="3776960"/>
            <a:ext cx="1905000" cy="1346200"/>
          </a:xfrm>
          <a:prstGeom prst="rect">
            <a:avLst/>
          </a:prstGeom>
        </p:spPr>
      </p:pic>
      <p:pic>
        <p:nvPicPr>
          <p:cNvPr id="41" name="Image 7" descr="connector">    </p:cNvPr>
          <p:cNvPicPr>
            <a:picLocks noChangeAspect="1"/>
          </p:cNvPicPr>
          <p:nvPr/>
        </p:nvPicPr>
        <p:blipFill>
          <a:blip r:embed="rId8"/>
          <a:srcRect l="0" r="0" t="0" b="0"/>
          <a:stretch/>
        </p:blipFill>
        <p:spPr>
          <a:xfrm>
            <a:off x="7480300" y="3776960"/>
            <a:ext cx="76200" cy="965200"/>
          </a:xfrm>
          <a:prstGeom prst="rect">
            <a:avLst/>
          </a:prstGeom>
        </p:spPr>
      </p:pic>
      <p:pic>
        <p:nvPicPr>
          <p:cNvPr id="42" name="Image 8" descr="connector">    </p:cNvPr>
          <p:cNvPicPr>
            <a:picLocks noChangeAspect="1"/>
          </p:cNvPicPr>
          <p:nvPr/>
        </p:nvPicPr>
        <p:blipFill>
          <a:blip r:embed="rId9"/>
          <a:srcRect l="0" r="0" t="0" b="0"/>
          <a:stretch/>
        </p:blipFill>
        <p:spPr>
          <a:xfrm>
            <a:off x="5651500" y="5046960"/>
            <a:ext cx="889000" cy="76200"/>
          </a:xfrm>
          <a:prstGeom prst="rect">
            <a:avLst/>
          </a:prstGeom>
        </p:spPr>
      </p:pic>
      <p:pic>
        <p:nvPicPr>
          <p:cNvPr id="43" name="Image 9" descr="connector">    </p:cNvPr>
          <p:cNvPicPr>
            <a:picLocks noChangeAspect="1"/>
          </p:cNvPicPr>
          <p:nvPr/>
        </p:nvPicPr>
        <p:blipFill>
          <a:blip r:embed="rId10"/>
          <a:srcRect l="0" r="0" t="0" b="0"/>
          <a:stretch/>
        </p:blipFill>
        <p:spPr>
          <a:xfrm>
            <a:off x="4635500" y="3776960"/>
            <a:ext cx="76200" cy="965200"/>
          </a:xfrm>
          <a:prstGeom prst="rect">
            <a:avLst/>
          </a:prstGeom>
        </p:spPr>
      </p:pic>
      <p:sp>
        <p:nvSpPr>
          <p:cNvPr id="44" name="Text 32"/>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45" name="Text 33"/>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Users, RASID services and payment rails all meet on DRUNIX</a:t>
            </a:r>
            <a:endParaRPr lang="en-US" sz="2200" dirty="0"/>
          </a:p>
        </p:txBody>
      </p:sp>
      <p:sp>
        <p:nvSpPr>
          <p:cNvPr id="3" name="Text 1"/>
          <p:cNvSpPr/>
          <p:nvPr/>
        </p:nvSpPr>
        <p:spPr>
          <a:xfrm>
            <a:off x="812800" y="164336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270"/>
                </a:solidFill>
                <a:latin typeface="Arial" pitchFamily="34" charset="0"/>
                <a:ea typeface="Arial" pitchFamily="34" charset="-122"/>
                <a:cs typeface="Arial" pitchFamily="34" charset="-120"/>
              </a:rPr>
              <a:t>Channels</a:t>
            </a:r>
            <a:endParaRPr lang="en-US" sz="1200" dirty="0"/>
          </a:p>
        </p:txBody>
      </p:sp>
      <p:sp>
        <p:nvSpPr>
          <p:cNvPr id="4" name="Text 2"/>
          <p:cNvSpPr/>
          <p:nvPr/>
        </p:nvSpPr>
        <p:spPr>
          <a:xfrm>
            <a:off x="812800" y="258316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270"/>
                </a:solidFill>
                <a:latin typeface="Arial" pitchFamily="34" charset="0"/>
                <a:ea typeface="Arial" pitchFamily="34" charset="-122"/>
                <a:cs typeface="Arial" pitchFamily="34" charset="-120"/>
              </a:rPr>
              <a:t>RASID services</a:t>
            </a:r>
            <a:endParaRPr lang="en-US" sz="1200" dirty="0"/>
          </a:p>
        </p:txBody>
      </p:sp>
      <p:sp>
        <p:nvSpPr>
          <p:cNvPr id="5" name="Text 3"/>
          <p:cNvSpPr/>
          <p:nvPr/>
        </p:nvSpPr>
        <p:spPr>
          <a:xfrm>
            <a:off x="812800" y="4265910"/>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270"/>
                </a:solidFill>
                <a:latin typeface="Arial" pitchFamily="34" charset="0"/>
                <a:ea typeface="Arial" pitchFamily="34" charset="-122"/>
                <a:cs typeface="Arial" pitchFamily="34" charset="-120"/>
              </a:rPr>
              <a:t>DRUNIX network</a:t>
            </a:r>
            <a:endParaRPr lang="en-US" sz="1200" dirty="0"/>
          </a:p>
        </p:txBody>
      </p:sp>
      <p:sp>
        <p:nvSpPr>
          <p:cNvPr id="6" name="Text 4"/>
          <p:cNvSpPr/>
          <p:nvPr/>
        </p:nvSpPr>
        <p:spPr>
          <a:xfrm>
            <a:off x="2289175" y="1405235"/>
            <a:ext cx="1479550" cy="692150"/>
          </a:xfrm>
          <a:prstGeom prst="roundRect">
            <a:avLst>
              <a:gd name="adj" fmla="val 5046"/>
            </a:avLst>
          </a:prstGeom>
          <a:solidFill>
            <a:srgbClr val="FFFFFF"/>
          </a:solidFill>
          <a:ln w="6350">
            <a:solidFill>
              <a:srgbClr val="C9CED6"/>
            </a:solidFill>
            <a:prstDash val="solid"/>
          </a:ln>
        </p:spPr>
        <p:txBody>
          <a:bodyPr wrap="square" lIns="69146" tIns="94546" rIns="69146" bIns="94546" rtlCol="0" anchor="ctr">
            <a:normAutofit/>
          </a:bodyPr>
          <a:lstStyle/>
          <a:p>
            <a:pPr algn="ctr" indent="0" marL="0">
              <a:lnSpc>
                <a:spcPts val="1680"/>
              </a:lnSpc>
              <a:buNone/>
            </a:pPr>
            <a:r>
              <a:rPr lang="en-US" sz="1200" dirty="0">
                <a:solidFill>
                  <a:srgbClr val="1A1D21"/>
                </a:solidFill>
                <a:latin typeface="Arial" pitchFamily="34" charset="0"/>
                <a:ea typeface="Arial" pitchFamily="34" charset="-122"/>
                <a:cs typeface="Arial" pitchFamily="34" charset="-120"/>
              </a:rPr>
              <a:t>MSME app &amp; WhatsApp</a:t>
            </a:r>
            <a:endParaRPr lang="en-US" sz="1200" dirty="0"/>
          </a:p>
        </p:txBody>
      </p:sp>
      <p:sp>
        <p:nvSpPr>
          <p:cNvPr id="7" name="Text 5"/>
          <p:cNvSpPr/>
          <p:nvPr/>
        </p:nvSpPr>
        <p:spPr>
          <a:xfrm>
            <a:off x="3927475" y="1405235"/>
            <a:ext cx="1479550" cy="692150"/>
          </a:xfrm>
          <a:prstGeom prst="roundRect">
            <a:avLst>
              <a:gd name="adj" fmla="val 5046"/>
            </a:avLst>
          </a:prstGeom>
          <a:solidFill>
            <a:srgbClr val="FFFFFF"/>
          </a:solidFill>
          <a:ln w="6350">
            <a:solidFill>
              <a:srgbClr val="C9CED6"/>
            </a:solidFill>
            <a:prstDash val="solid"/>
          </a:ln>
        </p:spPr>
        <p:txBody>
          <a:bodyPr wrap="square" lIns="69146" tIns="94546" rIns="69146" bIns="94546" rtlCol="0" anchor="ctr">
            <a:normAutofit/>
          </a:bodyPr>
          <a:lstStyle/>
          <a:p>
            <a:pPr algn="ctr" indent="0" marL="0">
              <a:lnSpc>
                <a:spcPts val="1680"/>
              </a:lnSpc>
              <a:buNone/>
            </a:pPr>
            <a:r>
              <a:rPr lang="en-US" sz="1200" dirty="0">
                <a:solidFill>
                  <a:srgbClr val="1A1D21"/>
                </a:solidFill>
                <a:latin typeface="Arial" pitchFamily="34" charset="0"/>
                <a:ea typeface="Arial" pitchFamily="34" charset="-122"/>
                <a:cs typeface="Arial" pitchFamily="34" charset="-120"/>
              </a:rPr>
              <a:t>Bank &amp; NBFC portals</a:t>
            </a:r>
            <a:endParaRPr lang="en-US" sz="1200" dirty="0"/>
          </a:p>
        </p:txBody>
      </p:sp>
      <p:sp>
        <p:nvSpPr>
          <p:cNvPr id="8" name="Text 6"/>
          <p:cNvSpPr/>
          <p:nvPr/>
        </p:nvSpPr>
        <p:spPr>
          <a:xfrm>
            <a:off x="5565775" y="1405235"/>
            <a:ext cx="1479550" cy="692150"/>
          </a:xfrm>
          <a:prstGeom prst="roundRect">
            <a:avLst>
              <a:gd name="adj" fmla="val 5046"/>
            </a:avLst>
          </a:prstGeom>
          <a:solidFill>
            <a:srgbClr val="FFFFFF"/>
          </a:solidFill>
          <a:ln w="6350">
            <a:solidFill>
              <a:srgbClr val="C9CED6"/>
            </a:solidFill>
            <a:prstDash val="solid"/>
          </a:ln>
        </p:spPr>
        <p:txBody>
          <a:bodyPr wrap="square" lIns="69146" tIns="94546" rIns="69146" bIns="94546" rtlCol="0" anchor="ctr">
            <a:normAutofit/>
          </a:bodyPr>
          <a:lstStyle/>
          <a:p>
            <a:pPr algn="ctr" indent="0" marL="0">
              <a:lnSpc>
                <a:spcPts val="1680"/>
              </a:lnSpc>
              <a:buNone/>
            </a:pPr>
            <a:r>
              <a:rPr lang="en-US" sz="1200" dirty="0">
                <a:solidFill>
                  <a:srgbClr val="1A1D21"/>
                </a:solidFill>
                <a:latin typeface="Arial" pitchFamily="34" charset="0"/>
                <a:ea typeface="Arial" pitchFamily="34" charset="-122"/>
                <a:cs typeface="Arial" pitchFamily="34" charset="-120"/>
              </a:rPr>
              <a:t>TReDS platforms</a:t>
            </a:r>
            <a:endParaRPr lang="en-US" sz="1200" dirty="0"/>
          </a:p>
        </p:txBody>
      </p:sp>
      <p:sp>
        <p:nvSpPr>
          <p:cNvPr id="9" name="Text 7"/>
          <p:cNvSpPr/>
          <p:nvPr/>
        </p:nvSpPr>
        <p:spPr>
          <a:xfrm>
            <a:off x="7204075" y="1405235"/>
            <a:ext cx="1479550" cy="692150"/>
          </a:xfrm>
          <a:prstGeom prst="roundRect">
            <a:avLst>
              <a:gd name="adj" fmla="val 5046"/>
            </a:avLst>
          </a:prstGeom>
          <a:solidFill>
            <a:srgbClr val="FFFFFF"/>
          </a:solidFill>
          <a:ln w="6350">
            <a:solidFill>
              <a:srgbClr val="C9CED6"/>
            </a:solidFill>
            <a:prstDash val="solid"/>
          </a:ln>
        </p:spPr>
        <p:txBody>
          <a:bodyPr wrap="square" lIns="69146" tIns="94546" rIns="69146" bIns="94546" rtlCol="0" anchor="ctr">
            <a:normAutofit/>
          </a:bodyPr>
          <a:lstStyle/>
          <a:p>
            <a:pPr algn="ctr" indent="0" marL="0">
              <a:lnSpc>
                <a:spcPts val="1680"/>
              </a:lnSpc>
              <a:buNone/>
            </a:pPr>
            <a:r>
              <a:rPr lang="en-US" sz="1200" dirty="0">
                <a:solidFill>
                  <a:srgbClr val="1A1D21"/>
                </a:solidFill>
                <a:latin typeface="Arial" pitchFamily="34" charset="0"/>
                <a:ea typeface="Arial" pitchFamily="34" charset="-122"/>
                <a:cs typeface="Arial" pitchFamily="34" charset="-120"/>
              </a:rPr>
              <a:t>Buyer ERP portal</a:t>
            </a:r>
            <a:endParaRPr lang="en-US" sz="1200" dirty="0"/>
          </a:p>
        </p:txBody>
      </p:sp>
      <p:sp>
        <p:nvSpPr>
          <p:cNvPr id="10" name="Text 8"/>
          <p:cNvSpPr/>
          <p:nvPr/>
        </p:nvSpPr>
        <p:spPr>
          <a:xfrm>
            <a:off x="2289175" y="2452985"/>
            <a:ext cx="1479550" cy="692150"/>
          </a:xfrm>
          <a:prstGeom prst="roundRect">
            <a:avLst>
              <a:gd name="adj" fmla="val 5046"/>
            </a:avLst>
          </a:prstGeom>
          <a:solidFill>
            <a:srgbClr val="EAF0F8"/>
          </a:solidFill>
          <a:ln w="6350">
            <a:solidFill>
              <a:srgbClr val="1F4E9A"/>
            </a:solidFill>
            <a:prstDash val="solid"/>
          </a:ln>
        </p:spPr>
        <p:txBody>
          <a:bodyPr wrap="square" lIns="69146" tIns="94546" rIns="69146" bIns="94546" rtlCol="0" anchor="ctr">
            <a:normAutofit/>
          </a:bodyPr>
          <a:lstStyle/>
          <a:p>
            <a:pPr algn="ctr" indent="0" marL="0">
              <a:lnSpc>
                <a:spcPts val="1680"/>
              </a:lnSpc>
              <a:buNone/>
            </a:pPr>
            <a:r>
              <a:rPr lang="en-US" sz="1200" dirty="0">
                <a:solidFill>
                  <a:srgbClr val="1A1D21"/>
                </a:solidFill>
                <a:latin typeface="Arial" pitchFamily="34" charset="0"/>
                <a:ea typeface="Arial" pitchFamily="34" charset="-122"/>
                <a:cs typeface="Arial" pitchFamily="34" charset="-120"/>
              </a:rPr>
              <a:t>API gateway &amp; SDKs</a:t>
            </a:r>
            <a:endParaRPr lang="en-US" sz="1200" dirty="0"/>
          </a:p>
        </p:txBody>
      </p:sp>
      <p:sp>
        <p:nvSpPr>
          <p:cNvPr id="11" name="Text 9"/>
          <p:cNvSpPr/>
          <p:nvPr/>
        </p:nvSpPr>
        <p:spPr>
          <a:xfrm>
            <a:off x="3927475" y="2452985"/>
            <a:ext cx="1479550" cy="692150"/>
          </a:xfrm>
          <a:prstGeom prst="roundRect">
            <a:avLst>
              <a:gd name="adj" fmla="val 5046"/>
            </a:avLst>
          </a:prstGeom>
          <a:solidFill>
            <a:srgbClr val="EAF0F8"/>
          </a:solidFill>
          <a:ln w="6350">
            <a:solidFill>
              <a:srgbClr val="1F4E9A"/>
            </a:solidFill>
            <a:prstDash val="solid"/>
          </a:ln>
        </p:spPr>
        <p:txBody>
          <a:bodyPr wrap="square" lIns="69146" tIns="94546" rIns="69146" bIns="94546" rtlCol="0" anchor="ctr">
            <a:normAutofit/>
          </a:bodyPr>
          <a:lstStyle/>
          <a:p>
            <a:pPr algn="ctr" indent="0" marL="0">
              <a:lnSpc>
                <a:spcPts val="1680"/>
              </a:lnSpc>
              <a:buNone/>
            </a:pPr>
            <a:r>
              <a:rPr lang="en-US" sz="1200" dirty="0">
                <a:solidFill>
                  <a:srgbClr val="1A1D21"/>
                </a:solidFill>
                <a:latin typeface="Arial" pitchFamily="34" charset="0"/>
                <a:ea typeface="Arial" pitchFamily="34" charset="-122"/>
                <a:cs typeface="Arial" pitchFamily="34" charset="-120"/>
              </a:rPr>
              <a:t>AI risk engine</a:t>
            </a:r>
            <a:endParaRPr lang="en-US" sz="1200" dirty="0"/>
          </a:p>
        </p:txBody>
      </p:sp>
      <p:sp>
        <p:nvSpPr>
          <p:cNvPr id="12" name="Text 10"/>
          <p:cNvSpPr/>
          <p:nvPr/>
        </p:nvSpPr>
        <p:spPr>
          <a:xfrm>
            <a:off x="5565775" y="2452985"/>
            <a:ext cx="1479550" cy="692150"/>
          </a:xfrm>
          <a:prstGeom prst="roundRect">
            <a:avLst>
              <a:gd name="adj" fmla="val 5046"/>
            </a:avLst>
          </a:prstGeom>
          <a:solidFill>
            <a:srgbClr val="EAF0F8"/>
          </a:solidFill>
          <a:ln w="6350">
            <a:solidFill>
              <a:srgbClr val="1F4E9A"/>
            </a:solidFill>
            <a:prstDash val="solid"/>
          </a:ln>
        </p:spPr>
        <p:txBody>
          <a:bodyPr wrap="square" lIns="69146" tIns="94546" rIns="69146" bIns="94546" rtlCol="0" anchor="ctr">
            <a:normAutofit/>
          </a:bodyPr>
          <a:lstStyle/>
          <a:p>
            <a:pPr algn="ctr" indent="0" marL="0">
              <a:lnSpc>
                <a:spcPts val="1680"/>
              </a:lnSpc>
              <a:buNone/>
            </a:pPr>
            <a:r>
              <a:rPr lang="en-US" sz="1200" dirty="0">
                <a:solidFill>
                  <a:srgbClr val="1A1D21"/>
                </a:solidFill>
                <a:latin typeface="Arial" pitchFamily="34" charset="0"/>
                <a:ea typeface="Arial" pitchFamily="34" charset="-122"/>
                <a:cs typeface="Arial" pitchFamily="34" charset="-120"/>
              </a:rPr>
              <a:t>Settlement adapters</a:t>
            </a:r>
            <a:endParaRPr lang="en-US" sz="1200" dirty="0"/>
          </a:p>
        </p:txBody>
      </p:sp>
      <p:sp>
        <p:nvSpPr>
          <p:cNvPr id="13" name="Text 11"/>
          <p:cNvSpPr/>
          <p:nvPr/>
        </p:nvSpPr>
        <p:spPr>
          <a:xfrm>
            <a:off x="7204075" y="2452985"/>
            <a:ext cx="1479550" cy="692150"/>
          </a:xfrm>
          <a:prstGeom prst="roundRect">
            <a:avLst>
              <a:gd name="adj" fmla="val 5046"/>
            </a:avLst>
          </a:prstGeom>
          <a:solidFill>
            <a:srgbClr val="EAF0F8"/>
          </a:solidFill>
          <a:ln w="6350">
            <a:solidFill>
              <a:srgbClr val="1F4E9A"/>
            </a:solidFill>
            <a:prstDash val="solid"/>
          </a:ln>
        </p:spPr>
        <p:txBody>
          <a:bodyPr wrap="square" lIns="69146" tIns="94546" rIns="69146" bIns="94546" rtlCol="0" anchor="ctr">
            <a:normAutofit/>
          </a:bodyPr>
          <a:lstStyle/>
          <a:p>
            <a:pPr algn="ctr" indent="0" marL="0">
              <a:lnSpc>
                <a:spcPts val="1680"/>
              </a:lnSpc>
              <a:buNone/>
            </a:pPr>
            <a:r>
              <a:rPr lang="en-US" sz="1200" dirty="0">
                <a:solidFill>
                  <a:srgbClr val="1A1D21"/>
                </a:solidFill>
                <a:latin typeface="Arial" pitchFamily="34" charset="0"/>
                <a:ea typeface="Arial" pitchFamily="34" charset="-122"/>
                <a:cs typeface="Arial" pitchFamily="34" charset="-120"/>
              </a:rPr>
              <a:t>Vernacular assistant</a:t>
            </a:r>
            <a:endParaRPr lang="en-US" sz="1200" dirty="0"/>
          </a:p>
        </p:txBody>
      </p:sp>
      <p:sp>
        <p:nvSpPr>
          <p:cNvPr id="14" name="Shape 12"/>
          <p:cNvSpPr/>
          <p:nvPr/>
        </p:nvSpPr>
        <p:spPr>
          <a:xfrm>
            <a:off x="2286000" y="3497560"/>
            <a:ext cx="6400800" cy="1968500"/>
          </a:xfrm>
          <a:prstGeom prst="roundRect">
            <a:avLst>
              <a:gd name="adj" fmla="val 2581"/>
            </a:avLst>
          </a:prstGeom>
          <a:solidFill>
            <a:srgbClr val="1F4E9A"/>
          </a:solidFill>
          <a:ln/>
        </p:spPr>
      </p:sp>
      <p:sp>
        <p:nvSpPr>
          <p:cNvPr id="15" name="Text 13"/>
          <p:cNvSpPr/>
          <p:nvPr/>
        </p:nvSpPr>
        <p:spPr>
          <a:xfrm>
            <a:off x="2438400" y="3649960"/>
            <a:ext cx="627888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8"/>
                </a:solidFill>
                <a:latin typeface="Arial" pitchFamily="34" charset="0"/>
                <a:ea typeface="Arial" pitchFamily="34" charset="-122"/>
                <a:cs typeface="Arial" pitchFamily="34" charset="-120"/>
              </a:rPr>
              <a:t>DRUNIX network, operated with NPCI</a:t>
            </a:r>
            <a:endParaRPr lang="en-US" sz="1600" dirty="0"/>
          </a:p>
        </p:txBody>
      </p:sp>
      <p:sp>
        <p:nvSpPr>
          <p:cNvPr id="16" name="Text 14"/>
          <p:cNvSpPr/>
          <p:nvPr/>
        </p:nvSpPr>
        <p:spPr>
          <a:xfrm>
            <a:off x="2438400" y="3995390"/>
            <a:ext cx="1447800" cy="579041"/>
          </a:xfrm>
          <a:prstGeom prst="roundRect">
            <a:avLst>
              <a:gd name="adj" fmla="val 4387"/>
            </a:avLst>
          </a:prstGeom>
          <a:solidFill>
            <a:srgbClr val="FAFAF8"/>
          </a:solidFill>
          <a:ln/>
        </p:spPr>
        <p:txBody>
          <a:bodyPr wrap="square" lIns="94161" tIns="68761" rIns="43361" bIns="43361" rtlCol="0" anchor="t">
            <a:normAutofit/>
          </a:bodyPr>
          <a:lstStyle/>
          <a:p>
            <a:pPr algn="l" indent="0" marL="0">
              <a:lnSpc>
                <a:spcPts val="1680"/>
              </a:lnSpc>
              <a:buNone/>
            </a:pPr>
            <a:r>
              <a:rPr lang="en-US" sz="1200" b="1" dirty="0">
                <a:solidFill>
                  <a:srgbClr val="1F4E9A"/>
                </a:solidFill>
                <a:latin typeface="Arial" pitchFamily="34" charset="0"/>
                <a:ea typeface="Arial" pitchFamily="34" charset="-122"/>
                <a:cs typeface="Arial" pitchFamily="34" charset="-120"/>
              </a:rPr>
              <a:t>RASID chaincode (Go)</a:t>
            </a:r>
            <a:endParaRPr lang="en-US" sz="1200" dirty="0"/>
          </a:p>
        </p:txBody>
      </p:sp>
      <p:sp>
        <p:nvSpPr>
          <p:cNvPr id="17" name="Text 15"/>
          <p:cNvSpPr/>
          <p:nvPr/>
        </p:nvSpPr>
        <p:spPr>
          <a:xfrm>
            <a:off x="3987800" y="3995390"/>
            <a:ext cx="1447800" cy="579041"/>
          </a:xfrm>
          <a:prstGeom prst="roundRect">
            <a:avLst>
              <a:gd name="adj" fmla="val 4387"/>
            </a:avLst>
          </a:prstGeom>
          <a:solidFill>
            <a:srgbClr val="2D5FAF"/>
          </a:solidFill>
          <a:ln/>
        </p:spPr>
        <p:txBody>
          <a:bodyPr wrap="square" lIns="94161" tIns="68761" rIns="43361" bIns="68761" rtlCol="0" anchor="t">
            <a:normAutofit/>
          </a:bodyPr>
          <a:lstStyle/>
          <a:p>
            <a:pPr algn="l" indent="0" marL="0">
              <a:lnSpc>
                <a:spcPts val="1680"/>
              </a:lnSpc>
              <a:buNone/>
            </a:pPr>
            <a:r>
              <a:rPr lang="en-US" sz="1200" dirty="0">
                <a:solidFill>
                  <a:srgbClr val="FAFAF8"/>
                </a:solidFill>
                <a:latin typeface="Arial" pitchFamily="34" charset="0"/>
                <a:ea typeface="Arial" pitchFamily="34" charset="-122"/>
                <a:cs typeface="Arial" pitchFamily="34" charset="-120"/>
              </a:rPr>
              <a:t>Lite peers</a:t>
            </a:r>
            <a:endParaRPr lang="en-US" sz="1200" dirty="0"/>
          </a:p>
        </p:txBody>
      </p:sp>
      <p:sp>
        <p:nvSpPr>
          <p:cNvPr id="18" name="Text 16"/>
          <p:cNvSpPr/>
          <p:nvPr/>
        </p:nvSpPr>
        <p:spPr>
          <a:xfrm>
            <a:off x="5537200" y="3995390"/>
            <a:ext cx="1447800" cy="579041"/>
          </a:xfrm>
          <a:prstGeom prst="roundRect">
            <a:avLst>
              <a:gd name="adj" fmla="val 4387"/>
            </a:avLst>
          </a:prstGeom>
          <a:solidFill>
            <a:srgbClr val="2D5FAF"/>
          </a:solidFill>
          <a:ln/>
        </p:spPr>
        <p:txBody>
          <a:bodyPr wrap="square" lIns="94161" tIns="68761" rIns="43361" bIns="43361" rtlCol="0" anchor="t">
            <a:normAutofit/>
          </a:bodyPr>
          <a:lstStyle/>
          <a:p>
            <a:pPr algn="l" indent="0" marL="0">
              <a:lnSpc>
                <a:spcPts val="1680"/>
              </a:lnSpc>
              <a:buNone/>
            </a:pPr>
            <a:r>
              <a:rPr lang="en-US" sz="1200" dirty="0">
                <a:solidFill>
                  <a:srgbClr val="FAFAF8"/>
                </a:solidFill>
                <a:latin typeface="Arial" pitchFamily="34" charset="0"/>
                <a:ea typeface="Arial" pitchFamily="34" charset="-122"/>
                <a:cs typeface="Arial" pitchFamily="34" charset="-120"/>
              </a:rPr>
              <a:t>Stateless validation</a:t>
            </a:r>
            <a:endParaRPr lang="en-US" sz="1200" dirty="0"/>
          </a:p>
        </p:txBody>
      </p:sp>
      <p:sp>
        <p:nvSpPr>
          <p:cNvPr id="19" name="Text 17"/>
          <p:cNvSpPr/>
          <p:nvPr/>
        </p:nvSpPr>
        <p:spPr>
          <a:xfrm>
            <a:off x="7086600" y="3995390"/>
            <a:ext cx="1447800" cy="579041"/>
          </a:xfrm>
          <a:prstGeom prst="roundRect">
            <a:avLst>
              <a:gd name="adj" fmla="val 4387"/>
            </a:avLst>
          </a:prstGeom>
          <a:solidFill>
            <a:srgbClr val="2D5FAF"/>
          </a:solidFill>
          <a:ln/>
        </p:spPr>
        <p:txBody>
          <a:bodyPr wrap="square" lIns="94161" tIns="68761" rIns="43361" bIns="68761" rtlCol="0" anchor="t">
            <a:normAutofit/>
          </a:bodyPr>
          <a:lstStyle/>
          <a:p>
            <a:pPr algn="l" indent="0" marL="0">
              <a:lnSpc>
                <a:spcPts val="1680"/>
              </a:lnSpc>
              <a:buNone/>
            </a:pPr>
            <a:r>
              <a:rPr lang="en-US" sz="1200" dirty="0">
                <a:solidFill>
                  <a:srgbClr val="FAFAF8"/>
                </a:solidFill>
                <a:latin typeface="Arial" pitchFamily="34" charset="0"/>
                <a:ea typeface="Arial" pitchFamily="34" charset="-122"/>
                <a:cs typeface="Arial" pitchFamily="34" charset="-120"/>
              </a:rPr>
              <a:t>Committing peers</a:t>
            </a:r>
            <a:endParaRPr lang="en-US" sz="1200" dirty="0"/>
          </a:p>
        </p:txBody>
      </p:sp>
      <p:sp>
        <p:nvSpPr>
          <p:cNvPr id="20" name="Text 18"/>
          <p:cNvSpPr/>
          <p:nvPr/>
        </p:nvSpPr>
        <p:spPr>
          <a:xfrm>
            <a:off x="2438400" y="4676031"/>
            <a:ext cx="1447800" cy="579041"/>
          </a:xfrm>
          <a:prstGeom prst="roundRect">
            <a:avLst>
              <a:gd name="adj" fmla="val 4387"/>
            </a:avLst>
          </a:prstGeom>
          <a:solidFill>
            <a:srgbClr val="2D5FAF"/>
          </a:solidFill>
          <a:ln/>
        </p:spPr>
        <p:txBody>
          <a:bodyPr wrap="square" lIns="94161" tIns="68761" rIns="43361" bIns="43361" rtlCol="0" anchor="t">
            <a:normAutofit/>
          </a:bodyPr>
          <a:lstStyle/>
          <a:p>
            <a:pPr algn="l" indent="0" marL="0">
              <a:lnSpc>
                <a:spcPts val="1680"/>
              </a:lnSpc>
              <a:buNone/>
            </a:pPr>
            <a:r>
              <a:rPr lang="en-US" sz="1200" dirty="0">
                <a:solidFill>
                  <a:srgbClr val="FAFAF8"/>
                </a:solidFill>
                <a:latin typeface="Arial" pitchFamily="34" charset="0"/>
                <a:ea typeface="Arial" pitchFamily="34" charset="-122"/>
                <a:cs typeface="Arial" pitchFamily="34" charset="-120"/>
              </a:rPr>
              <a:t>Raft ordering (NPCI)</a:t>
            </a:r>
            <a:endParaRPr lang="en-US" sz="1200" dirty="0"/>
          </a:p>
        </p:txBody>
      </p:sp>
      <p:sp>
        <p:nvSpPr>
          <p:cNvPr id="21" name="Text 19"/>
          <p:cNvSpPr/>
          <p:nvPr/>
        </p:nvSpPr>
        <p:spPr>
          <a:xfrm>
            <a:off x="3987800" y="4676031"/>
            <a:ext cx="1447800" cy="579041"/>
          </a:xfrm>
          <a:prstGeom prst="roundRect">
            <a:avLst>
              <a:gd name="adj" fmla="val 4387"/>
            </a:avLst>
          </a:prstGeom>
          <a:solidFill>
            <a:srgbClr val="2D5FAF"/>
          </a:solidFill>
          <a:ln/>
        </p:spPr>
        <p:txBody>
          <a:bodyPr wrap="square" lIns="94161" tIns="68761" rIns="43361" bIns="68761" rtlCol="0" anchor="t">
            <a:normAutofit/>
          </a:bodyPr>
          <a:lstStyle/>
          <a:p>
            <a:pPr algn="l" indent="0" marL="0">
              <a:lnSpc>
                <a:spcPts val="1680"/>
              </a:lnSpc>
              <a:buNone/>
            </a:pPr>
            <a:r>
              <a:rPr lang="en-US" sz="1200" dirty="0">
                <a:solidFill>
                  <a:srgbClr val="FAFAF8"/>
                </a:solidFill>
                <a:latin typeface="Arial" pitchFamily="34" charset="0"/>
                <a:ea typeface="Arial" pitchFamily="34" charset="-122"/>
                <a:cs typeface="Arial" pitchFamily="34" charset="-120"/>
              </a:rPr>
              <a:t>YugabyteDB state</a:t>
            </a:r>
            <a:endParaRPr lang="en-US" sz="1200" dirty="0"/>
          </a:p>
        </p:txBody>
      </p:sp>
      <p:sp>
        <p:nvSpPr>
          <p:cNvPr id="22" name="Text 20"/>
          <p:cNvSpPr/>
          <p:nvPr/>
        </p:nvSpPr>
        <p:spPr>
          <a:xfrm>
            <a:off x="5537200" y="4676031"/>
            <a:ext cx="1447800" cy="579041"/>
          </a:xfrm>
          <a:prstGeom prst="roundRect">
            <a:avLst>
              <a:gd name="adj" fmla="val 4387"/>
            </a:avLst>
          </a:prstGeom>
          <a:solidFill>
            <a:srgbClr val="2D5FAF"/>
          </a:solidFill>
          <a:ln/>
        </p:spPr>
        <p:txBody>
          <a:bodyPr wrap="square" lIns="94161" tIns="68761" rIns="43361" bIns="43361" rtlCol="0" anchor="t">
            <a:normAutofit/>
          </a:bodyPr>
          <a:lstStyle/>
          <a:p>
            <a:pPr algn="l" indent="0" marL="0">
              <a:lnSpc>
                <a:spcPts val="1680"/>
              </a:lnSpc>
              <a:buNone/>
            </a:pPr>
            <a:r>
              <a:rPr lang="en-US" sz="1200" dirty="0">
                <a:solidFill>
                  <a:srgbClr val="FAFAF8"/>
                </a:solidFill>
                <a:latin typeface="Arial" pitchFamily="34" charset="0"/>
                <a:ea typeface="Arial" pitchFamily="34" charset="-122"/>
                <a:cs typeface="Arial" pitchFamily="34" charset="-120"/>
              </a:rPr>
              <a:t>KeyDB private data</a:t>
            </a:r>
            <a:endParaRPr lang="en-US" sz="1200" dirty="0"/>
          </a:p>
        </p:txBody>
      </p:sp>
      <p:sp>
        <p:nvSpPr>
          <p:cNvPr id="23" name="Text 21"/>
          <p:cNvSpPr/>
          <p:nvPr/>
        </p:nvSpPr>
        <p:spPr>
          <a:xfrm>
            <a:off x="7086600" y="4676031"/>
            <a:ext cx="1447800" cy="579041"/>
          </a:xfrm>
          <a:prstGeom prst="roundRect">
            <a:avLst>
              <a:gd name="adj" fmla="val 4387"/>
            </a:avLst>
          </a:prstGeom>
          <a:solidFill>
            <a:srgbClr val="2D5FAF"/>
          </a:solidFill>
          <a:ln/>
        </p:spPr>
        <p:txBody>
          <a:bodyPr wrap="square" lIns="94161" tIns="68761" rIns="43361" bIns="43361" rtlCol="0" anchor="t">
            <a:normAutofit/>
          </a:bodyPr>
          <a:lstStyle/>
          <a:p>
            <a:pPr algn="l" indent="0" marL="0">
              <a:lnSpc>
                <a:spcPts val="1680"/>
              </a:lnSpc>
              <a:buNone/>
            </a:pPr>
            <a:r>
              <a:rPr lang="en-US" sz="1200" dirty="0">
                <a:solidFill>
                  <a:srgbClr val="FAFAF8"/>
                </a:solidFill>
                <a:latin typeface="Arial" pitchFamily="34" charset="0"/>
                <a:ea typeface="Arial" pitchFamily="34" charset="-122"/>
                <a:cs typeface="Arial" pitchFamily="34" charset="-120"/>
              </a:rPr>
              <a:t>Falcon on Kubernetes</a:t>
            </a:r>
            <a:endParaRPr lang="en-US" sz="1200" dirty="0"/>
          </a:p>
        </p:txBody>
      </p:sp>
      <p:sp>
        <p:nvSpPr>
          <p:cNvPr id="24" name="Shape 22"/>
          <p:cNvSpPr/>
          <p:nvPr/>
        </p:nvSpPr>
        <p:spPr>
          <a:xfrm>
            <a:off x="9096375" y="2452985"/>
            <a:ext cx="2279650" cy="3009900"/>
          </a:xfrm>
          <a:prstGeom prst="roundRect">
            <a:avLst>
              <a:gd name="adj" fmla="val 1532"/>
            </a:avLst>
          </a:prstGeom>
          <a:solidFill>
            <a:srgbClr val="FFFFFF"/>
          </a:solidFill>
          <a:ln w="6350">
            <a:solidFill>
              <a:srgbClr val="C9CED6"/>
            </a:solidFill>
            <a:prstDash val="solid"/>
          </a:ln>
        </p:spPr>
      </p:sp>
      <p:sp>
        <p:nvSpPr>
          <p:cNvPr id="25" name="Text 23"/>
          <p:cNvSpPr/>
          <p:nvPr/>
        </p:nvSpPr>
        <p:spPr>
          <a:xfrm>
            <a:off x="9251950" y="2608560"/>
            <a:ext cx="202755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External rails</a:t>
            </a:r>
            <a:endParaRPr lang="en-US" sz="1600" dirty="0"/>
          </a:p>
        </p:txBody>
      </p:sp>
      <p:sp>
        <p:nvSpPr>
          <p:cNvPr id="26" name="Text 24"/>
          <p:cNvSpPr/>
          <p:nvPr/>
        </p:nvSpPr>
        <p:spPr>
          <a:xfrm>
            <a:off x="9251950" y="3004790"/>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GST IRP e-invoices</a:t>
            </a:r>
            <a:endParaRPr lang="en-US" sz="1200" dirty="0"/>
          </a:p>
        </p:txBody>
      </p:sp>
      <p:sp>
        <p:nvSpPr>
          <p:cNvPr id="27" name="Text 25"/>
          <p:cNvSpPr/>
          <p:nvPr/>
        </p:nvSpPr>
        <p:spPr>
          <a:xfrm>
            <a:off x="9251950" y="337051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UPI · IMPS · e-NACH</a:t>
            </a:r>
            <a:endParaRPr lang="en-US" sz="1200" dirty="0"/>
          </a:p>
        </p:txBody>
      </p:sp>
      <p:sp>
        <p:nvSpPr>
          <p:cNvPr id="28" name="Text 26"/>
          <p:cNvSpPr/>
          <p:nvPr/>
        </p:nvSpPr>
        <p:spPr>
          <a:xfrm>
            <a:off x="9251950" y="373623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NEFT · RTGS</a:t>
            </a:r>
            <a:endParaRPr lang="en-US" sz="1200" dirty="0"/>
          </a:p>
        </p:txBody>
      </p:sp>
      <p:sp>
        <p:nvSpPr>
          <p:cNvPr id="29" name="Text 27"/>
          <p:cNvSpPr/>
          <p:nvPr/>
        </p:nvSpPr>
        <p:spPr>
          <a:xfrm>
            <a:off x="9251950" y="4101951"/>
            <a:ext cx="20275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Account Aggregator</a:t>
            </a:r>
            <a:endParaRPr lang="en-US" sz="1200" dirty="0"/>
          </a:p>
        </p:txBody>
      </p:sp>
      <p:pic>
        <p:nvPicPr>
          <p:cNvPr id="30" name="Image 0" descr="connector">    </p:cNvPr>
          <p:cNvPicPr>
            <a:picLocks noChangeAspect="1"/>
          </p:cNvPicPr>
          <p:nvPr/>
        </p:nvPicPr>
        <p:blipFill>
          <a:blip r:embed="rId1"/>
          <a:srcRect l="0" r="0" t="0" b="0"/>
          <a:stretch/>
        </p:blipFill>
        <p:spPr>
          <a:xfrm>
            <a:off x="2990850" y="2062460"/>
            <a:ext cx="76200" cy="425450"/>
          </a:xfrm>
          <a:prstGeom prst="rect">
            <a:avLst/>
          </a:prstGeom>
        </p:spPr>
      </p:pic>
      <p:pic>
        <p:nvPicPr>
          <p:cNvPr id="31" name="Image 1" descr="connector">    </p:cNvPr>
          <p:cNvPicPr>
            <a:picLocks noChangeAspect="1"/>
          </p:cNvPicPr>
          <p:nvPr/>
        </p:nvPicPr>
        <p:blipFill>
          <a:blip r:embed="rId2"/>
          <a:srcRect l="0" r="0" t="0" b="0"/>
          <a:stretch/>
        </p:blipFill>
        <p:spPr>
          <a:xfrm>
            <a:off x="4629150" y="2062460"/>
            <a:ext cx="76200" cy="425450"/>
          </a:xfrm>
          <a:prstGeom prst="rect">
            <a:avLst/>
          </a:prstGeom>
        </p:spPr>
      </p:pic>
      <p:pic>
        <p:nvPicPr>
          <p:cNvPr id="32" name="Image 2" descr="connector">    </p:cNvPr>
          <p:cNvPicPr>
            <a:picLocks noChangeAspect="1"/>
          </p:cNvPicPr>
          <p:nvPr/>
        </p:nvPicPr>
        <p:blipFill>
          <a:blip r:embed="rId3"/>
          <a:srcRect l="0" r="0" t="0" b="0"/>
          <a:stretch/>
        </p:blipFill>
        <p:spPr>
          <a:xfrm>
            <a:off x="6267450" y="2062460"/>
            <a:ext cx="76200" cy="425450"/>
          </a:xfrm>
          <a:prstGeom prst="rect">
            <a:avLst/>
          </a:prstGeom>
        </p:spPr>
      </p:pic>
      <p:pic>
        <p:nvPicPr>
          <p:cNvPr id="33" name="Image 3" descr="connector">    </p:cNvPr>
          <p:cNvPicPr>
            <a:picLocks noChangeAspect="1"/>
          </p:cNvPicPr>
          <p:nvPr/>
        </p:nvPicPr>
        <p:blipFill>
          <a:blip r:embed="rId4"/>
          <a:srcRect l="0" r="0" t="0" b="0"/>
          <a:stretch/>
        </p:blipFill>
        <p:spPr>
          <a:xfrm>
            <a:off x="7905750" y="2062460"/>
            <a:ext cx="76200" cy="425450"/>
          </a:xfrm>
          <a:prstGeom prst="rect">
            <a:avLst/>
          </a:prstGeom>
        </p:spPr>
      </p:pic>
      <p:pic>
        <p:nvPicPr>
          <p:cNvPr id="34" name="Image 4" descr="connector">    </p:cNvPr>
          <p:cNvPicPr>
            <a:picLocks noChangeAspect="1"/>
          </p:cNvPicPr>
          <p:nvPr/>
        </p:nvPicPr>
        <p:blipFill>
          <a:blip r:embed="rId5"/>
          <a:srcRect l="0" r="0" t="0" b="0"/>
          <a:stretch/>
        </p:blipFill>
        <p:spPr>
          <a:xfrm>
            <a:off x="2990850" y="3110210"/>
            <a:ext cx="76200" cy="425450"/>
          </a:xfrm>
          <a:prstGeom prst="rect">
            <a:avLst/>
          </a:prstGeom>
        </p:spPr>
      </p:pic>
      <p:pic>
        <p:nvPicPr>
          <p:cNvPr id="35" name="Image 5" descr="connector">    </p:cNvPr>
          <p:cNvPicPr>
            <a:picLocks noChangeAspect="1"/>
          </p:cNvPicPr>
          <p:nvPr/>
        </p:nvPicPr>
        <p:blipFill>
          <a:blip r:embed="rId6"/>
          <a:srcRect l="0" r="0" t="0" b="0"/>
          <a:stretch/>
        </p:blipFill>
        <p:spPr>
          <a:xfrm>
            <a:off x="4629150" y="3110210"/>
            <a:ext cx="76200" cy="425450"/>
          </a:xfrm>
          <a:prstGeom prst="rect">
            <a:avLst/>
          </a:prstGeom>
        </p:spPr>
      </p:pic>
      <p:pic>
        <p:nvPicPr>
          <p:cNvPr id="36" name="Image 6" descr="connector">    </p:cNvPr>
          <p:cNvPicPr>
            <a:picLocks noChangeAspect="1"/>
          </p:cNvPicPr>
          <p:nvPr/>
        </p:nvPicPr>
        <p:blipFill>
          <a:blip r:embed="rId7"/>
          <a:srcRect l="0" r="0" t="0" b="0"/>
          <a:stretch/>
        </p:blipFill>
        <p:spPr>
          <a:xfrm>
            <a:off x="6267450" y="3110210"/>
            <a:ext cx="76200" cy="425450"/>
          </a:xfrm>
          <a:prstGeom prst="rect">
            <a:avLst/>
          </a:prstGeom>
        </p:spPr>
      </p:pic>
      <p:pic>
        <p:nvPicPr>
          <p:cNvPr id="37" name="Image 7" descr="connector">    </p:cNvPr>
          <p:cNvPicPr>
            <a:picLocks noChangeAspect="1"/>
          </p:cNvPicPr>
          <p:nvPr/>
        </p:nvPicPr>
        <p:blipFill>
          <a:blip r:embed="rId8"/>
          <a:srcRect l="0" r="0" t="0" b="0"/>
          <a:stretch/>
        </p:blipFill>
        <p:spPr>
          <a:xfrm>
            <a:off x="7905750" y="3110210"/>
            <a:ext cx="76200" cy="425450"/>
          </a:xfrm>
          <a:prstGeom prst="rect">
            <a:avLst/>
          </a:prstGeom>
        </p:spPr>
      </p:pic>
      <p:pic>
        <p:nvPicPr>
          <p:cNvPr id="38" name="Image 8" descr="connector">    </p:cNvPr>
          <p:cNvPicPr>
            <a:picLocks noChangeAspect="1"/>
          </p:cNvPicPr>
          <p:nvPr/>
        </p:nvPicPr>
        <p:blipFill>
          <a:blip r:embed="rId9"/>
          <a:srcRect l="0" r="0" t="0" b="0"/>
          <a:stretch/>
        </p:blipFill>
        <p:spPr>
          <a:xfrm>
            <a:off x="8648700" y="2760960"/>
            <a:ext cx="482600" cy="76200"/>
          </a:xfrm>
          <a:prstGeom prst="rect">
            <a:avLst/>
          </a:prstGeom>
        </p:spPr>
      </p:pic>
      <p:pic>
        <p:nvPicPr>
          <p:cNvPr id="39" name="Image 9" descr="connector">    </p:cNvPr>
          <p:cNvPicPr>
            <a:picLocks noChangeAspect="1"/>
          </p:cNvPicPr>
          <p:nvPr/>
        </p:nvPicPr>
        <p:blipFill>
          <a:blip r:embed="rId10"/>
          <a:srcRect l="0" r="0" t="0" b="0"/>
          <a:stretch/>
        </p:blipFill>
        <p:spPr>
          <a:xfrm>
            <a:off x="8648700" y="4443710"/>
            <a:ext cx="482600" cy="76200"/>
          </a:xfrm>
          <a:prstGeom prst="rect">
            <a:avLst/>
          </a:prstGeom>
        </p:spPr>
      </p:pic>
      <p:sp>
        <p:nvSpPr>
          <p:cNvPr id="40" name="Text 28"/>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41" name="Text 29"/>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Every lender runs its own peers; NPCI orders and co-endorses</a:t>
            </a:r>
            <a:endParaRPr lang="en-US" sz="2200" dirty="0"/>
          </a:p>
        </p:txBody>
      </p:sp>
      <p:sp>
        <p:nvSpPr>
          <p:cNvPr id="3" name="Shape 1"/>
          <p:cNvSpPr/>
          <p:nvPr/>
        </p:nvSpPr>
        <p:spPr>
          <a:xfrm>
            <a:off x="819150" y="1408410"/>
            <a:ext cx="2527300" cy="939800"/>
          </a:xfrm>
          <a:prstGeom prst="roundRect">
            <a:avLst>
              <a:gd name="adj" fmla="val 3378"/>
            </a:avLst>
          </a:prstGeom>
          <a:solidFill>
            <a:srgbClr val="FFFFFF"/>
          </a:solidFill>
          <a:ln w="12700">
            <a:solidFill>
              <a:srgbClr val="1A1D21"/>
            </a:solidFill>
            <a:prstDash val="solid"/>
          </a:ln>
        </p:spPr>
      </p:sp>
      <p:sp>
        <p:nvSpPr>
          <p:cNvPr id="4" name="Text 2"/>
          <p:cNvSpPr/>
          <p:nvPr/>
        </p:nvSpPr>
        <p:spPr>
          <a:xfrm>
            <a:off x="952500" y="1503660"/>
            <a:ext cx="23284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Anchor bank</a:t>
            </a:r>
            <a:endParaRPr lang="en-US" sz="1600" dirty="0"/>
          </a:p>
        </p:txBody>
      </p:sp>
      <p:sp>
        <p:nvSpPr>
          <p:cNvPr id="5" name="Text 3"/>
          <p:cNvSpPr/>
          <p:nvPr/>
        </p:nvSpPr>
        <p:spPr>
          <a:xfrm>
            <a:off x="952500" y="1760190"/>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Buys pools of receivables</a:t>
            </a:r>
            <a:endParaRPr lang="en-US" sz="1200" dirty="0"/>
          </a:p>
        </p:txBody>
      </p:sp>
      <p:sp>
        <p:nvSpPr>
          <p:cNvPr id="6" name="Text 4"/>
          <p:cNvSpPr/>
          <p:nvPr/>
        </p:nvSpPr>
        <p:spPr>
          <a:xfrm>
            <a:off x="952500" y="1986211"/>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lite peers + committer</a:t>
            </a:r>
            <a:endParaRPr lang="en-US" sz="1200" dirty="0"/>
          </a:p>
        </p:txBody>
      </p:sp>
      <p:sp>
        <p:nvSpPr>
          <p:cNvPr id="7" name="Shape 5"/>
          <p:cNvSpPr/>
          <p:nvPr/>
        </p:nvSpPr>
        <p:spPr>
          <a:xfrm>
            <a:off x="8845550" y="1408410"/>
            <a:ext cx="2527300" cy="939800"/>
          </a:xfrm>
          <a:prstGeom prst="roundRect">
            <a:avLst>
              <a:gd name="adj" fmla="val 3378"/>
            </a:avLst>
          </a:prstGeom>
          <a:solidFill>
            <a:srgbClr val="FFFFFF"/>
          </a:solidFill>
          <a:ln w="12700">
            <a:solidFill>
              <a:srgbClr val="1A1D21"/>
            </a:solidFill>
            <a:prstDash val="solid"/>
          </a:ln>
        </p:spPr>
      </p:sp>
      <p:sp>
        <p:nvSpPr>
          <p:cNvPr id="8" name="Text 6"/>
          <p:cNvSpPr/>
          <p:nvPr/>
        </p:nvSpPr>
        <p:spPr>
          <a:xfrm>
            <a:off x="8978900" y="1503660"/>
            <a:ext cx="23284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Partner bank</a:t>
            </a:r>
            <a:endParaRPr lang="en-US" sz="1600" dirty="0"/>
          </a:p>
        </p:txBody>
      </p:sp>
      <p:sp>
        <p:nvSpPr>
          <p:cNvPr id="9" name="Text 7"/>
          <p:cNvSpPr/>
          <p:nvPr/>
        </p:nvSpPr>
        <p:spPr>
          <a:xfrm>
            <a:off x="8978900" y="1760190"/>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Co-lends on large invoices</a:t>
            </a:r>
            <a:endParaRPr lang="en-US" sz="1200" dirty="0"/>
          </a:p>
        </p:txBody>
      </p:sp>
      <p:sp>
        <p:nvSpPr>
          <p:cNvPr id="10" name="Text 8"/>
          <p:cNvSpPr/>
          <p:nvPr/>
        </p:nvSpPr>
        <p:spPr>
          <a:xfrm>
            <a:off x="8978900" y="1986211"/>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lite peers + committer</a:t>
            </a:r>
            <a:endParaRPr lang="en-US" sz="1200" dirty="0"/>
          </a:p>
        </p:txBody>
      </p:sp>
      <p:sp>
        <p:nvSpPr>
          <p:cNvPr id="11" name="Shape 9"/>
          <p:cNvSpPr/>
          <p:nvPr/>
        </p:nvSpPr>
        <p:spPr>
          <a:xfrm>
            <a:off x="819150" y="4519910"/>
            <a:ext cx="2527300" cy="939800"/>
          </a:xfrm>
          <a:prstGeom prst="roundRect">
            <a:avLst>
              <a:gd name="adj" fmla="val 3378"/>
            </a:avLst>
          </a:prstGeom>
          <a:solidFill>
            <a:srgbClr val="FFFFFF"/>
          </a:solidFill>
          <a:ln w="12700">
            <a:solidFill>
              <a:srgbClr val="1A1D21"/>
            </a:solidFill>
            <a:prstDash val="solid"/>
          </a:ln>
        </p:spPr>
      </p:sp>
      <p:sp>
        <p:nvSpPr>
          <p:cNvPr id="12" name="Text 10"/>
          <p:cNvSpPr/>
          <p:nvPr/>
        </p:nvSpPr>
        <p:spPr>
          <a:xfrm>
            <a:off x="952500" y="4615160"/>
            <a:ext cx="23284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NBFC</a:t>
            </a:r>
            <a:endParaRPr lang="en-US" sz="1600" dirty="0"/>
          </a:p>
        </p:txBody>
      </p:sp>
      <p:sp>
        <p:nvSpPr>
          <p:cNvPr id="13" name="Text 11"/>
          <p:cNvSpPr/>
          <p:nvPr/>
        </p:nvSpPr>
        <p:spPr>
          <a:xfrm>
            <a:off x="952500" y="4871690"/>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Originates MSME invoices</a:t>
            </a:r>
            <a:endParaRPr lang="en-US" sz="1200" dirty="0"/>
          </a:p>
        </p:txBody>
      </p:sp>
      <p:sp>
        <p:nvSpPr>
          <p:cNvPr id="14" name="Text 12"/>
          <p:cNvSpPr/>
          <p:nvPr/>
        </p:nvSpPr>
        <p:spPr>
          <a:xfrm>
            <a:off x="952500" y="5097711"/>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lite peers + committer</a:t>
            </a:r>
            <a:endParaRPr lang="en-US" sz="1200" dirty="0"/>
          </a:p>
        </p:txBody>
      </p:sp>
      <p:sp>
        <p:nvSpPr>
          <p:cNvPr id="15" name="Shape 13"/>
          <p:cNvSpPr/>
          <p:nvPr/>
        </p:nvSpPr>
        <p:spPr>
          <a:xfrm>
            <a:off x="8845550" y="4519910"/>
            <a:ext cx="2527300" cy="939800"/>
          </a:xfrm>
          <a:prstGeom prst="roundRect">
            <a:avLst>
              <a:gd name="adj" fmla="val 3378"/>
            </a:avLst>
          </a:prstGeom>
          <a:solidFill>
            <a:srgbClr val="FFFFFF"/>
          </a:solidFill>
          <a:ln w="12700">
            <a:solidFill>
              <a:srgbClr val="1A1D21"/>
            </a:solidFill>
            <a:prstDash val="solid"/>
          </a:ln>
        </p:spPr>
      </p:sp>
      <p:sp>
        <p:nvSpPr>
          <p:cNvPr id="16" name="Text 14"/>
          <p:cNvSpPr/>
          <p:nvPr/>
        </p:nvSpPr>
        <p:spPr>
          <a:xfrm>
            <a:off x="8978900" y="4615160"/>
            <a:ext cx="232841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Arial" pitchFamily="34" charset="0"/>
                <a:ea typeface="Arial" pitchFamily="34" charset="-122"/>
                <a:cs typeface="Arial" pitchFamily="34" charset="-120"/>
              </a:rPr>
              <a:t>TReDS platform</a:t>
            </a:r>
            <a:endParaRPr lang="en-US" sz="1600" dirty="0"/>
          </a:p>
        </p:txBody>
      </p:sp>
      <p:sp>
        <p:nvSpPr>
          <p:cNvPr id="17" name="Text 15"/>
          <p:cNvSpPr/>
          <p:nvPr/>
        </p:nvSpPr>
        <p:spPr>
          <a:xfrm>
            <a:off x="8978900" y="4871690"/>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Lists invoices for bids</a:t>
            </a:r>
            <a:endParaRPr lang="en-US" sz="1200" dirty="0"/>
          </a:p>
        </p:txBody>
      </p:sp>
      <p:sp>
        <p:nvSpPr>
          <p:cNvPr id="18" name="Text 16"/>
          <p:cNvSpPr/>
          <p:nvPr/>
        </p:nvSpPr>
        <p:spPr>
          <a:xfrm>
            <a:off x="8978900" y="5097711"/>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lite peers + committer</a:t>
            </a:r>
            <a:endParaRPr lang="en-US" sz="1200" dirty="0"/>
          </a:p>
        </p:txBody>
      </p:sp>
      <p:sp>
        <p:nvSpPr>
          <p:cNvPr id="19" name="Shape 17"/>
          <p:cNvSpPr/>
          <p:nvPr/>
        </p:nvSpPr>
        <p:spPr>
          <a:xfrm>
            <a:off x="4826000" y="2957810"/>
            <a:ext cx="2540000" cy="952500"/>
          </a:xfrm>
          <a:prstGeom prst="roundRect">
            <a:avLst>
              <a:gd name="adj" fmla="val 4000"/>
            </a:avLst>
          </a:prstGeom>
          <a:solidFill>
            <a:srgbClr val="1F4E9A"/>
          </a:solidFill>
          <a:ln/>
        </p:spPr>
      </p:sp>
      <p:sp>
        <p:nvSpPr>
          <p:cNvPr id="20" name="Text 18"/>
          <p:cNvSpPr/>
          <p:nvPr/>
        </p:nvSpPr>
        <p:spPr>
          <a:xfrm>
            <a:off x="4953000" y="3046710"/>
            <a:ext cx="235458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AF8"/>
                </a:solidFill>
                <a:latin typeface="Arial" pitchFamily="34" charset="0"/>
                <a:ea typeface="Arial" pitchFamily="34" charset="-122"/>
                <a:cs typeface="Arial" pitchFamily="34" charset="-120"/>
              </a:rPr>
              <a:t>NPCI</a:t>
            </a:r>
            <a:endParaRPr lang="en-US" sz="1600" dirty="0"/>
          </a:p>
        </p:txBody>
      </p:sp>
      <p:sp>
        <p:nvSpPr>
          <p:cNvPr id="21" name="Text 19"/>
          <p:cNvSpPr/>
          <p:nvPr/>
        </p:nvSpPr>
        <p:spPr>
          <a:xfrm>
            <a:off x="4953000" y="3303240"/>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5"/>
                </a:solidFill>
                <a:latin typeface="Arial" pitchFamily="34" charset="0"/>
                <a:ea typeface="Arial" pitchFamily="34" charset="-122"/>
                <a:cs typeface="Arial" pitchFamily="34" charset="-120"/>
              </a:rPr>
              <a:t>Network operator</a:t>
            </a:r>
            <a:endParaRPr lang="en-US" sz="1200" dirty="0"/>
          </a:p>
        </p:txBody>
      </p:sp>
      <p:sp>
        <p:nvSpPr>
          <p:cNvPr id="22" name="Text 20"/>
          <p:cNvSpPr/>
          <p:nvPr/>
        </p:nvSpPr>
        <p:spPr>
          <a:xfrm>
            <a:off x="4953000" y="3529261"/>
            <a:ext cx="2354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6E2F5"/>
                </a:solidFill>
                <a:latin typeface="Courier New" pitchFamily="49" charset="0"/>
                <a:ea typeface="Courier New" pitchFamily="49" charset="-122"/>
                <a:cs typeface="Courier New" pitchFamily="49" charset="-120"/>
              </a:rPr>
              <a:t>Raft ordering</a:t>
            </a:r>
            <a:endParaRPr lang="en-US" sz="1200" dirty="0"/>
          </a:p>
        </p:txBody>
      </p:sp>
      <p:sp>
        <p:nvSpPr>
          <p:cNvPr id="23" name="Shape 21"/>
          <p:cNvSpPr/>
          <p:nvPr/>
        </p:nvSpPr>
        <p:spPr>
          <a:xfrm>
            <a:off x="822325" y="2608560"/>
            <a:ext cx="0" cy="1651000"/>
          </a:xfrm>
          <a:prstGeom prst="line">
            <a:avLst/>
          </a:prstGeom>
          <a:noFill/>
          <a:ln w="19050">
            <a:solidFill>
              <a:srgbClr val="1F4E9A"/>
            </a:solidFill>
            <a:prstDash val="solid"/>
          </a:ln>
        </p:spPr>
      </p:sp>
      <p:sp>
        <p:nvSpPr>
          <p:cNvPr id="24" name="Text 22"/>
          <p:cNvSpPr/>
          <p:nvPr/>
        </p:nvSpPr>
        <p:spPr>
          <a:xfrm>
            <a:off x="984250" y="2633960"/>
            <a:ext cx="32244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One shared registry</a:t>
            </a:r>
            <a:endParaRPr lang="en-US" sz="1200" dirty="0"/>
          </a:p>
        </p:txBody>
      </p:sp>
      <p:sp>
        <p:nvSpPr>
          <p:cNvPr id="25" name="Text 23"/>
          <p:cNvSpPr/>
          <p:nvPr/>
        </p:nvSpPr>
        <p:spPr>
          <a:xfrm>
            <a:off x="984250" y="2898080"/>
            <a:ext cx="322446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Every organisation holds the same ledger, so a duplicate invoice is visible to all of them at once.</a:t>
            </a:r>
            <a:endParaRPr lang="en-US" sz="1200" dirty="0"/>
          </a:p>
        </p:txBody>
      </p:sp>
      <p:sp>
        <p:nvSpPr>
          <p:cNvPr id="26" name="Shape 24"/>
          <p:cNvSpPr/>
          <p:nvPr/>
        </p:nvSpPr>
        <p:spPr>
          <a:xfrm>
            <a:off x="8086725" y="2608560"/>
            <a:ext cx="0" cy="1651000"/>
          </a:xfrm>
          <a:prstGeom prst="line">
            <a:avLst/>
          </a:prstGeom>
          <a:noFill/>
          <a:ln w="19050">
            <a:solidFill>
              <a:srgbClr val="1F4E9A"/>
            </a:solidFill>
            <a:prstDash val="solid"/>
          </a:ln>
        </p:spPr>
      </p:sp>
      <p:sp>
        <p:nvSpPr>
          <p:cNvPr id="27" name="Text 25"/>
          <p:cNvSpPr/>
          <p:nvPr/>
        </p:nvSpPr>
        <p:spPr>
          <a:xfrm>
            <a:off x="8248650" y="2633960"/>
            <a:ext cx="32244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Endorsement policy</a:t>
            </a:r>
            <a:endParaRPr lang="en-US" sz="1200" dirty="0"/>
          </a:p>
        </p:txBody>
      </p:sp>
      <p:sp>
        <p:nvSpPr>
          <p:cNvPr id="28" name="Text 26"/>
          <p:cNvSpPr/>
          <p:nvPr/>
        </p:nvSpPr>
        <p:spPr>
          <a:xfrm>
            <a:off x="8248650" y="2898080"/>
            <a:ext cx="3224467"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The originating organisation and NPCI must both sign every state change. Bid data stays in private collections.</a:t>
            </a:r>
            <a:endParaRPr lang="en-US" sz="1200" dirty="0"/>
          </a:p>
        </p:txBody>
      </p:sp>
      <p:pic>
        <p:nvPicPr>
          <p:cNvPr id="29" name="Image 0" descr="connector">    </p:cNvPr>
          <p:cNvPicPr>
            <a:picLocks noChangeAspect="1"/>
          </p:cNvPicPr>
          <p:nvPr/>
        </p:nvPicPr>
        <p:blipFill>
          <a:blip r:embed="rId1"/>
          <a:srcRect l="0" r="0" t="0" b="0"/>
          <a:stretch/>
        </p:blipFill>
        <p:spPr>
          <a:xfrm>
            <a:off x="3314700" y="1840210"/>
            <a:ext cx="2501900" cy="1155700"/>
          </a:xfrm>
          <a:prstGeom prst="rect">
            <a:avLst/>
          </a:prstGeom>
        </p:spPr>
      </p:pic>
      <p:pic>
        <p:nvPicPr>
          <p:cNvPr id="30" name="Image 1" descr="connector">    </p:cNvPr>
          <p:cNvPicPr>
            <a:picLocks noChangeAspect="1"/>
          </p:cNvPicPr>
          <p:nvPr/>
        </p:nvPicPr>
        <p:blipFill>
          <a:blip r:embed="rId2"/>
          <a:srcRect l="0" r="0" t="0" b="0"/>
          <a:stretch/>
        </p:blipFill>
        <p:spPr>
          <a:xfrm>
            <a:off x="6375400" y="1840210"/>
            <a:ext cx="2501900" cy="1155700"/>
          </a:xfrm>
          <a:prstGeom prst="rect">
            <a:avLst/>
          </a:prstGeom>
        </p:spPr>
      </p:pic>
      <p:pic>
        <p:nvPicPr>
          <p:cNvPr id="31" name="Image 2" descr="connector">    </p:cNvPr>
          <p:cNvPicPr>
            <a:picLocks noChangeAspect="1"/>
          </p:cNvPicPr>
          <p:nvPr/>
        </p:nvPicPr>
        <p:blipFill>
          <a:blip r:embed="rId3"/>
          <a:srcRect l="0" r="0" t="0" b="0"/>
          <a:stretch/>
        </p:blipFill>
        <p:spPr>
          <a:xfrm>
            <a:off x="3314700" y="3872210"/>
            <a:ext cx="2501900" cy="1155700"/>
          </a:xfrm>
          <a:prstGeom prst="rect">
            <a:avLst/>
          </a:prstGeom>
        </p:spPr>
      </p:pic>
      <p:pic>
        <p:nvPicPr>
          <p:cNvPr id="32" name="Image 3" descr="connector">    </p:cNvPr>
          <p:cNvPicPr>
            <a:picLocks noChangeAspect="1"/>
          </p:cNvPicPr>
          <p:nvPr/>
        </p:nvPicPr>
        <p:blipFill>
          <a:blip r:embed="rId4"/>
          <a:srcRect l="0" r="0" t="0" b="0"/>
          <a:stretch/>
        </p:blipFill>
        <p:spPr>
          <a:xfrm>
            <a:off x="6375400" y="3872210"/>
            <a:ext cx="2501900" cy="1155700"/>
          </a:xfrm>
          <a:prstGeom prst="rect">
            <a:avLst/>
          </a:prstGeom>
        </p:spPr>
      </p:pic>
      <p:sp>
        <p:nvSpPr>
          <p:cNvPr id="33" name="Text 27"/>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34" name="Text 28"/>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One invoice end to end: nine steps across DRUNIX and NPCI rails</a:t>
            </a:r>
            <a:endParaRPr lang="en-US" sz="2200" dirty="0"/>
          </a:p>
        </p:txBody>
      </p:sp>
      <p:sp>
        <p:nvSpPr>
          <p:cNvPr id="3" name="Text 1"/>
          <p:cNvSpPr/>
          <p:nvPr/>
        </p:nvSpPr>
        <p:spPr>
          <a:xfrm>
            <a:off x="1047750" y="1530350"/>
            <a:ext cx="1638300" cy="393700"/>
          </a:xfrm>
          <a:custGeom>
            <a:avLst/>
            <a:gdLst/>
            <a:ahLst/>
            <a:cxnLst/>
            <a:rect l="l" t="t" r="r" b="b"/>
            <a:pathLst>
              <a:path w="1638300" h="393700">
                <a:moveTo>
                  <a:pt x="31750" y="0"/>
                </a:moveTo>
                <a:lnTo>
                  <a:pt x="1606550" y="0"/>
                </a:lnTo>
                <a:arcTo hR="31750" wR="31750" stAng="16200000" swAng="5400000"/>
                <a:lnTo>
                  <a:pt x="1638300" y="361950"/>
                </a:lnTo>
                <a:arcTo hR="31750" wR="31750" stAng="0" swAng="5400000"/>
                <a:lnTo>
                  <a:pt x="31750" y="393700"/>
                </a:lnTo>
                <a:arcTo hR="31750" wR="31750" stAng="5400000" swAng="5400000"/>
                <a:lnTo>
                  <a:pt x="0" y="31750"/>
                </a:lnTo>
                <a:arcTo hR="31750" wR="31750" stAng="10800000" swAng="5400000"/>
                <a:close/>
              </a:path>
            </a:pathLst>
          </a:custGeom>
          <a:solidFill>
            <a:srgbClr val="FFFFFF"/>
          </a:solidFill>
          <a:ln w="12700">
            <a:solidFill>
              <a:srgbClr val="1A1D21"/>
            </a:solidFill>
            <a:prstDash val="solid"/>
          </a:ln>
        </p:spPr>
        <p:txBody>
          <a:bodyPr wrap="square" lIns="0" tIns="6350" rIns="0" bIns="6350" rtlCol="0" anchor="ctr">
            <a:normAutofit/>
          </a:bodyPr>
          <a:lstStyle/>
          <a:p>
            <a:pPr algn="ctr" indent="0" marL="0">
              <a:lnSpc>
                <a:spcPts val="1680"/>
              </a:lnSpc>
              <a:buNone/>
            </a:pPr>
            <a:r>
              <a:rPr lang="en-US" sz="1200" b="1" dirty="0">
                <a:solidFill>
                  <a:srgbClr val="1A1D21"/>
                </a:solidFill>
                <a:latin typeface="Arial" pitchFamily="34" charset="0"/>
                <a:ea typeface="Arial" pitchFamily="34" charset="-122"/>
                <a:cs typeface="Arial" pitchFamily="34" charset="-120"/>
              </a:rPr>
              <a:t>MSME</a:t>
            </a:r>
            <a:endParaRPr lang="en-US" sz="1200" dirty="0"/>
          </a:p>
        </p:txBody>
      </p:sp>
      <p:sp>
        <p:nvSpPr>
          <p:cNvPr id="4" name="Text 2"/>
          <p:cNvSpPr/>
          <p:nvPr/>
        </p:nvSpPr>
        <p:spPr>
          <a:xfrm>
            <a:off x="3162300" y="1530350"/>
            <a:ext cx="1638300" cy="393700"/>
          </a:xfrm>
          <a:custGeom>
            <a:avLst/>
            <a:gdLst/>
            <a:ahLst/>
            <a:cxnLst/>
            <a:rect l="l" t="t" r="r" b="b"/>
            <a:pathLst>
              <a:path w="1638300" h="393700">
                <a:moveTo>
                  <a:pt x="31750" y="0"/>
                </a:moveTo>
                <a:lnTo>
                  <a:pt x="1606550" y="0"/>
                </a:lnTo>
                <a:arcTo hR="31750" wR="31750" stAng="16200000" swAng="5400000"/>
                <a:lnTo>
                  <a:pt x="1638300" y="361950"/>
                </a:lnTo>
                <a:arcTo hR="31750" wR="31750" stAng="0" swAng="5400000"/>
                <a:lnTo>
                  <a:pt x="31750" y="393700"/>
                </a:lnTo>
                <a:arcTo hR="31750" wR="31750" stAng="5400000" swAng="5400000"/>
                <a:lnTo>
                  <a:pt x="0" y="31750"/>
                </a:lnTo>
                <a:arcTo hR="31750" wR="31750" stAng="10800000" swAng="5400000"/>
                <a:close/>
              </a:path>
            </a:pathLst>
          </a:custGeom>
          <a:solidFill>
            <a:srgbClr val="FFFFFF"/>
          </a:solidFill>
          <a:ln w="12700">
            <a:solidFill>
              <a:srgbClr val="1A1D21"/>
            </a:solidFill>
            <a:prstDash val="solid"/>
          </a:ln>
        </p:spPr>
        <p:txBody>
          <a:bodyPr wrap="square" lIns="0" tIns="6350" rIns="0" bIns="6350" rtlCol="0" anchor="ctr">
            <a:normAutofit/>
          </a:bodyPr>
          <a:lstStyle/>
          <a:p>
            <a:pPr algn="ctr" indent="0" marL="0">
              <a:lnSpc>
                <a:spcPts val="1680"/>
              </a:lnSpc>
              <a:buNone/>
            </a:pPr>
            <a:r>
              <a:rPr lang="en-US" sz="1200" b="1" dirty="0">
                <a:solidFill>
                  <a:srgbClr val="1A1D21"/>
                </a:solidFill>
                <a:latin typeface="Arial" pitchFamily="34" charset="0"/>
                <a:ea typeface="Arial" pitchFamily="34" charset="-122"/>
                <a:cs typeface="Arial" pitchFamily="34" charset="-120"/>
              </a:rPr>
              <a:t>Buyer</a:t>
            </a:r>
            <a:endParaRPr lang="en-US" sz="1200" dirty="0"/>
          </a:p>
        </p:txBody>
      </p:sp>
      <p:sp>
        <p:nvSpPr>
          <p:cNvPr id="5" name="Text 3"/>
          <p:cNvSpPr/>
          <p:nvPr/>
        </p:nvSpPr>
        <p:spPr>
          <a:xfrm>
            <a:off x="5276850" y="1530350"/>
            <a:ext cx="1638300" cy="393700"/>
          </a:xfrm>
          <a:custGeom>
            <a:avLst/>
            <a:gdLst/>
            <a:ahLst/>
            <a:cxnLst/>
            <a:rect l="l" t="t" r="r" b="b"/>
            <a:pathLst>
              <a:path w="1638300" h="393700">
                <a:moveTo>
                  <a:pt x="31750" y="0"/>
                </a:moveTo>
                <a:lnTo>
                  <a:pt x="1606550" y="0"/>
                </a:lnTo>
                <a:arcTo hR="31750" wR="31750" stAng="16200000" swAng="5400000"/>
                <a:lnTo>
                  <a:pt x="1638300" y="361950"/>
                </a:lnTo>
                <a:arcTo hR="31750" wR="31750" stAng="0" swAng="5400000"/>
                <a:lnTo>
                  <a:pt x="31750" y="393700"/>
                </a:lnTo>
                <a:arcTo hR="31750" wR="31750" stAng="5400000" swAng="5400000"/>
                <a:lnTo>
                  <a:pt x="0" y="31750"/>
                </a:lnTo>
                <a:arcTo hR="31750" wR="31750" stAng="10800000" swAng="5400000"/>
                <a:close/>
              </a:path>
            </a:pathLst>
          </a:custGeom>
          <a:solidFill>
            <a:srgbClr val="1F4E9A"/>
          </a:solidFill>
          <a:ln w="12700">
            <a:solidFill>
              <a:srgbClr val="1F4E9A"/>
            </a:solidFill>
            <a:prstDash val="solid"/>
          </a:ln>
        </p:spPr>
        <p:txBody>
          <a:bodyPr wrap="square" lIns="0" tIns="6350" rIns="0" bIns="6350" rtlCol="0" anchor="ctr">
            <a:normAutofit/>
          </a:bodyPr>
          <a:lstStyle/>
          <a:p>
            <a:pPr algn="ctr" indent="0" marL="0">
              <a:lnSpc>
                <a:spcPts val="1680"/>
              </a:lnSpc>
              <a:buNone/>
            </a:pPr>
            <a:r>
              <a:rPr lang="en-US" sz="1200" b="1" dirty="0">
                <a:solidFill>
                  <a:srgbClr val="FAFAF8"/>
                </a:solidFill>
                <a:latin typeface="Arial" pitchFamily="34" charset="0"/>
                <a:ea typeface="Arial" pitchFamily="34" charset="-122"/>
                <a:cs typeface="Arial" pitchFamily="34" charset="-120"/>
              </a:rPr>
              <a:t>RASID chaincode</a:t>
            </a:r>
            <a:endParaRPr lang="en-US" sz="1200" dirty="0"/>
          </a:p>
        </p:txBody>
      </p:sp>
      <p:sp>
        <p:nvSpPr>
          <p:cNvPr id="6" name="Text 4"/>
          <p:cNvSpPr/>
          <p:nvPr/>
        </p:nvSpPr>
        <p:spPr>
          <a:xfrm>
            <a:off x="7391400" y="1530350"/>
            <a:ext cx="1638300" cy="393700"/>
          </a:xfrm>
          <a:custGeom>
            <a:avLst/>
            <a:gdLst/>
            <a:ahLst/>
            <a:cxnLst/>
            <a:rect l="l" t="t" r="r" b="b"/>
            <a:pathLst>
              <a:path w="1638300" h="393700">
                <a:moveTo>
                  <a:pt x="31750" y="0"/>
                </a:moveTo>
                <a:lnTo>
                  <a:pt x="1606550" y="0"/>
                </a:lnTo>
                <a:arcTo hR="31750" wR="31750" stAng="16200000" swAng="5400000"/>
                <a:lnTo>
                  <a:pt x="1638300" y="361950"/>
                </a:lnTo>
                <a:arcTo hR="31750" wR="31750" stAng="0" swAng="5400000"/>
                <a:lnTo>
                  <a:pt x="31750" y="393700"/>
                </a:lnTo>
                <a:arcTo hR="31750" wR="31750" stAng="5400000" swAng="5400000"/>
                <a:lnTo>
                  <a:pt x="0" y="31750"/>
                </a:lnTo>
                <a:arcTo hR="31750" wR="31750" stAng="10800000" swAng="5400000"/>
                <a:close/>
              </a:path>
            </a:pathLst>
          </a:custGeom>
          <a:solidFill>
            <a:srgbClr val="FFFFFF"/>
          </a:solidFill>
          <a:ln w="12700">
            <a:solidFill>
              <a:srgbClr val="1A1D21"/>
            </a:solidFill>
            <a:prstDash val="solid"/>
          </a:ln>
        </p:spPr>
        <p:txBody>
          <a:bodyPr wrap="square" lIns="0" tIns="6350" rIns="0" bIns="6350" rtlCol="0" anchor="ctr">
            <a:normAutofit/>
          </a:bodyPr>
          <a:lstStyle/>
          <a:p>
            <a:pPr algn="ctr" indent="0" marL="0">
              <a:lnSpc>
                <a:spcPts val="1680"/>
              </a:lnSpc>
              <a:buNone/>
            </a:pPr>
            <a:r>
              <a:rPr lang="en-US" sz="1200" b="1" dirty="0">
                <a:solidFill>
                  <a:srgbClr val="1A1D21"/>
                </a:solidFill>
                <a:latin typeface="Arial" pitchFamily="34" charset="0"/>
                <a:ea typeface="Arial" pitchFamily="34" charset="-122"/>
                <a:cs typeface="Arial" pitchFamily="34" charset="-120"/>
              </a:rPr>
              <a:t>Lender bank</a:t>
            </a:r>
            <a:endParaRPr lang="en-US" sz="1200" dirty="0"/>
          </a:p>
        </p:txBody>
      </p:sp>
      <p:sp>
        <p:nvSpPr>
          <p:cNvPr id="7" name="Text 5"/>
          <p:cNvSpPr/>
          <p:nvPr/>
        </p:nvSpPr>
        <p:spPr>
          <a:xfrm>
            <a:off x="9505950" y="1530350"/>
            <a:ext cx="1638300" cy="393700"/>
          </a:xfrm>
          <a:custGeom>
            <a:avLst/>
            <a:gdLst/>
            <a:ahLst/>
            <a:cxnLst/>
            <a:rect l="l" t="t" r="r" b="b"/>
            <a:pathLst>
              <a:path w="1638300" h="393700">
                <a:moveTo>
                  <a:pt x="31750" y="0"/>
                </a:moveTo>
                <a:lnTo>
                  <a:pt x="1606550" y="0"/>
                </a:lnTo>
                <a:arcTo hR="31750" wR="31750" stAng="16200000" swAng="5400000"/>
                <a:lnTo>
                  <a:pt x="1638300" y="361950"/>
                </a:lnTo>
                <a:arcTo hR="31750" wR="31750" stAng="0" swAng="5400000"/>
                <a:lnTo>
                  <a:pt x="31750" y="393700"/>
                </a:lnTo>
                <a:arcTo hR="31750" wR="31750" stAng="5400000" swAng="5400000"/>
                <a:lnTo>
                  <a:pt x="0" y="31750"/>
                </a:lnTo>
                <a:arcTo hR="31750" wR="31750" stAng="10800000" swAng="5400000"/>
                <a:close/>
              </a:path>
            </a:pathLst>
          </a:custGeom>
          <a:solidFill>
            <a:srgbClr val="FFFFFF"/>
          </a:solidFill>
          <a:ln w="12700">
            <a:solidFill>
              <a:srgbClr val="1A1D21"/>
            </a:solidFill>
            <a:prstDash val="solid"/>
          </a:ln>
        </p:spPr>
        <p:txBody>
          <a:bodyPr wrap="square" lIns="0" tIns="6350" rIns="0" bIns="6350" rtlCol="0" anchor="ctr">
            <a:normAutofit/>
          </a:bodyPr>
          <a:lstStyle/>
          <a:p>
            <a:pPr algn="ctr" indent="0" marL="0">
              <a:lnSpc>
                <a:spcPts val="1680"/>
              </a:lnSpc>
              <a:buNone/>
            </a:pPr>
            <a:r>
              <a:rPr lang="en-US" sz="1200" b="1" dirty="0">
                <a:solidFill>
                  <a:srgbClr val="1A1D21"/>
                </a:solidFill>
                <a:latin typeface="Arial" pitchFamily="34" charset="0"/>
                <a:ea typeface="Arial" pitchFamily="34" charset="-122"/>
                <a:cs typeface="Arial" pitchFamily="34" charset="-120"/>
              </a:rPr>
              <a:t>NPCI rails</a:t>
            </a:r>
            <a:endParaRPr lang="en-US" sz="1200" dirty="0"/>
          </a:p>
        </p:txBody>
      </p:sp>
      <p:pic>
        <p:nvPicPr>
          <p:cNvPr id="8" name="Image 0" descr="connector">    </p:cNvPr>
          <p:cNvPicPr>
            <a:picLocks noChangeAspect="1"/>
          </p:cNvPicPr>
          <p:nvPr/>
        </p:nvPicPr>
        <p:blipFill>
          <a:blip r:embed="rId1"/>
          <a:srcRect l="0" r="0" t="0" b="0"/>
          <a:stretch/>
        </p:blipFill>
        <p:spPr>
          <a:xfrm>
            <a:off x="1828800" y="1892300"/>
            <a:ext cx="76200" cy="3670300"/>
          </a:xfrm>
          <a:prstGeom prst="rect">
            <a:avLst/>
          </a:prstGeom>
        </p:spPr>
      </p:pic>
      <p:pic>
        <p:nvPicPr>
          <p:cNvPr id="9" name="Image 1" descr="connector">    </p:cNvPr>
          <p:cNvPicPr>
            <a:picLocks noChangeAspect="1"/>
          </p:cNvPicPr>
          <p:nvPr/>
        </p:nvPicPr>
        <p:blipFill>
          <a:blip r:embed="rId2"/>
          <a:srcRect l="0" r="0" t="0" b="0"/>
          <a:stretch/>
        </p:blipFill>
        <p:spPr>
          <a:xfrm>
            <a:off x="3943350" y="1892300"/>
            <a:ext cx="76200" cy="3670300"/>
          </a:xfrm>
          <a:prstGeom prst="rect">
            <a:avLst/>
          </a:prstGeom>
        </p:spPr>
      </p:pic>
      <p:pic>
        <p:nvPicPr>
          <p:cNvPr id="10" name="Image 2" descr="connector">    </p:cNvPr>
          <p:cNvPicPr>
            <a:picLocks noChangeAspect="1"/>
          </p:cNvPicPr>
          <p:nvPr/>
        </p:nvPicPr>
        <p:blipFill>
          <a:blip r:embed="rId3"/>
          <a:srcRect l="0" r="0" t="0" b="0"/>
          <a:stretch/>
        </p:blipFill>
        <p:spPr>
          <a:xfrm>
            <a:off x="6057900" y="1892300"/>
            <a:ext cx="76200" cy="3670300"/>
          </a:xfrm>
          <a:prstGeom prst="rect">
            <a:avLst/>
          </a:prstGeom>
        </p:spPr>
      </p:pic>
      <p:pic>
        <p:nvPicPr>
          <p:cNvPr id="11" name="Image 3" descr="connector">    </p:cNvPr>
          <p:cNvPicPr>
            <a:picLocks noChangeAspect="1"/>
          </p:cNvPicPr>
          <p:nvPr/>
        </p:nvPicPr>
        <p:blipFill>
          <a:blip r:embed="rId4"/>
          <a:srcRect l="0" r="0" t="0" b="0"/>
          <a:stretch/>
        </p:blipFill>
        <p:spPr>
          <a:xfrm>
            <a:off x="8172450" y="1892300"/>
            <a:ext cx="76200" cy="3670300"/>
          </a:xfrm>
          <a:prstGeom prst="rect">
            <a:avLst/>
          </a:prstGeom>
        </p:spPr>
      </p:pic>
      <p:pic>
        <p:nvPicPr>
          <p:cNvPr id="12" name="Image 4" descr="connector">    </p:cNvPr>
          <p:cNvPicPr>
            <a:picLocks noChangeAspect="1"/>
          </p:cNvPicPr>
          <p:nvPr/>
        </p:nvPicPr>
        <p:blipFill>
          <a:blip r:embed="rId5"/>
          <a:srcRect l="0" r="0" t="0" b="0"/>
          <a:stretch/>
        </p:blipFill>
        <p:spPr>
          <a:xfrm>
            <a:off x="10287000" y="1892300"/>
            <a:ext cx="76200" cy="3670300"/>
          </a:xfrm>
          <a:prstGeom prst="rect">
            <a:avLst/>
          </a:prstGeom>
        </p:spPr>
      </p:pic>
      <p:sp>
        <p:nvSpPr>
          <p:cNvPr id="13" name="Shape 6"/>
          <p:cNvSpPr/>
          <p:nvPr/>
        </p:nvSpPr>
        <p:spPr>
          <a:xfrm>
            <a:off x="6045200" y="2076450"/>
            <a:ext cx="101600" cy="3302000"/>
          </a:xfrm>
          <a:prstGeom prst="rect">
            <a:avLst/>
          </a:prstGeom>
          <a:solidFill>
            <a:srgbClr val="1F4E9A"/>
          </a:solidFill>
          <a:ln/>
        </p:spPr>
      </p:sp>
      <p:pic>
        <p:nvPicPr>
          <p:cNvPr id="14" name="Image 5" descr="connector">    </p:cNvPr>
          <p:cNvPicPr>
            <a:picLocks noChangeAspect="1"/>
          </p:cNvPicPr>
          <p:nvPr/>
        </p:nvPicPr>
        <p:blipFill>
          <a:blip r:embed="rId6"/>
          <a:srcRect l="0" r="0" t="0" b="0"/>
          <a:stretch/>
        </p:blipFill>
        <p:spPr>
          <a:xfrm>
            <a:off x="1828800" y="2216150"/>
            <a:ext cx="4254500" cy="76200"/>
          </a:xfrm>
          <a:prstGeom prst="rect">
            <a:avLst/>
          </a:prstGeom>
        </p:spPr>
      </p:pic>
      <p:pic>
        <p:nvPicPr>
          <p:cNvPr id="15" name="Image 6" descr="connector">    </p:cNvPr>
          <p:cNvPicPr>
            <a:picLocks noChangeAspect="1"/>
          </p:cNvPicPr>
          <p:nvPr/>
        </p:nvPicPr>
        <p:blipFill>
          <a:blip r:embed="rId7"/>
          <a:srcRect l="0" r="0" t="0" b="0"/>
          <a:stretch/>
        </p:blipFill>
        <p:spPr>
          <a:xfrm>
            <a:off x="3943350" y="2584450"/>
            <a:ext cx="2139950" cy="76200"/>
          </a:xfrm>
          <a:prstGeom prst="rect">
            <a:avLst/>
          </a:prstGeom>
        </p:spPr>
      </p:pic>
      <p:pic>
        <p:nvPicPr>
          <p:cNvPr id="16" name="Image 7" descr="connector">    </p:cNvPr>
          <p:cNvPicPr>
            <a:picLocks noChangeAspect="1"/>
          </p:cNvPicPr>
          <p:nvPr/>
        </p:nvPicPr>
        <p:blipFill>
          <a:blip r:embed="rId8"/>
          <a:srcRect l="0" r="0" t="0" b="0"/>
          <a:stretch/>
        </p:blipFill>
        <p:spPr>
          <a:xfrm>
            <a:off x="6108700" y="2952750"/>
            <a:ext cx="2139950" cy="76200"/>
          </a:xfrm>
          <a:prstGeom prst="rect">
            <a:avLst/>
          </a:prstGeom>
        </p:spPr>
      </p:pic>
      <p:pic>
        <p:nvPicPr>
          <p:cNvPr id="17" name="Image 8" descr="connector">    </p:cNvPr>
          <p:cNvPicPr>
            <a:picLocks noChangeAspect="1"/>
          </p:cNvPicPr>
          <p:nvPr/>
        </p:nvPicPr>
        <p:blipFill>
          <a:blip r:embed="rId9"/>
          <a:srcRect l="0" r="0" t="0" b="0"/>
          <a:stretch/>
        </p:blipFill>
        <p:spPr>
          <a:xfrm>
            <a:off x="6108700" y="3321050"/>
            <a:ext cx="2139950" cy="76200"/>
          </a:xfrm>
          <a:prstGeom prst="rect">
            <a:avLst/>
          </a:prstGeom>
        </p:spPr>
      </p:pic>
      <p:pic>
        <p:nvPicPr>
          <p:cNvPr id="18" name="Image 9" descr="connector">    </p:cNvPr>
          <p:cNvPicPr>
            <a:picLocks noChangeAspect="1"/>
          </p:cNvPicPr>
          <p:nvPr/>
        </p:nvPicPr>
        <p:blipFill>
          <a:blip r:embed="rId10"/>
          <a:srcRect l="0" r="0" t="0" b="0"/>
          <a:stretch/>
        </p:blipFill>
        <p:spPr>
          <a:xfrm>
            <a:off x="8172450" y="3689350"/>
            <a:ext cx="2190750" cy="76200"/>
          </a:xfrm>
          <a:prstGeom prst="rect">
            <a:avLst/>
          </a:prstGeom>
        </p:spPr>
      </p:pic>
      <p:pic>
        <p:nvPicPr>
          <p:cNvPr id="19" name="Image 10" descr="connector">    </p:cNvPr>
          <p:cNvPicPr>
            <a:picLocks noChangeAspect="1"/>
          </p:cNvPicPr>
          <p:nvPr/>
        </p:nvPicPr>
        <p:blipFill>
          <a:blip r:embed="rId11"/>
          <a:srcRect l="0" r="0" t="0" b="0"/>
          <a:stretch/>
        </p:blipFill>
        <p:spPr>
          <a:xfrm>
            <a:off x="1828800" y="4057650"/>
            <a:ext cx="8534400" cy="76200"/>
          </a:xfrm>
          <a:prstGeom prst="rect">
            <a:avLst/>
          </a:prstGeom>
        </p:spPr>
      </p:pic>
      <p:pic>
        <p:nvPicPr>
          <p:cNvPr id="20" name="Image 11" descr="connector">    </p:cNvPr>
          <p:cNvPicPr>
            <a:picLocks noChangeAspect="1"/>
          </p:cNvPicPr>
          <p:nvPr/>
        </p:nvPicPr>
        <p:blipFill>
          <a:blip r:embed="rId12"/>
          <a:srcRect l="0" r="0" t="0" b="0"/>
          <a:stretch/>
        </p:blipFill>
        <p:spPr>
          <a:xfrm>
            <a:off x="6108700" y="4425950"/>
            <a:ext cx="2139950" cy="76200"/>
          </a:xfrm>
          <a:prstGeom prst="rect">
            <a:avLst/>
          </a:prstGeom>
        </p:spPr>
      </p:pic>
      <p:pic>
        <p:nvPicPr>
          <p:cNvPr id="21" name="Image 12" descr="connector">    </p:cNvPr>
          <p:cNvPicPr>
            <a:picLocks noChangeAspect="1"/>
          </p:cNvPicPr>
          <p:nvPr/>
        </p:nvPicPr>
        <p:blipFill>
          <a:blip r:embed="rId13"/>
          <a:srcRect l="0" r="0" t="0" b="0"/>
          <a:stretch/>
        </p:blipFill>
        <p:spPr>
          <a:xfrm>
            <a:off x="6108700" y="4794250"/>
            <a:ext cx="4254500" cy="76200"/>
          </a:xfrm>
          <a:prstGeom prst="rect">
            <a:avLst/>
          </a:prstGeom>
        </p:spPr>
      </p:pic>
      <p:pic>
        <p:nvPicPr>
          <p:cNvPr id="22" name="Image 13" descr="connector">    </p:cNvPr>
          <p:cNvPicPr>
            <a:picLocks noChangeAspect="1"/>
          </p:cNvPicPr>
          <p:nvPr/>
        </p:nvPicPr>
        <p:blipFill>
          <a:blip r:embed="rId14"/>
          <a:srcRect l="0" r="0" t="0" b="0"/>
          <a:stretch/>
        </p:blipFill>
        <p:spPr>
          <a:xfrm>
            <a:off x="6108700" y="5162550"/>
            <a:ext cx="2139950" cy="76200"/>
          </a:xfrm>
          <a:prstGeom prst="rect">
            <a:avLst/>
          </a:prstGeom>
        </p:spPr>
      </p:pic>
      <p:sp>
        <p:nvSpPr>
          <p:cNvPr id="23" name="Text 7"/>
          <p:cNvSpPr/>
          <p:nvPr/>
        </p:nvSpPr>
        <p:spPr>
          <a:xfrm>
            <a:off x="1968500" y="1987550"/>
            <a:ext cx="397510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1 · Register invoice + IRP-signed QR</a:t>
            </a:r>
            <a:endParaRPr lang="en-US" sz="1200" dirty="0"/>
          </a:p>
        </p:txBody>
      </p:sp>
      <p:sp>
        <p:nvSpPr>
          <p:cNvPr id="24" name="Text 8"/>
          <p:cNvSpPr/>
          <p:nvPr/>
        </p:nvSpPr>
        <p:spPr>
          <a:xfrm>
            <a:off x="4083050" y="2355850"/>
            <a:ext cx="186055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2 · Buyer accepts</a:t>
            </a:r>
            <a:endParaRPr lang="en-US" sz="1200" dirty="0"/>
          </a:p>
        </p:txBody>
      </p:sp>
      <p:sp>
        <p:nvSpPr>
          <p:cNvPr id="25" name="Text 9"/>
          <p:cNvSpPr/>
          <p:nvPr/>
        </p:nvSpPr>
        <p:spPr>
          <a:xfrm>
            <a:off x="6248400" y="2724150"/>
            <a:ext cx="186055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3 · Sealed bid</a:t>
            </a:r>
            <a:endParaRPr lang="en-US" sz="1200" dirty="0"/>
          </a:p>
        </p:txBody>
      </p:sp>
      <p:sp>
        <p:nvSpPr>
          <p:cNvPr id="26" name="Text 10"/>
          <p:cNvSpPr/>
          <p:nvPr/>
        </p:nvSpPr>
        <p:spPr>
          <a:xfrm>
            <a:off x="6248400" y="3092450"/>
            <a:ext cx="186055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4 · Award + event</a:t>
            </a:r>
            <a:endParaRPr lang="en-US" sz="1200" dirty="0"/>
          </a:p>
        </p:txBody>
      </p:sp>
      <p:sp>
        <p:nvSpPr>
          <p:cNvPr id="27" name="Text 11"/>
          <p:cNvSpPr/>
          <p:nvPr/>
        </p:nvSpPr>
        <p:spPr>
          <a:xfrm>
            <a:off x="8312150" y="3460750"/>
            <a:ext cx="191135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B54A1C"/>
                </a:solidFill>
                <a:latin typeface="Arial" pitchFamily="34" charset="0"/>
                <a:ea typeface="Arial" pitchFamily="34" charset="-122"/>
                <a:cs typeface="Arial" pitchFamily="34" charset="-120"/>
              </a:rPr>
              <a:t>5 · Pay out</a:t>
            </a:r>
            <a:endParaRPr lang="en-US" sz="1200" dirty="0"/>
          </a:p>
        </p:txBody>
      </p:sp>
      <p:sp>
        <p:nvSpPr>
          <p:cNvPr id="28" name="Text 12"/>
          <p:cNvSpPr/>
          <p:nvPr/>
        </p:nvSpPr>
        <p:spPr>
          <a:xfrm>
            <a:off x="1968500" y="3829050"/>
            <a:ext cx="397510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B54A1C"/>
                </a:solidFill>
                <a:latin typeface="Arial" pitchFamily="34" charset="0"/>
                <a:ea typeface="Arial" pitchFamily="34" charset="-122"/>
                <a:cs typeface="Arial" pitchFamily="34" charset="-120"/>
              </a:rPr>
              <a:t>6 · Funds reach the MSME within hours</a:t>
            </a:r>
            <a:endParaRPr lang="en-US" sz="1200" dirty="0"/>
          </a:p>
        </p:txBody>
      </p:sp>
      <p:sp>
        <p:nvSpPr>
          <p:cNvPr id="29" name="Text 13"/>
          <p:cNvSpPr/>
          <p:nvPr/>
        </p:nvSpPr>
        <p:spPr>
          <a:xfrm>
            <a:off x="6248400" y="4197350"/>
            <a:ext cx="186055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7 · UTR → FUNDED</a:t>
            </a:r>
            <a:endParaRPr lang="en-US" sz="1200" dirty="0"/>
          </a:p>
        </p:txBody>
      </p:sp>
      <p:sp>
        <p:nvSpPr>
          <p:cNvPr id="30" name="Text 14"/>
          <p:cNvSpPr/>
          <p:nvPr/>
        </p:nvSpPr>
        <p:spPr>
          <a:xfrm>
            <a:off x="6248400" y="4565650"/>
            <a:ext cx="397510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B54A1C"/>
                </a:solidFill>
                <a:latin typeface="Arial" pitchFamily="34" charset="0"/>
                <a:ea typeface="Arial" pitchFamily="34" charset="-122"/>
                <a:cs typeface="Arial" pitchFamily="34" charset="-120"/>
              </a:rPr>
              <a:t>8 · e-NACH repayment UTR → REPAID</a:t>
            </a:r>
            <a:endParaRPr lang="en-US" sz="1200" dirty="0"/>
          </a:p>
        </p:txBody>
      </p:sp>
      <p:sp>
        <p:nvSpPr>
          <p:cNvPr id="31" name="Text 15"/>
          <p:cNvSpPr/>
          <p:nvPr/>
        </p:nvSpPr>
        <p:spPr>
          <a:xfrm>
            <a:off x="6248400" y="4933950"/>
            <a:ext cx="1860550" cy="213320"/>
          </a:xfrm>
          <a:prstGeom prst="rect">
            <a:avLst/>
          </a:prstGeom>
          <a:solidFill>
            <a:srgbClr val="FAFAF8"/>
          </a:solid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9 · Payout → CLOSED</a:t>
            </a:r>
            <a:endParaRPr lang="en-US" sz="1200" dirty="0"/>
          </a:p>
        </p:txBody>
      </p:sp>
      <p:sp>
        <p:nvSpPr>
          <p:cNvPr id="32" name="Text 16"/>
          <p:cNvSpPr/>
          <p:nvPr/>
        </p:nvSpPr>
        <p:spPr>
          <a:xfrm>
            <a:off x="812800" y="56134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Dark arrows are DRUNIX transactions. Orange arrows are money moving on NPCI rails.</a:t>
            </a:r>
            <a:endParaRPr lang="en-US" sz="1200" dirty="0"/>
          </a:p>
        </p:txBody>
      </p:sp>
      <p:sp>
        <p:nvSpPr>
          <p:cNvPr id="33" name="Text 17"/>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34" name="Text 18"/>
          <p:cNvSpPr/>
          <p:nvPr/>
        </p:nvSpPr>
        <p:spPr>
          <a:xfrm>
            <a:off x="11243618" y="6238280"/>
            <a:ext cx="13558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Three checks stop forged, duplicate and risky invoices before listing</a:t>
            </a:r>
            <a:endParaRPr lang="en-US" sz="2200" dirty="0"/>
          </a:p>
        </p:txBody>
      </p:sp>
      <p:sp>
        <p:nvSpPr>
          <p:cNvPr id="3" name="Text 1"/>
          <p:cNvSpPr/>
          <p:nvPr/>
        </p:nvSpPr>
        <p:spPr>
          <a:xfrm>
            <a:off x="3022600" y="1592560"/>
            <a:ext cx="1676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270"/>
                </a:solidFill>
                <a:latin typeface="Arial" pitchFamily="34" charset="0"/>
                <a:ea typeface="Arial" pitchFamily="34" charset="-122"/>
                <a:cs typeface="Arial" pitchFamily="34" charset="-120"/>
              </a:rPr>
              <a:t>Check 1 · chaincode</a:t>
            </a:r>
            <a:endParaRPr lang="en-US" sz="1200" dirty="0"/>
          </a:p>
        </p:txBody>
      </p:sp>
      <p:sp>
        <p:nvSpPr>
          <p:cNvPr id="4" name="Text 2"/>
          <p:cNvSpPr/>
          <p:nvPr/>
        </p:nvSpPr>
        <p:spPr>
          <a:xfrm>
            <a:off x="5257800" y="1592560"/>
            <a:ext cx="1676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270"/>
                </a:solidFill>
                <a:latin typeface="Arial" pitchFamily="34" charset="0"/>
                <a:ea typeface="Arial" pitchFamily="34" charset="-122"/>
                <a:cs typeface="Arial" pitchFamily="34" charset="-120"/>
              </a:rPr>
              <a:t>Check 2 · ledger</a:t>
            </a:r>
            <a:endParaRPr lang="en-US" sz="1200" dirty="0"/>
          </a:p>
        </p:txBody>
      </p:sp>
      <p:sp>
        <p:nvSpPr>
          <p:cNvPr id="5" name="Text 3"/>
          <p:cNvSpPr/>
          <p:nvPr/>
        </p:nvSpPr>
        <p:spPr>
          <a:xfrm>
            <a:off x="7493000" y="1592560"/>
            <a:ext cx="16764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270"/>
                </a:solidFill>
                <a:latin typeface="Arial" pitchFamily="34" charset="0"/>
                <a:ea typeface="Arial" pitchFamily="34" charset="-122"/>
                <a:cs typeface="Arial" pitchFamily="34" charset="-120"/>
              </a:rPr>
              <a:t>Check 3 · AI layer</a:t>
            </a:r>
            <a:endParaRPr lang="en-US" sz="1200" dirty="0"/>
          </a:p>
        </p:txBody>
      </p:sp>
      <p:sp>
        <p:nvSpPr>
          <p:cNvPr id="6" name="Text 4"/>
          <p:cNvSpPr/>
          <p:nvPr/>
        </p:nvSpPr>
        <p:spPr>
          <a:xfrm>
            <a:off x="812800" y="2164060"/>
            <a:ext cx="1625600" cy="889000"/>
          </a:xfrm>
          <a:prstGeom prst="roundRect">
            <a:avLst>
              <a:gd name="adj" fmla="val 4286"/>
            </a:avLst>
          </a:prstGeom>
          <a:solidFill>
            <a:srgbClr val="1A1D21"/>
          </a:solidFill>
          <a:ln/>
        </p:spPr>
        <p:txBody>
          <a:bodyPr wrap="square" lIns="65041" tIns="90441" rIns="65041" bIns="90441" rtlCol="0" anchor="ctr">
            <a:normAutofit/>
          </a:bodyPr>
          <a:lstStyle/>
          <a:p>
            <a:pPr algn="ctr" indent="0" marL="0">
              <a:lnSpc>
                <a:spcPts val="2240"/>
              </a:lnSpc>
              <a:buNone/>
            </a:pPr>
            <a:r>
              <a:rPr lang="en-US" sz="1600" b="1" dirty="0">
                <a:solidFill>
                  <a:srgbClr val="FAFAF8"/>
                </a:solidFill>
                <a:latin typeface="Georgia" pitchFamily="18" charset="0"/>
                <a:ea typeface="Georgia" pitchFamily="18" charset="-122"/>
                <a:cs typeface="Georgia" pitchFamily="18" charset="-120"/>
              </a:rPr>
              <a:t>Invoice submitted</a:t>
            </a:r>
            <a:endParaRPr lang="en-US" sz="1600" dirty="0"/>
          </a:p>
        </p:txBody>
      </p:sp>
      <p:sp>
        <p:nvSpPr>
          <p:cNvPr id="7" name="Text 5"/>
          <p:cNvSpPr/>
          <p:nvPr/>
        </p:nvSpPr>
        <p:spPr>
          <a:xfrm>
            <a:off x="3054350" y="2170410"/>
            <a:ext cx="1612900" cy="876300"/>
          </a:xfrm>
          <a:prstGeom prst="roundRect">
            <a:avLst>
              <a:gd name="adj" fmla="val 3623"/>
            </a:avLst>
          </a:prstGeom>
          <a:solidFill>
            <a:srgbClr val="FFFFFF"/>
          </a:solidFill>
          <a:ln w="12700">
            <a:solidFill>
              <a:srgbClr val="1F4E9A"/>
            </a:solidFill>
            <a:prstDash val="solid"/>
          </a:ln>
        </p:spPr>
        <p:txBody>
          <a:bodyPr wrap="square" lIns="73251" tIns="98651" rIns="73251" bIns="73251" rtlCol="0" anchor="t">
            <a:normAutofit/>
          </a:bodyPr>
          <a:lstStyle/>
          <a:p>
            <a:pPr algn="ctr" indent="0" marL="0">
              <a:lnSpc>
                <a:spcPts val="2170"/>
              </a:lnSpc>
              <a:buNone/>
            </a:pPr>
            <a:r>
              <a:rPr lang="en-US" sz="1550" b="1" dirty="0">
                <a:solidFill>
                  <a:srgbClr val="1A1D21"/>
                </a:solidFill>
                <a:latin typeface="Georgia" pitchFamily="18" charset="0"/>
                <a:ea typeface="Georgia" pitchFamily="18" charset="-122"/>
                <a:cs typeface="Georgia" pitchFamily="18" charset="-120"/>
              </a:rPr>
              <a:t>IRP signature valid?</a:t>
            </a:r>
            <a:endParaRPr lang="en-US" sz="1550" dirty="0"/>
          </a:p>
        </p:txBody>
      </p:sp>
      <p:sp>
        <p:nvSpPr>
          <p:cNvPr id="8" name="Text 6"/>
          <p:cNvSpPr/>
          <p:nvPr/>
        </p:nvSpPr>
        <p:spPr>
          <a:xfrm>
            <a:off x="5289550" y="2170410"/>
            <a:ext cx="1612900" cy="876300"/>
          </a:xfrm>
          <a:prstGeom prst="roundRect">
            <a:avLst>
              <a:gd name="adj" fmla="val 3623"/>
            </a:avLst>
          </a:prstGeom>
          <a:solidFill>
            <a:srgbClr val="FFFFFF"/>
          </a:solidFill>
          <a:ln w="12700">
            <a:solidFill>
              <a:srgbClr val="1F4E9A"/>
            </a:solidFill>
            <a:prstDash val="solid"/>
          </a:ln>
        </p:spPr>
        <p:txBody>
          <a:bodyPr wrap="square" lIns="73251" tIns="98651" rIns="73251" bIns="98651" rtlCol="0" anchor="ctr">
            <a:normAutofit/>
          </a:bodyPr>
          <a:lstStyle/>
          <a:p>
            <a:pPr algn="ctr" indent="0" marL="0">
              <a:lnSpc>
                <a:spcPts val="2240"/>
              </a:lnSpc>
              <a:buNone/>
            </a:pPr>
            <a:r>
              <a:rPr lang="en-US" sz="1600" b="1" dirty="0">
                <a:solidFill>
                  <a:srgbClr val="1A1D21"/>
                </a:solidFill>
                <a:latin typeface="Georgia" pitchFamily="18" charset="0"/>
                <a:ea typeface="Georgia" pitchFamily="18" charset="-122"/>
                <a:cs typeface="Georgia" pitchFamily="18" charset="-120"/>
              </a:rPr>
              <a:t>Already registered?</a:t>
            </a:r>
            <a:endParaRPr lang="en-US" sz="1600" dirty="0"/>
          </a:p>
        </p:txBody>
      </p:sp>
      <p:sp>
        <p:nvSpPr>
          <p:cNvPr id="9" name="Text 7"/>
          <p:cNvSpPr/>
          <p:nvPr/>
        </p:nvSpPr>
        <p:spPr>
          <a:xfrm>
            <a:off x="7524750" y="2170410"/>
            <a:ext cx="1612900" cy="876300"/>
          </a:xfrm>
          <a:prstGeom prst="roundRect">
            <a:avLst>
              <a:gd name="adj" fmla="val 3623"/>
            </a:avLst>
          </a:prstGeom>
          <a:solidFill>
            <a:srgbClr val="FFFFFF"/>
          </a:solidFill>
          <a:ln w="12700">
            <a:solidFill>
              <a:srgbClr val="1F4E9A"/>
            </a:solidFill>
            <a:prstDash val="solid"/>
          </a:ln>
        </p:spPr>
        <p:txBody>
          <a:bodyPr wrap="square" lIns="73251" tIns="98651" rIns="73251" bIns="98651" rtlCol="0" anchor="ctr">
            <a:normAutofit/>
          </a:bodyPr>
          <a:lstStyle/>
          <a:p>
            <a:pPr algn="ctr" indent="0" marL="0">
              <a:lnSpc>
                <a:spcPts val="2240"/>
              </a:lnSpc>
              <a:buNone/>
            </a:pPr>
            <a:r>
              <a:rPr lang="en-US" sz="1600" b="1" dirty="0">
                <a:solidFill>
                  <a:srgbClr val="1A1D21"/>
                </a:solidFill>
                <a:latin typeface="Georgia" pitchFamily="18" charset="0"/>
                <a:ea typeface="Georgia" pitchFamily="18" charset="-122"/>
                <a:cs typeface="Georgia" pitchFamily="18" charset="-120"/>
              </a:rPr>
              <a:t>AI risk score high?</a:t>
            </a:r>
            <a:endParaRPr lang="en-US" sz="1600" dirty="0"/>
          </a:p>
        </p:txBody>
      </p:sp>
      <p:sp>
        <p:nvSpPr>
          <p:cNvPr id="10" name="Text 8"/>
          <p:cNvSpPr/>
          <p:nvPr/>
        </p:nvSpPr>
        <p:spPr>
          <a:xfrm>
            <a:off x="9753600" y="2164060"/>
            <a:ext cx="1625600" cy="889000"/>
          </a:xfrm>
          <a:prstGeom prst="roundRect">
            <a:avLst>
              <a:gd name="adj" fmla="val 4286"/>
            </a:avLst>
          </a:prstGeom>
          <a:solidFill>
            <a:srgbClr val="1F4E9A"/>
          </a:solidFill>
          <a:ln/>
        </p:spPr>
        <p:txBody>
          <a:bodyPr wrap="square" lIns="65041" tIns="90441" rIns="65041" bIns="90441" rtlCol="0" anchor="ctr">
            <a:normAutofit/>
          </a:bodyPr>
          <a:lstStyle/>
          <a:p>
            <a:pPr algn="ctr" indent="0" marL="0">
              <a:lnSpc>
                <a:spcPts val="2240"/>
              </a:lnSpc>
              <a:buNone/>
            </a:pPr>
            <a:r>
              <a:rPr lang="en-US" sz="1600" b="1" dirty="0">
                <a:solidFill>
                  <a:srgbClr val="FAFAF8"/>
                </a:solidFill>
                <a:latin typeface="Georgia" pitchFamily="18" charset="0"/>
                <a:ea typeface="Georgia" pitchFamily="18" charset="-122"/>
                <a:cs typeface="Georgia" pitchFamily="18" charset="-120"/>
              </a:rPr>
              <a:t>Listed for sealed bids</a:t>
            </a:r>
            <a:endParaRPr lang="en-US" sz="1600" dirty="0"/>
          </a:p>
        </p:txBody>
      </p:sp>
      <p:sp>
        <p:nvSpPr>
          <p:cNvPr id="11" name="Shape 9"/>
          <p:cNvSpPr/>
          <p:nvPr/>
        </p:nvSpPr>
        <p:spPr>
          <a:xfrm>
            <a:off x="3054350" y="4202410"/>
            <a:ext cx="1612900" cy="1003300"/>
          </a:xfrm>
          <a:prstGeom prst="roundRect">
            <a:avLst>
              <a:gd name="adj" fmla="val 3165"/>
            </a:avLst>
          </a:prstGeom>
          <a:solidFill>
            <a:srgbClr val="FFFFFF"/>
          </a:solidFill>
          <a:ln w="12700">
            <a:solidFill>
              <a:srgbClr val="B54A1C"/>
            </a:solidFill>
            <a:prstDash val="dash"/>
          </a:ln>
        </p:spPr>
      </p:sp>
      <p:sp>
        <p:nvSpPr>
          <p:cNvPr id="12" name="Text 10"/>
          <p:cNvSpPr/>
          <p:nvPr/>
        </p:nvSpPr>
        <p:spPr>
          <a:xfrm>
            <a:off x="3187700" y="4335760"/>
            <a:ext cx="1397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A1C"/>
                </a:solidFill>
                <a:latin typeface="Arial" pitchFamily="34" charset="0"/>
                <a:ea typeface="Arial" pitchFamily="34" charset="-122"/>
                <a:cs typeface="Arial" pitchFamily="34" charset="-120"/>
              </a:rPr>
              <a:t>Rejected</a:t>
            </a:r>
            <a:endParaRPr lang="en-US" sz="1200" dirty="0"/>
          </a:p>
        </p:txBody>
      </p:sp>
      <p:sp>
        <p:nvSpPr>
          <p:cNvPr id="13" name="Text 11"/>
          <p:cNvSpPr/>
          <p:nvPr/>
        </p:nvSpPr>
        <p:spPr>
          <a:xfrm>
            <a:off x="3187700" y="4574480"/>
            <a:ext cx="13970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Forged or altered invoice</a:t>
            </a:r>
            <a:endParaRPr lang="en-US" sz="1200" dirty="0"/>
          </a:p>
        </p:txBody>
      </p:sp>
      <p:sp>
        <p:nvSpPr>
          <p:cNvPr id="14" name="Shape 12"/>
          <p:cNvSpPr/>
          <p:nvPr/>
        </p:nvSpPr>
        <p:spPr>
          <a:xfrm>
            <a:off x="5289550" y="4202410"/>
            <a:ext cx="1612900" cy="1003300"/>
          </a:xfrm>
          <a:prstGeom prst="roundRect">
            <a:avLst>
              <a:gd name="adj" fmla="val 3165"/>
            </a:avLst>
          </a:prstGeom>
          <a:solidFill>
            <a:srgbClr val="FFFFFF"/>
          </a:solidFill>
          <a:ln w="12700">
            <a:solidFill>
              <a:srgbClr val="B54A1C"/>
            </a:solidFill>
            <a:prstDash val="dash"/>
          </a:ln>
        </p:spPr>
      </p:sp>
      <p:sp>
        <p:nvSpPr>
          <p:cNvPr id="15" name="Text 13"/>
          <p:cNvSpPr/>
          <p:nvPr/>
        </p:nvSpPr>
        <p:spPr>
          <a:xfrm>
            <a:off x="5422900" y="4335760"/>
            <a:ext cx="1397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A1C"/>
                </a:solidFill>
                <a:latin typeface="Arial" pitchFamily="34" charset="0"/>
                <a:ea typeface="Arial" pitchFamily="34" charset="-122"/>
                <a:cs typeface="Arial" pitchFamily="34" charset="-120"/>
              </a:rPr>
              <a:t>Blocked</a:t>
            </a:r>
            <a:endParaRPr lang="en-US" sz="1200" dirty="0"/>
          </a:p>
        </p:txBody>
      </p:sp>
      <p:sp>
        <p:nvSpPr>
          <p:cNvPr id="16" name="Text 14"/>
          <p:cNvSpPr/>
          <p:nvPr/>
        </p:nvSpPr>
        <p:spPr>
          <a:xfrm>
            <a:off x="5422900" y="4574480"/>
            <a:ext cx="13970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Duplicate; all lenders alerted</a:t>
            </a:r>
            <a:endParaRPr lang="en-US" sz="1200" dirty="0"/>
          </a:p>
        </p:txBody>
      </p:sp>
      <p:sp>
        <p:nvSpPr>
          <p:cNvPr id="17" name="Shape 15"/>
          <p:cNvSpPr/>
          <p:nvPr/>
        </p:nvSpPr>
        <p:spPr>
          <a:xfrm>
            <a:off x="7524750" y="4202410"/>
            <a:ext cx="1612900" cy="1003300"/>
          </a:xfrm>
          <a:prstGeom prst="roundRect">
            <a:avLst>
              <a:gd name="adj" fmla="val 3165"/>
            </a:avLst>
          </a:prstGeom>
          <a:solidFill>
            <a:srgbClr val="FFFFFF"/>
          </a:solidFill>
          <a:ln w="12700">
            <a:solidFill>
              <a:srgbClr val="B54A1C"/>
            </a:solidFill>
            <a:prstDash val="dash"/>
          </a:ln>
        </p:spPr>
      </p:sp>
      <p:sp>
        <p:nvSpPr>
          <p:cNvPr id="18" name="Text 16"/>
          <p:cNvSpPr/>
          <p:nvPr/>
        </p:nvSpPr>
        <p:spPr>
          <a:xfrm>
            <a:off x="7658100" y="4335760"/>
            <a:ext cx="13970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A1C"/>
                </a:solidFill>
                <a:latin typeface="Arial" pitchFamily="34" charset="0"/>
                <a:ea typeface="Arial" pitchFamily="34" charset="-122"/>
                <a:cs typeface="Arial" pitchFamily="34" charset="-120"/>
              </a:rPr>
              <a:t>Held for review</a:t>
            </a:r>
            <a:endParaRPr lang="en-US" sz="1200" dirty="0"/>
          </a:p>
        </p:txBody>
      </p:sp>
      <p:sp>
        <p:nvSpPr>
          <p:cNvPr id="19" name="Text 17"/>
          <p:cNvSpPr/>
          <p:nvPr/>
        </p:nvSpPr>
        <p:spPr>
          <a:xfrm>
            <a:off x="7658100" y="4574480"/>
            <a:ext cx="13970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Buyer co-sign and manual check</a:t>
            </a:r>
            <a:endParaRPr lang="en-US" sz="1200" dirty="0"/>
          </a:p>
        </p:txBody>
      </p:sp>
      <p:pic>
        <p:nvPicPr>
          <p:cNvPr id="20" name="Image 0" descr="connector">    </p:cNvPr>
          <p:cNvPicPr>
            <a:picLocks noChangeAspect="1"/>
          </p:cNvPicPr>
          <p:nvPr/>
        </p:nvPicPr>
        <p:blipFill>
          <a:blip r:embed="rId1"/>
          <a:srcRect l="0" r="0" t="0" b="0"/>
          <a:stretch/>
        </p:blipFill>
        <p:spPr>
          <a:xfrm>
            <a:off x="2400300" y="2570460"/>
            <a:ext cx="685800" cy="76200"/>
          </a:xfrm>
          <a:prstGeom prst="rect">
            <a:avLst/>
          </a:prstGeom>
        </p:spPr>
      </p:pic>
      <p:pic>
        <p:nvPicPr>
          <p:cNvPr id="21" name="Image 1" descr="connector">    </p:cNvPr>
          <p:cNvPicPr>
            <a:picLocks noChangeAspect="1"/>
          </p:cNvPicPr>
          <p:nvPr/>
        </p:nvPicPr>
        <p:blipFill>
          <a:blip r:embed="rId2"/>
          <a:srcRect l="0" r="0" t="0" b="0"/>
          <a:stretch/>
        </p:blipFill>
        <p:spPr>
          <a:xfrm>
            <a:off x="4635500" y="2570460"/>
            <a:ext cx="685800" cy="76200"/>
          </a:xfrm>
          <a:prstGeom prst="rect">
            <a:avLst/>
          </a:prstGeom>
        </p:spPr>
      </p:pic>
      <p:pic>
        <p:nvPicPr>
          <p:cNvPr id="22" name="Image 2" descr="connector">    </p:cNvPr>
          <p:cNvPicPr>
            <a:picLocks noChangeAspect="1"/>
          </p:cNvPicPr>
          <p:nvPr/>
        </p:nvPicPr>
        <p:blipFill>
          <a:blip r:embed="rId3"/>
          <a:srcRect l="0" r="0" t="0" b="0"/>
          <a:stretch/>
        </p:blipFill>
        <p:spPr>
          <a:xfrm>
            <a:off x="6870700" y="2570460"/>
            <a:ext cx="685800" cy="76200"/>
          </a:xfrm>
          <a:prstGeom prst="rect">
            <a:avLst/>
          </a:prstGeom>
        </p:spPr>
      </p:pic>
      <p:pic>
        <p:nvPicPr>
          <p:cNvPr id="23" name="Image 3" descr="connector">    </p:cNvPr>
          <p:cNvPicPr>
            <a:picLocks noChangeAspect="1"/>
          </p:cNvPicPr>
          <p:nvPr/>
        </p:nvPicPr>
        <p:blipFill>
          <a:blip r:embed="rId4"/>
          <a:srcRect l="0" r="0" t="0" b="0"/>
          <a:stretch/>
        </p:blipFill>
        <p:spPr>
          <a:xfrm>
            <a:off x="9105900" y="2570460"/>
            <a:ext cx="685800" cy="76200"/>
          </a:xfrm>
          <a:prstGeom prst="rect">
            <a:avLst/>
          </a:prstGeom>
        </p:spPr>
      </p:pic>
      <p:pic>
        <p:nvPicPr>
          <p:cNvPr id="24" name="Image 4" descr="connector">    </p:cNvPr>
          <p:cNvPicPr>
            <a:picLocks noChangeAspect="1"/>
          </p:cNvPicPr>
          <p:nvPr/>
        </p:nvPicPr>
        <p:blipFill>
          <a:blip r:embed="rId5"/>
          <a:srcRect l="0" r="0" t="0" b="0"/>
          <a:stretch/>
        </p:blipFill>
        <p:spPr>
          <a:xfrm>
            <a:off x="3822700" y="3014960"/>
            <a:ext cx="76200" cy="1219200"/>
          </a:xfrm>
          <a:prstGeom prst="rect">
            <a:avLst/>
          </a:prstGeom>
        </p:spPr>
      </p:pic>
      <p:pic>
        <p:nvPicPr>
          <p:cNvPr id="25" name="Image 5" descr="connector">    </p:cNvPr>
          <p:cNvPicPr>
            <a:picLocks noChangeAspect="1"/>
          </p:cNvPicPr>
          <p:nvPr/>
        </p:nvPicPr>
        <p:blipFill>
          <a:blip r:embed="rId6"/>
          <a:srcRect l="0" r="0" t="0" b="0"/>
          <a:stretch/>
        </p:blipFill>
        <p:spPr>
          <a:xfrm>
            <a:off x="6057900" y="3014960"/>
            <a:ext cx="76200" cy="1219200"/>
          </a:xfrm>
          <a:prstGeom prst="rect">
            <a:avLst/>
          </a:prstGeom>
        </p:spPr>
      </p:pic>
      <p:pic>
        <p:nvPicPr>
          <p:cNvPr id="26" name="Image 6" descr="connector">    </p:cNvPr>
          <p:cNvPicPr>
            <a:picLocks noChangeAspect="1"/>
          </p:cNvPicPr>
          <p:nvPr/>
        </p:nvPicPr>
        <p:blipFill>
          <a:blip r:embed="rId7"/>
          <a:srcRect l="0" r="0" t="0" b="0"/>
          <a:stretch/>
        </p:blipFill>
        <p:spPr>
          <a:xfrm>
            <a:off x="8293100" y="3014960"/>
            <a:ext cx="76200" cy="1219200"/>
          </a:xfrm>
          <a:prstGeom prst="rect">
            <a:avLst/>
          </a:prstGeom>
        </p:spPr>
      </p:pic>
      <p:sp>
        <p:nvSpPr>
          <p:cNvPr id="27" name="Text 18"/>
          <p:cNvSpPr/>
          <p:nvPr/>
        </p:nvSpPr>
        <p:spPr>
          <a:xfrm>
            <a:off x="4699000" y="234186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A1D21"/>
                </a:solidFill>
                <a:latin typeface="Arial" pitchFamily="34" charset="0"/>
                <a:ea typeface="Arial" pitchFamily="34" charset="-122"/>
                <a:cs typeface="Arial" pitchFamily="34" charset="-120"/>
              </a:rPr>
              <a:t>Yes</a:t>
            </a:r>
            <a:endParaRPr lang="en-US" sz="1200" dirty="0"/>
          </a:p>
        </p:txBody>
      </p:sp>
      <p:sp>
        <p:nvSpPr>
          <p:cNvPr id="28" name="Text 19"/>
          <p:cNvSpPr/>
          <p:nvPr/>
        </p:nvSpPr>
        <p:spPr>
          <a:xfrm>
            <a:off x="6934200" y="234186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A1D21"/>
                </a:solidFill>
                <a:latin typeface="Arial" pitchFamily="34" charset="0"/>
                <a:ea typeface="Arial" pitchFamily="34" charset="-122"/>
                <a:cs typeface="Arial" pitchFamily="34" charset="-120"/>
              </a:rPr>
              <a:t>No</a:t>
            </a:r>
            <a:endParaRPr lang="en-US" sz="1200" dirty="0"/>
          </a:p>
        </p:txBody>
      </p:sp>
      <p:sp>
        <p:nvSpPr>
          <p:cNvPr id="29" name="Text 20"/>
          <p:cNvSpPr/>
          <p:nvPr/>
        </p:nvSpPr>
        <p:spPr>
          <a:xfrm>
            <a:off x="9169400" y="2341860"/>
            <a:ext cx="558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A1D21"/>
                </a:solidFill>
                <a:latin typeface="Arial" pitchFamily="34" charset="0"/>
                <a:ea typeface="Arial" pitchFamily="34" charset="-122"/>
                <a:cs typeface="Arial" pitchFamily="34" charset="-120"/>
              </a:rPr>
              <a:t>No</a:t>
            </a:r>
            <a:endParaRPr lang="en-US" sz="1200" dirty="0"/>
          </a:p>
        </p:txBody>
      </p:sp>
      <p:sp>
        <p:nvSpPr>
          <p:cNvPr id="30" name="Text 21"/>
          <p:cNvSpPr/>
          <p:nvPr/>
        </p:nvSpPr>
        <p:spPr>
          <a:xfrm>
            <a:off x="3937000" y="351661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A1C"/>
                </a:solidFill>
                <a:latin typeface="Arial" pitchFamily="34" charset="0"/>
                <a:ea typeface="Arial" pitchFamily="34" charset="-122"/>
                <a:cs typeface="Arial" pitchFamily="34" charset="-120"/>
              </a:rPr>
              <a:t>No</a:t>
            </a:r>
            <a:endParaRPr lang="en-US" sz="1200" dirty="0"/>
          </a:p>
        </p:txBody>
      </p:sp>
      <p:sp>
        <p:nvSpPr>
          <p:cNvPr id="31" name="Text 22"/>
          <p:cNvSpPr/>
          <p:nvPr/>
        </p:nvSpPr>
        <p:spPr>
          <a:xfrm>
            <a:off x="6172200" y="351661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A1C"/>
                </a:solidFill>
                <a:latin typeface="Arial" pitchFamily="34" charset="0"/>
                <a:ea typeface="Arial" pitchFamily="34" charset="-122"/>
                <a:cs typeface="Arial" pitchFamily="34" charset="-120"/>
              </a:rPr>
              <a:t>Yes</a:t>
            </a:r>
            <a:endParaRPr lang="en-US" sz="1200" dirty="0"/>
          </a:p>
        </p:txBody>
      </p:sp>
      <p:sp>
        <p:nvSpPr>
          <p:cNvPr id="32" name="Text 23"/>
          <p:cNvSpPr/>
          <p:nvPr/>
        </p:nvSpPr>
        <p:spPr>
          <a:xfrm>
            <a:off x="8407400" y="3516610"/>
            <a:ext cx="558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A1C"/>
                </a:solidFill>
                <a:latin typeface="Arial" pitchFamily="34" charset="0"/>
                <a:ea typeface="Arial" pitchFamily="34" charset="-122"/>
                <a:cs typeface="Arial" pitchFamily="34" charset="-120"/>
              </a:rPr>
              <a:t>Yes</a:t>
            </a:r>
            <a:endParaRPr lang="en-US" sz="1200" dirty="0"/>
          </a:p>
        </p:txBody>
      </p:sp>
      <p:sp>
        <p:nvSpPr>
          <p:cNvPr id="33" name="Text 24"/>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34" name="Text 25"/>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Four Go chaincode contracts hold all of RASID’s business rules</a:t>
            </a:r>
            <a:endParaRPr lang="en-US" sz="2200" dirty="0"/>
          </a:p>
        </p:txBody>
      </p:sp>
      <p:sp>
        <p:nvSpPr>
          <p:cNvPr id="3" name="Shape 1"/>
          <p:cNvSpPr/>
          <p:nvPr/>
        </p:nvSpPr>
        <p:spPr>
          <a:xfrm>
            <a:off x="812800" y="1402060"/>
            <a:ext cx="10566400" cy="340320"/>
          </a:xfrm>
          <a:prstGeom prst="rect">
            <a:avLst/>
          </a:prstGeom>
          <a:solidFill>
            <a:srgbClr val="EAF0F8"/>
          </a:solidFill>
          <a:ln/>
        </p:spPr>
      </p:sp>
      <p:sp>
        <p:nvSpPr>
          <p:cNvPr id="4" name="Text 2"/>
          <p:cNvSpPr/>
          <p:nvPr/>
        </p:nvSpPr>
        <p:spPr>
          <a:xfrm>
            <a:off x="914400" y="14655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Contract</a:t>
            </a:r>
            <a:endParaRPr lang="en-US" sz="1200" dirty="0"/>
          </a:p>
        </p:txBody>
      </p:sp>
      <p:sp>
        <p:nvSpPr>
          <p:cNvPr id="5" name="Text 3"/>
          <p:cNvSpPr/>
          <p:nvPr/>
        </p:nvSpPr>
        <p:spPr>
          <a:xfrm>
            <a:off x="3108970" y="1465560"/>
            <a:ext cx="430727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Key functions</a:t>
            </a:r>
            <a:endParaRPr lang="en-US" sz="1200" dirty="0"/>
          </a:p>
        </p:txBody>
      </p:sp>
      <p:sp>
        <p:nvSpPr>
          <p:cNvPr id="6" name="Text 4"/>
          <p:cNvSpPr/>
          <p:nvPr/>
        </p:nvSpPr>
        <p:spPr>
          <a:xfrm>
            <a:off x="7493992" y="1465560"/>
            <a:ext cx="38971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What it enforces</a:t>
            </a:r>
            <a:endParaRPr lang="en-US" sz="1200" dirty="0"/>
          </a:p>
        </p:txBody>
      </p:sp>
      <p:sp>
        <p:nvSpPr>
          <p:cNvPr id="7" name="Text 5"/>
          <p:cNvSpPr/>
          <p:nvPr/>
        </p:nvSpPr>
        <p:spPr>
          <a:xfrm>
            <a:off x="914400" y="1805880"/>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InvoiceRegistry</a:t>
            </a:r>
            <a:endParaRPr lang="en-US" sz="1200" dirty="0"/>
          </a:p>
        </p:txBody>
      </p:sp>
      <p:sp>
        <p:nvSpPr>
          <p:cNvPr id="8" name="Text 6"/>
          <p:cNvSpPr/>
          <p:nvPr/>
        </p:nvSpPr>
        <p:spPr>
          <a:xfrm>
            <a:off x="3108970" y="1805880"/>
            <a:ext cx="43072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Courier New" pitchFamily="49" charset="0"/>
                <a:ea typeface="Courier New" pitchFamily="49" charset="-122"/>
                <a:cs typeface="Courier New" pitchFamily="49" charset="-120"/>
              </a:rPr>
              <a:t>RegisterInvoice, AcceptInvoice, MarkOverdue</a:t>
            </a:r>
            <a:endParaRPr lang="en-US" sz="1200" dirty="0"/>
          </a:p>
        </p:txBody>
      </p:sp>
      <p:sp>
        <p:nvSpPr>
          <p:cNvPr id="9" name="Text 7"/>
          <p:cNvSpPr/>
          <p:nvPr/>
        </p:nvSpPr>
        <p:spPr>
          <a:xfrm>
            <a:off x="7493992" y="1805880"/>
            <a:ext cx="38971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IRP signature, unique key, right role per step</a:t>
            </a:r>
            <a:endParaRPr lang="en-US" sz="1200" dirty="0"/>
          </a:p>
        </p:txBody>
      </p:sp>
      <p:sp>
        <p:nvSpPr>
          <p:cNvPr id="10" name="Shape 8"/>
          <p:cNvSpPr/>
          <p:nvPr/>
        </p:nvSpPr>
        <p:spPr>
          <a:xfrm>
            <a:off x="812800" y="2082701"/>
            <a:ext cx="10566400" cy="340320"/>
          </a:xfrm>
          <a:prstGeom prst="rect">
            <a:avLst/>
          </a:prstGeom>
          <a:solidFill>
            <a:srgbClr val="F1F4F9"/>
          </a:solidFill>
          <a:ln/>
        </p:spPr>
      </p:sp>
      <p:sp>
        <p:nvSpPr>
          <p:cNvPr id="11" name="Text 9"/>
          <p:cNvSpPr/>
          <p:nvPr/>
        </p:nvSpPr>
        <p:spPr>
          <a:xfrm>
            <a:off x="914400" y="2146201"/>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Marketplace</a:t>
            </a:r>
            <a:endParaRPr lang="en-US" sz="1200" dirty="0"/>
          </a:p>
        </p:txBody>
      </p:sp>
      <p:sp>
        <p:nvSpPr>
          <p:cNvPr id="12" name="Text 10"/>
          <p:cNvSpPr/>
          <p:nvPr/>
        </p:nvSpPr>
        <p:spPr>
          <a:xfrm>
            <a:off x="3108970" y="2146201"/>
            <a:ext cx="43072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Courier New" pitchFamily="49" charset="0"/>
                <a:ea typeface="Courier New" pitchFamily="49" charset="-122"/>
                <a:cs typeface="Courier New" pitchFamily="49" charset="-120"/>
              </a:rPr>
              <a:t>OpenAuction, SubmitBid, AwardBid</a:t>
            </a:r>
            <a:endParaRPr lang="en-US" sz="1200" dirty="0"/>
          </a:p>
        </p:txBody>
      </p:sp>
      <p:sp>
        <p:nvSpPr>
          <p:cNvPr id="13" name="Text 11"/>
          <p:cNvSpPr/>
          <p:nvPr/>
        </p:nvSpPr>
        <p:spPr>
          <a:xfrm>
            <a:off x="7493992" y="2146201"/>
            <a:ext cx="38971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Sealed bids, bid window, best-rate award</a:t>
            </a:r>
            <a:endParaRPr lang="en-US" sz="1200" dirty="0"/>
          </a:p>
        </p:txBody>
      </p:sp>
      <p:sp>
        <p:nvSpPr>
          <p:cNvPr id="14" name="Text 12"/>
          <p:cNvSpPr/>
          <p:nvPr/>
        </p:nvSpPr>
        <p:spPr>
          <a:xfrm>
            <a:off x="914400" y="2486521"/>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ReceivableToken</a:t>
            </a:r>
            <a:endParaRPr lang="en-US" sz="1200" dirty="0"/>
          </a:p>
        </p:txBody>
      </p:sp>
      <p:sp>
        <p:nvSpPr>
          <p:cNvPr id="15" name="Text 13"/>
          <p:cNvSpPr/>
          <p:nvPr/>
        </p:nvSpPr>
        <p:spPr>
          <a:xfrm>
            <a:off x="3108970" y="2486521"/>
            <a:ext cx="43072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Courier New" pitchFamily="49" charset="0"/>
                <a:ea typeface="Courier New" pitchFamily="49" charset="-122"/>
                <a:cs typeface="Courier New" pitchFamily="49" charset="-120"/>
              </a:rPr>
              <a:t>SplitUnits, TransferUnits, BalanceOf</a:t>
            </a:r>
            <a:endParaRPr lang="en-US" sz="1200" dirty="0"/>
          </a:p>
        </p:txBody>
      </p:sp>
      <p:sp>
        <p:nvSpPr>
          <p:cNvPr id="16" name="Text 14"/>
          <p:cNvSpPr/>
          <p:nvPr/>
        </p:nvSpPr>
        <p:spPr>
          <a:xfrm>
            <a:off x="7493992" y="2486521"/>
            <a:ext cx="38971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Units always sum to the invoice amount</a:t>
            </a:r>
            <a:endParaRPr lang="en-US" sz="1200" dirty="0"/>
          </a:p>
        </p:txBody>
      </p:sp>
      <p:sp>
        <p:nvSpPr>
          <p:cNvPr id="17" name="Shape 15"/>
          <p:cNvSpPr/>
          <p:nvPr/>
        </p:nvSpPr>
        <p:spPr>
          <a:xfrm>
            <a:off x="812800" y="2763341"/>
            <a:ext cx="10566400" cy="340320"/>
          </a:xfrm>
          <a:prstGeom prst="rect">
            <a:avLst/>
          </a:prstGeom>
          <a:solidFill>
            <a:srgbClr val="F1F4F9"/>
          </a:solidFill>
          <a:ln/>
        </p:spPr>
      </p:sp>
      <p:sp>
        <p:nvSpPr>
          <p:cNvPr id="18" name="Text 16"/>
          <p:cNvSpPr/>
          <p:nvPr/>
        </p:nvSpPr>
        <p:spPr>
          <a:xfrm>
            <a:off x="914400" y="2826841"/>
            <a:ext cx="20511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Settlement</a:t>
            </a:r>
            <a:endParaRPr lang="en-US" sz="1200" dirty="0"/>
          </a:p>
        </p:txBody>
      </p:sp>
      <p:sp>
        <p:nvSpPr>
          <p:cNvPr id="19" name="Text 17"/>
          <p:cNvSpPr/>
          <p:nvPr/>
        </p:nvSpPr>
        <p:spPr>
          <a:xfrm>
            <a:off x="3108970" y="2826841"/>
            <a:ext cx="43072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Courier New" pitchFamily="49" charset="0"/>
                <a:ea typeface="Courier New" pitchFamily="49" charset="-122"/>
                <a:cs typeface="Courier New" pitchFamily="49" charset="-120"/>
              </a:rPr>
              <a:t>ConfirmFunding, ConfirmRepayment, Distribute</a:t>
            </a:r>
            <a:endParaRPr lang="en-US" sz="1200" dirty="0"/>
          </a:p>
        </p:txBody>
      </p:sp>
      <p:sp>
        <p:nvSpPr>
          <p:cNvPr id="20" name="Text 18"/>
          <p:cNvSpPr/>
          <p:nvPr/>
        </p:nvSpPr>
        <p:spPr>
          <a:xfrm>
            <a:off x="7493992" y="2826841"/>
            <a:ext cx="38971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One UTR per payment, pro-rata payouts</a:t>
            </a:r>
            <a:endParaRPr lang="en-US" sz="1200" dirty="0"/>
          </a:p>
        </p:txBody>
      </p:sp>
      <p:sp>
        <p:nvSpPr>
          <p:cNvPr id="21" name="Shape 19"/>
          <p:cNvSpPr/>
          <p:nvPr/>
        </p:nvSpPr>
        <p:spPr>
          <a:xfrm>
            <a:off x="815975" y="3360837"/>
            <a:ext cx="5175250" cy="1580952"/>
          </a:xfrm>
          <a:prstGeom prst="roundRect">
            <a:avLst>
              <a:gd name="adj" fmla="val 2209"/>
            </a:avLst>
          </a:prstGeom>
          <a:solidFill>
            <a:srgbClr val="FFFFFF"/>
          </a:solidFill>
          <a:ln w="6350">
            <a:solidFill>
              <a:srgbClr val="C9CED6"/>
            </a:solidFill>
            <a:prstDash val="solid"/>
          </a:ln>
        </p:spPr>
      </p:sp>
      <p:sp>
        <p:nvSpPr>
          <p:cNvPr id="22" name="Text 20"/>
          <p:cNvSpPr/>
          <p:nvPr/>
        </p:nvSpPr>
        <p:spPr>
          <a:xfrm>
            <a:off x="971550" y="3516412"/>
            <a:ext cx="50100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Token record (shared ledger)</a:t>
            </a:r>
            <a:endParaRPr lang="en-US" sz="1400" dirty="0"/>
          </a:p>
        </p:txBody>
      </p:sp>
      <p:sp>
        <p:nvSpPr>
          <p:cNvPr id="23" name="Text 21"/>
          <p:cNvSpPr/>
          <p:nvPr/>
        </p:nvSpPr>
        <p:spPr>
          <a:xfrm>
            <a:off x="971550" y="3780532"/>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key = SHA-256(IRN) · state · amount · dueDate</a:t>
            </a:r>
            <a:endParaRPr lang="en-US" sz="1200" dirty="0"/>
          </a:p>
        </p:txBody>
      </p:sp>
      <p:sp>
        <p:nvSpPr>
          <p:cNvPr id="24" name="Text 22"/>
          <p:cNvSpPr/>
          <p:nvPr/>
        </p:nvSpPr>
        <p:spPr>
          <a:xfrm>
            <a:off x="971550" y="4044652"/>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sellerHash · buyerHash · units[] · holders[]</a:t>
            </a:r>
            <a:endParaRPr lang="en-US" sz="1200" dirty="0"/>
          </a:p>
        </p:txBody>
      </p:sp>
      <p:sp>
        <p:nvSpPr>
          <p:cNvPr id="25" name="Text 23"/>
          <p:cNvSpPr/>
          <p:nvPr/>
        </p:nvSpPr>
        <p:spPr>
          <a:xfrm>
            <a:off x="971550" y="4308773"/>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riskScoreHash · modelVersion</a:t>
            </a:r>
            <a:endParaRPr lang="en-US" sz="1200" dirty="0"/>
          </a:p>
        </p:txBody>
      </p:sp>
      <p:sp>
        <p:nvSpPr>
          <p:cNvPr id="26" name="Text 24"/>
          <p:cNvSpPr/>
          <p:nvPr/>
        </p:nvSpPr>
        <p:spPr>
          <a:xfrm>
            <a:off x="971550" y="4572893"/>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fundingUTR · repaymentUTR · auditTrail</a:t>
            </a:r>
            <a:endParaRPr lang="en-US" sz="1200" dirty="0"/>
          </a:p>
        </p:txBody>
      </p:sp>
      <p:sp>
        <p:nvSpPr>
          <p:cNvPr id="27" name="Shape 25"/>
          <p:cNvSpPr/>
          <p:nvPr/>
        </p:nvSpPr>
        <p:spPr>
          <a:xfrm>
            <a:off x="6200775" y="3360837"/>
            <a:ext cx="5175250" cy="1580952"/>
          </a:xfrm>
          <a:prstGeom prst="roundRect">
            <a:avLst>
              <a:gd name="adj" fmla="val 2209"/>
            </a:avLst>
          </a:prstGeom>
          <a:solidFill>
            <a:srgbClr val="FFFFFF"/>
          </a:solidFill>
          <a:ln w="6350">
            <a:solidFill>
              <a:srgbClr val="C9CED6"/>
            </a:solidFill>
            <a:prstDash val="solid"/>
          </a:ln>
        </p:spPr>
      </p:sp>
      <p:sp>
        <p:nvSpPr>
          <p:cNvPr id="28" name="Text 26"/>
          <p:cNvSpPr/>
          <p:nvPr/>
        </p:nvSpPr>
        <p:spPr>
          <a:xfrm>
            <a:off x="6356350" y="3516412"/>
            <a:ext cx="50100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Private data (KeyDB and collections)</a:t>
            </a:r>
            <a:endParaRPr lang="en-US" sz="1400" dirty="0"/>
          </a:p>
        </p:txBody>
      </p:sp>
      <p:sp>
        <p:nvSpPr>
          <p:cNvPr id="29" name="Text 27"/>
          <p:cNvSpPr/>
          <p:nvPr/>
        </p:nvSpPr>
        <p:spPr>
          <a:xfrm>
            <a:off x="6356350" y="3780532"/>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A1C"/>
                </a:solidFill>
                <a:latin typeface="Courier New" pitchFamily="49" charset="0"/>
                <a:ea typeface="Courier New" pitchFamily="49" charset="-122"/>
                <a:cs typeface="Courier New" pitchFamily="49" charset="-120"/>
              </a:rPr>
              <a:t>bidRate · bidAmount · bidderOrg</a:t>
            </a:r>
            <a:endParaRPr lang="en-US" sz="1200" dirty="0"/>
          </a:p>
        </p:txBody>
      </p:sp>
      <p:sp>
        <p:nvSpPr>
          <p:cNvPr id="30" name="Text 28"/>
          <p:cNvSpPr/>
          <p:nvPr/>
        </p:nvSpPr>
        <p:spPr>
          <a:xfrm>
            <a:off x="6356350" y="4044652"/>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A1C"/>
                </a:solidFill>
                <a:latin typeface="Courier New" pitchFamily="49" charset="0"/>
                <a:ea typeface="Courier New" pitchFamily="49" charset="-122"/>
                <a:cs typeface="Courier New" pitchFamily="49" charset="-120"/>
              </a:rPr>
              <a:t>msmeBankAccount · contactDetails</a:t>
            </a:r>
            <a:endParaRPr lang="en-US" sz="1200" dirty="0"/>
          </a:p>
        </p:txBody>
      </p:sp>
      <p:sp>
        <p:nvSpPr>
          <p:cNvPr id="31" name="Text 29"/>
          <p:cNvSpPr/>
          <p:nvPr/>
        </p:nvSpPr>
        <p:spPr>
          <a:xfrm>
            <a:off x="6356350" y="4308773"/>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54A1C"/>
                </a:solidFill>
                <a:latin typeface="Courier New" pitchFamily="49" charset="0"/>
                <a:ea typeface="Courier New" pitchFamily="49" charset="-122"/>
                <a:cs typeface="Courier New" pitchFamily="49" charset="-120"/>
              </a:rPr>
              <a:t>aaCashFlowSummary (consented)</a:t>
            </a:r>
            <a:endParaRPr lang="en-US" sz="1200" dirty="0"/>
          </a:p>
        </p:txBody>
      </p:sp>
      <p:sp>
        <p:nvSpPr>
          <p:cNvPr id="32" name="Text 30"/>
          <p:cNvSpPr/>
          <p:nvPr/>
        </p:nvSpPr>
        <p:spPr>
          <a:xfrm>
            <a:off x="6356350" y="4572893"/>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Purged after blockToLive, for DPDP compliance</a:t>
            </a:r>
            <a:endParaRPr lang="en-US" sz="1200" dirty="0"/>
          </a:p>
        </p:txBody>
      </p:sp>
      <p:sp>
        <p:nvSpPr>
          <p:cNvPr id="33" name="Text 31"/>
          <p:cNvSpPr/>
          <p:nvPr/>
        </p:nvSpPr>
        <p:spPr>
          <a:xfrm>
            <a:off x="812800" y="519896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Every contract runs under one endorsement policy: the originating organisation and NPCI must both sign.</a:t>
            </a:r>
            <a:endParaRPr lang="en-US" sz="1200" dirty="0"/>
          </a:p>
        </p:txBody>
      </p:sp>
      <p:sp>
        <p:nvSpPr>
          <p:cNvPr id="34" name="Text 32"/>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35" name="Text 33"/>
          <p:cNvSpPr/>
          <p:nvPr/>
        </p:nvSpPr>
        <p:spPr>
          <a:xfrm>
            <a:off x="11170196" y="6238280"/>
            <a:ext cx="20900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The AI layer sees the whole invoice network, which no single lender can</a:t>
            </a:r>
            <a:endParaRPr lang="en-US" sz="2200" dirty="0"/>
          </a:p>
        </p:txBody>
      </p:sp>
      <p:sp>
        <p:nvSpPr>
          <p:cNvPr id="3" name="Shape 1"/>
          <p:cNvSpPr/>
          <p:nvPr/>
        </p:nvSpPr>
        <p:spPr>
          <a:xfrm>
            <a:off x="815975" y="1405235"/>
            <a:ext cx="4819650" cy="3549650"/>
          </a:xfrm>
          <a:prstGeom prst="roundRect">
            <a:avLst>
              <a:gd name="adj" fmla="val 984"/>
            </a:avLst>
          </a:prstGeom>
          <a:solidFill>
            <a:srgbClr val="FFFFFF"/>
          </a:solidFill>
          <a:ln w="6350">
            <a:solidFill>
              <a:srgbClr val="C9CED6"/>
            </a:solidFill>
            <a:prstDash val="solid"/>
          </a:ln>
        </p:spPr>
      </p:sp>
      <p:pic>
        <p:nvPicPr>
          <p:cNvPr id="4" name="Image 0" descr="Invoice network graph: ten firms trading normally and three firms invoicing each other in a circular loop, highlighted in orange">    </p:cNvPr>
          <p:cNvPicPr>
            <a:picLocks noChangeAspect="1"/>
          </p:cNvPicPr>
          <p:nvPr/>
        </p:nvPicPr>
        <p:blipFill>
          <a:blip r:embed="rId1"/>
          <a:srcRect l="0" r="0" t="0" b="0"/>
          <a:stretch/>
        </p:blipFill>
        <p:spPr>
          <a:xfrm>
            <a:off x="812800" y="1402060"/>
            <a:ext cx="4826000" cy="3556000"/>
          </a:xfrm>
          <a:prstGeom prst="rect">
            <a:avLst/>
          </a:prstGeom>
        </p:spPr>
      </p:pic>
      <p:sp>
        <p:nvSpPr>
          <p:cNvPr id="5" name="Text 2"/>
          <p:cNvSpPr/>
          <p:nvPr/>
        </p:nvSpPr>
        <p:spPr>
          <a:xfrm>
            <a:off x="4241800" y="3434060"/>
            <a:ext cx="13208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A1C"/>
                </a:solidFill>
                <a:latin typeface="Arial" pitchFamily="34" charset="0"/>
                <a:ea typeface="Arial" pitchFamily="34" charset="-122"/>
                <a:cs typeface="Arial" pitchFamily="34" charset="-120"/>
              </a:rPr>
              <a:t>Circular loop flagged</a:t>
            </a:r>
            <a:endParaRPr lang="en-US" sz="1200" dirty="0"/>
          </a:p>
        </p:txBody>
      </p:sp>
      <p:sp>
        <p:nvSpPr>
          <p:cNvPr id="6" name="Text 3"/>
          <p:cNvSpPr/>
          <p:nvPr/>
        </p:nvSpPr>
        <p:spPr>
          <a:xfrm>
            <a:off x="812800" y="503426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Each dot is a firm; each line is an invoice between two firms.</a:t>
            </a:r>
            <a:endParaRPr lang="en-US" sz="1200" dirty="0"/>
          </a:p>
        </p:txBody>
      </p:sp>
      <p:sp>
        <p:nvSpPr>
          <p:cNvPr id="7" name="Text 4"/>
          <p:cNvSpPr/>
          <p:nvPr/>
        </p:nvSpPr>
        <p:spPr>
          <a:xfrm>
            <a:off x="6045200" y="1503660"/>
            <a:ext cx="54940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Circular trading</a:t>
            </a:r>
            <a:endParaRPr lang="en-US" sz="1400" dirty="0"/>
          </a:p>
        </p:txBody>
      </p:sp>
      <p:sp>
        <p:nvSpPr>
          <p:cNvPr id="8" name="Text 5"/>
          <p:cNvSpPr/>
          <p:nvPr/>
        </p:nvSpPr>
        <p:spPr>
          <a:xfrm>
            <a:off x="6045200" y="1742380"/>
            <a:ext cx="54940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Graph analysis across all lenders finds loops where related firms bill each other to create fake receivables.</a:t>
            </a:r>
            <a:endParaRPr lang="en-US" sz="1200" dirty="0"/>
          </a:p>
        </p:txBody>
      </p:sp>
      <p:sp>
        <p:nvSpPr>
          <p:cNvPr id="9" name="Text 6"/>
          <p:cNvSpPr/>
          <p:nvPr/>
        </p:nvSpPr>
        <p:spPr>
          <a:xfrm>
            <a:off x="6045200" y="2397621"/>
            <a:ext cx="54940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Near-duplicates</a:t>
            </a:r>
            <a:endParaRPr lang="en-US" sz="1400" dirty="0"/>
          </a:p>
        </p:txBody>
      </p:sp>
      <p:sp>
        <p:nvSpPr>
          <p:cNvPr id="10" name="Text 7"/>
          <p:cNvSpPr/>
          <p:nvPr/>
        </p:nvSpPr>
        <p:spPr>
          <a:xfrm>
            <a:off x="6045200" y="2636341"/>
            <a:ext cx="54940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Fuzzy matching on amount, date, line items and GSTINs catches re-issued invoices that pass the exact-key check.</a:t>
            </a:r>
            <a:endParaRPr lang="en-US" sz="1200" dirty="0"/>
          </a:p>
        </p:txBody>
      </p:sp>
      <p:sp>
        <p:nvSpPr>
          <p:cNvPr id="11" name="Text 8"/>
          <p:cNvSpPr/>
          <p:nvPr/>
        </p:nvSpPr>
        <p:spPr>
          <a:xfrm>
            <a:off x="6045200" y="3291582"/>
            <a:ext cx="54940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Buyer behaviour</a:t>
            </a:r>
            <a:endParaRPr lang="en-US" sz="1400" dirty="0"/>
          </a:p>
        </p:txBody>
      </p:sp>
      <p:sp>
        <p:nvSpPr>
          <p:cNvPr id="12" name="Text 9"/>
          <p:cNvSpPr/>
          <p:nvPr/>
        </p:nvSpPr>
        <p:spPr>
          <a:xfrm>
            <a:off x="6045200" y="3530302"/>
            <a:ext cx="54940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On-ledger repayment history and consented Account Aggregator data, so lenders price on the buyer’s risk.</a:t>
            </a:r>
            <a:endParaRPr lang="en-US" sz="1200" dirty="0"/>
          </a:p>
        </p:txBody>
      </p:sp>
      <p:sp>
        <p:nvSpPr>
          <p:cNvPr id="13" name="Text 10"/>
          <p:cNvSpPr/>
          <p:nvPr/>
        </p:nvSpPr>
        <p:spPr>
          <a:xfrm>
            <a:off x="6045200" y="4185543"/>
            <a:ext cx="549402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Audit trail</a:t>
            </a:r>
            <a:endParaRPr lang="en-US" sz="1400" dirty="0"/>
          </a:p>
        </p:txBody>
      </p:sp>
      <p:sp>
        <p:nvSpPr>
          <p:cNvPr id="14" name="Text 11"/>
          <p:cNvSpPr/>
          <p:nvPr/>
        </p:nvSpPr>
        <p:spPr>
          <a:xfrm>
            <a:off x="6045200" y="4424263"/>
            <a:ext cx="54940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Each score is signed, and its hash and model version are written to the token, so any decision can be audited.</a:t>
            </a:r>
            <a:endParaRPr lang="en-US" sz="1200" dirty="0"/>
          </a:p>
        </p:txBody>
      </p:sp>
      <p:sp>
        <p:nvSpPr>
          <p:cNvPr id="15" name="Shape 12"/>
          <p:cNvSpPr/>
          <p:nvPr/>
        </p:nvSpPr>
        <p:spPr>
          <a:xfrm>
            <a:off x="6054725" y="4977904"/>
            <a:ext cx="0" cy="264120"/>
          </a:xfrm>
          <a:prstGeom prst="line">
            <a:avLst/>
          </a:prstGeom>
          <a:noFill/>
          <a:ln w="19050">
            <a:solidFill>
              <a:srgbClr val="1F4E9A"/>
            </a:solidFill>
            <a:prstDash val="solid"/>
          </a:ln>
        </p:spPr>
      </p:sp>
      <p:sp>
        <p:nvSpPr>
          <p:cNvPr id="16" name="Text 13"/>
          <p:cNvSpPr/>
          <p:nvPr/>
        </p:nvSpPr>
        <p:spPr>
          <a:xfrm>
            <a:off x="6191250" y="5003304"/>
            <a:ext cx="53435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Arial" pitchFamily="34" charset="0"/>
                <a:ea typeface="Arial" pitchFamily="34" charset="-122"/>
                <a:cs typeface="Arial" pitchFamily="34" charset="-120"/>
              </a:rPr>
              <a:t>Prototype: trained on synthetic invoice networks with injected fraud patterns.</a:t>
            </a:r>
            <a:endParaRPr lang="en-US" sz="1200" dirty="0"/>
          </a:p>
        </p:txBody>
      </p:sp>
      <p:sp>
        <p:nvSpPr>
          <p:cNvPr id="17" name="Text 14"/>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18" name="Text 15"/>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How RASID uses each DRUNIX building block</a:t>
            </a:r>
            <a:endParaRPr lang="en-US" sz="2200" dirty="0"/>
          </a:p>
        </p:txBody>
      </p:sp>
      <p:sp>
        <p:nvSpPr>
          <p:cNvPr id="3" name="Shape 1"/>
          <p:cNvSpPr/>
          <p:nvPr/>
        </p:nvSpPr>
        <p:spPr>
          <a:xfrm>
            <a:off x="812800" y="1402060"/>
            <a:ext cx="10566400" cy="340320"/>
          </a:xfrm>
          <a:prstGeom prst="rect">
            <a:avLst/>
          </a:prstGeom>
          <a:solidFill>
            <a:srgbClr val="EAF0F8"/>
          </a:solidFill>
          <a:ln/>
        </p:spPr>
      </p:sp>
      <p:sp>
        <p:nvSpPr>
          <p:cNvPr id="4" name="Text 2"/>
          <p:cNvSpPr/>
          <p:nvPr/>
        </p:nvSpPr>
        <p:spPr>
          <a:xfrm>
            <a:off x="914400" y="1465560"/>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DRUNIX element</a:t>
            </a:r>
            <a:endParaRPr lang="en-US" sz="1200" dirty="0"/>
          </a:p>
        </p:txBody>
      </p:sp>
      <p:sp>
        <p:nvSpPr>
          <p:cNvPr id="5" name="Text 3"/>
          <p:cNvSpPr/>
          <p:nvPr/>
        </p:nvSpPr>
        <p:spPr>
          <a:xfrm>
            <a:off x="3606800" y="1465560"/>
            <a:ext cx="44098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How RASID uses it</a:t>
            </a:r>
            <a:endParaRPr lang="en-US" sz="1200" dirty="0"/>
          </a:p>
        </p:txBody>
      </p:sp>
      <p:sp>
        <p:nvSpPr>
          <p:cNvPr id="6" name="Text 4"/>
          <p:cNvSpPr/>
          <p:nvPr/>
        </p:nvSpPr>
        <p:spPr>
          <a:xfrm>
            <a:off x="8091438" y="1465560"/>
            <a:ext cx="32817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Why it matters</a:t>
            </a:r>
            <a:endParaRPr lang="en-US" sz="1200" dirty="0"/>
          </a:p>
        </p:txBody>
      </p:sp>
      <p:sp>
        <p:nvSpPr>
          <p:cNvPr id="7" name="Text 5"/>
          <p:cNvSpPr/>
          <p:nvPr/>
        </p:nvSpPr>
        <p:spPr>
          <a:xfrm>
            <a:off x="914400" y="1805880"/>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Lite + committing peers</a:t>
            </a:r>
            <a:endParaRPr lang="en-US" sz="1200" dirty="0"/>
          </a:p>
        </p:txBody>
      </p:sp>
      <p:sp>
        <p:nvSpPr>
          <p:cNvPr id="8" name="Text 6"/>
          <p:cNvSpPr/>
          <p:nvPr/>
        </p:nvSpPr>
        <p:spPr>
          <a:xfrm>
            <a:off x="3606800" y="1805880"/>
            <a:ext cx="440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Lite peers scale out; few committers per org</a:t>
            </a:r>
            <a:endParaRPr lang="en-US" sz="1200" dirty="0"/>
          </a:p>
        </p:txBody>
      </p:sp>
      <p:sp>
        <p:nvSpPr>
          <p:cNvPr id="9" name="Text 7"/>
          <p:cNvSpPr/>
          <p:nvPr/>
        </p:nvSpPr>
        <p:spPr>
          <a:xfrm>
            <a:off x="8091438" y="1805880"/>
            <a:ext cx="328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Absorbs month-end spikes cheaply</a:t>
            </a:r>
            <a:endParaRPr lang="en-US" sz="1200" dirty="0"/>
          </a:p>
        </p:txBody>
      </p:sp>
      <p:sp>
        <p:nvSpPr>
          <p:cNvPr id="10" name="Shape 8"/>
          <p:cNvSpPr/>
          <p:nvPr/>
        </p:nvSpPr>
        <p:spPr>
          <a:xfrm>
            <a:off x="812800" y="2082701"/>
            <a:ext cx="10566400" cy="340320"/>
          </a:xfrm>
          <a:prstGeom prst="rect">
            <a:avLst/>
          </a:prstGeom>
          <a:solidFill>
            <a:srgbClr val="F1F4F9"/>
          </a:solidFill>
          <a:ln/>
        </p:spPr>
      </p:sp>
      <p:sp>
        <p:nvSpPr>
          <p:cNvPr id="11" name="Text 9"/>
          <p:cNvSpPr/>
          <p:nvPr/>
        </p:nvSpPr>
        <p:spPr>
          <a:xfrm>
            <a:off x="914400" y="214620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Stateless validation</a:t>
            </a:r>
            <a:endParaRPr lang="en-US" sz="1200" dirty="0"/>
          </a:p>
        </p:txBody>
      </p:sp>
      <p:sp>
        <p:nvSpPr>
          <p:cNvPr id="12" name="Text 10"/>
          <p:cNvSpPr/>
          <p:nvPr/>
        </p:nvSpPr>
        <p:spPr>
          <a:xfrm>
            <a:off x="3606800" y="2146201"/>
            <a:ext cx="440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Checks signatures and policy in its own service</a:t>
            </a:r>
            <a:endParaRPr lang="en-US" sz="1200" dirty="0"/>
          </a:p>
        </p:txBody>
      </p:sp>
      <p:sp>
        <p:nvSpPr>
          <p:cNvPr id="13" name="Text 11"/>
          <p:cNvSpPr/>
          <p:nvPr/>
        </p:nvSpPr>
        <p:spPr>
          <a:xfrm>
            <a:off x="8091438" y="2146201"/>
            <a:ext cx="328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Stays fast while commits continue</a:t>
            </a:r>
            <a:endParaRPr lang="en-US" sz="1200" dirty="0"/>
          </a:p>
        </p:txBody>
      </p:sp>
      <p:sp>
        <p:nvSpPr>
          <p:cNvPr id="14" name="Text 12"/>
          <p:cNvSpPr/>
          <p:nvPr/>
        </p:nvSpPr>
        <p:spPr>
          <a:xfrm>
            <a:off x="914400" y="248652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YugabyteDB state</a:t>
            </a:r>
            <a:endParaRPr lang="en-US" sz="1200" dirty="0"/>
          </a:p>
        </p:txBody>
      </p:sp>
      <p:sp>
        <p:nvSpPr>
          <p:cNvPr id="15" name="Text 13"/>
          <p:cNvSpPr/>
          <p:nvPr/>
        </p:nvSpPr>
        <p:spPr>
          <a:xfrm>
            <a:off x="3606800" y="2486521"/>
            <a:ext cx="440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Token state with SQL for exposure reports</a:t>
            </a:r>
            <a:endParaRPr lang="en-US" sz="1200" dirty="0"/>
          </a:p>
        </p:txBody>
      </p:sp>
      <p:sp>
        <p:nvSpPr>
          <p:cNvPr id="16" name="Text 14"/>
          <p:cNvSpPr/>
          <p:nvPr/>
        </p:nvSpPr>
        <p:spPr>
          <a:xfrm>
            <a:off x="8091438" y="2486521"/>
            <a:ext cx="328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LevelDB and CouchDB lack SQL at scale</a:t>
            </a:r>
            <a:endParaRPr lang="en-US" sz="1200" dirty="0"/>
          </a:p>
        </p:txBody>
      </p:sp>
      <p:sp>
        <p:nvSpPr>
          <p:cNvPr id="17" name="Shape 15"/>
          <p:cNvSpPr/>
          <p:nvPr/>
        </p:nvSpPr>
        <p:spPr>
          <a:xfrm>
            <a:off x="812800" y="2763341"/>
            <a:ext cx="10566400" cy="340320"/>
          </a:xfrm>
          <a:prstGeom prst="rect">
            <a:avLst/>
          </a:prstGeom>
          <a:solidFill>
            <a:srgbClr val="F1F4F9"/>
          </a:solidFill>
          <a:ln/>
        </p:spPr>
      </p:sp>
      <p:sp>
        <p:nvSpPr>
          <p:cNvPr id="18" name="Text 16"/>
          <p:cNvSpPr/>
          <p:nvPr/>
        </p:nvSpPr>
        <p:spPr>
          <a:xfrm>
            <a:off x="914400" y="28268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KeyDB + private data</a:t>
            </a:r>
            <a:endParaRPr lang="en-US" sz="1200" dirty="0"/>
          </a:p>
        </p:txBody>
      </p:sp>
      <p:sp>
        <p:nvSpPr>
          <p:cNvPr id="19" name="Text 17"/>
          <p:cNvSpPr/>
          <p:nvPr/>
        </p:nvSpPr>
        <p:spPr>
          <a:xfrm>
            <a:off x="3606800" y="2826841"/>
            <a:ext cx="440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Bids and bank details stay off the shared ledger</a:t>
            </a:r>
            <a:endParaRPr lang="en-US" sz="1200" dirty="0"/>
          </a:p>
        </p:txBody>
      </p:sp>
      <p:sp>
        <p:nvSpPr>
          <p:cNvPr id="20" name="Text 18"/>
          <p:cNvSpPr/>
          <p:nvPr/>
        </p:nvSpPr>
        <p:spPr>
          <a:xfrm>
            <a:off x="8091438" y="2826841"/>
            <a:ext cx="328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Pricing stays private but provable</a:t>
            </a:r>
            <a:endParaRPr lang="en-US" sz="1200" dirty="0"/>
          </a:p>
        </p:txBody>
      </p:sp>
      <p:sp>
        <p:nvSpPr>
          <p:cNvPr id="21" name="Text 19"/>
          <p:cNvSpPr/>
          <p:nvPr/>
        </p:nvSpPr>
        <p:spPr>
          <a:xfrm>
            <a:off x="914400" y="3167162"/>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Chaincode (Go)</a:t>
            </a:r>
            <a:endParaRPr lang="en-US" sz="1200" dirty="0"/>
          </a:p>
        </p:txBody>
      </p:sp>
      <p:sp>
        <p:nvSpPr>
          <p:cNvPr id="22" name="Text 20"/>
          <p:cNvSpPr/>
          <p:nvPr/>
        </p:nvSpPr>
        <p:spPr>
          <a:xfrm>
            <a:off x="3606800" y="3167162"/>
            <a:ext cx="440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Registry, auction, token and settlement contracts</a:t>
            </a:r>
            <a:endParaRPr lang="en-US" sz="1200" dirty="0"/>
          </a:p>
        </p:txBody>
      </p:sp>
      <p:sp>
        <p:nvSpPr>
          <p:cNvPr id="23" name="Text 21"/>
          <p:cNvSpPr/>
          <p:nvPr/>
        </p:nvSpPr>
        <p:spPr>
          <a:xfrm>
            <a:off x="8091438" y="3167162"/>
            <a:ext cx="328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All business rules in one audited place</a:t>
            </a:r>
            <a:endParaRPr lang="en-US" sz="1200" dirty="0"/>
          </a:p>
        </p:txBody>
      </p:sp>
      <p:sp>
        <p:nvSpPr>
          <p:cNvPr id="24" name="Shape 22"/>
          <p:cNvSpPr/>
          <p:nvPr/>
        </p:nvSpPr>
        <p:spPr>
          <a:xfrm>
            <a:off x="812800" y="3443982"/>
            <a:ext cx="10566400" cy="340320"/>
          </a:xfrm>
          <a:prstGeom prst="rect">
            <a:avLst/>
          </a:prstGeom>
          <a:solidFill>
            <a:srgbClr val="F1F4F9"/>
          </a:solidFill>
          <a:ln/>
        </p:spPr>
      </p:sp>
      <p:sp>
        <p:nvSpPr>
          <p:cNvPr id="25" name="Text 23"/>
          <p:cNvSpPr/>
          <p:nvPr/>
        </p:nvSpPr>
        <p:spPr>
          <a:xfrm>
            <a:off x="914400" y="3507482"/>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Multi-org network</a:t>
            </a:r>
            <a:endParaRPr lang="en-US" sz="1200" dirty="0"/>
          </a:p>
        </p:txBody>
      </p:sp>
      <p:sp>
        <p:nvSpPr>
          <p:cNvPr id="26" name="Text 24"/>
          <p:cNvSpPr/>
          <p:nvPr/>
        </p:nvSpPr>
        <p:spPr>
          <a:xfrm>
            <a:off x="3606800" y="3507482"/>
            <a:ext cx="440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Banks, NBFCs, TReDS and NPCI as separate orgs</a:t>
            </a:r>
            <a:endParaRPr lang="en-US" sz="1200" dirty="0"/>
          </a:p>
        </p:txBody>
      </p:sp>
      <p:sp>
        <p:nvSpPr>
          <p:cNvPr id="27" name="Text 25"/>
          <p:cNvSpPr/>
          <p:nvPr/>
        </p:nvSpPr>
        <p:spPr>
          <a:xfrm>
            <a:off x="8091438" y="3507482"/>
            <a:ext cx="328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No single lender controls the registry</a:t>
            </a:r>
            <a:endParaRPr lang="en-US" sz="1200" dirty="0"/>
          </a:p>
        </p:txBody>
      </p:sp>
      <p:sp>
        <p:nvSpPr>
          <p:cNvPr id="28" name="Text 26"/>
          <p:cNvSpPr/>
          <p:nvPr/>
        </p:nvSpPr>
        <p:spPr>
          <a:xfrm>
            <a:off x="914400" y="3847802"/>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Falcon</a:t>
            </a:r>
            <a:endParaRPr lang="en-US" sz="1200" dirty="0"/>
          </a:p>
        </p:txBody>
      </p:sp>
      <p:sp>
        <p:nvSpPr>
          <p:cNvPr id="29" name="Text 27"/>
          <p:cNvSpPr/>
          <p:nvPr/>
        </p:nvSpPr>
        <p:spPr>
          <a:xfrm>
            <a:off x="3606800" y="3847802"/>
            <a:ext cx="440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Helm charts for each org’s peers on Kubernetes</a:t>
            </a:r>
            <a:endParaRPr lang="en-US" sz="1200" dirty="0"/>
          </a:p>
        </p:txBody>
      </p:sp>
      <p:sp>
        <p:nvSpPr>
          <p:cNvPr id="30" name="Text 28"/>
          <p:cNvSpPr/>
          <p:nvPr/>
        </p:nvSpPr>
        <p:spPr>
          <a:xfrm>
            <a:off x="8091438" y="3847802"/>
            <a:ext cx="328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Repeatable onboarding for new banks</a:t>
            </a:r>
            <a:endParaRPr lang="en-US" sz="1200" dirty="0"/>
          </a:p>
        </p:txBody>
      </p:sp>
      <p:sp>
        <p:nvSpPr>
          <p:cNvPr id="31" name="Shape 29"/>
          <p:cNvSpPr/>
          <p:nvPr/>
        </p:nvSpPr>
        <p:spPr>
          <a:xfrm>
            <a:off x="812800" y="4124623"/>
            <a:ext cx="10566400" cy="340320"/>
          </a:xfrm>
          <a:prstGeom prst="rect">
            <a:avLst/>
          </a:prstGeom>
          <a:solidFill>
            <a:srgbClr val="F1F4F9"/>
          </a:solidFill>
          <a:ln/>
        </p:spPr>
      </p:sp>
      <p:sp>
        <p:nvSpPr>
          <p:cNvPr id="32" name="Text 30"/>
          <p:cNvSpPr/>
          <p:nvPr/>
        </p:nvSpPr>
        <p:spPr>
          <a:xfrm>
            <a:off x="914400" y="4188123"/>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APIs and integrations</a:t>
            </a:r>
            <a:endParaRPr lang="en-US" sz="1200" dirty="0"/>
          </a:p>
        </p:txBody>
      </p:sp>
      <p:sp>
        <p:nvSpPr>
          <p:cNvPr id="33" name="Text 31"/>
          <p:cNvSpPr/>
          <p:nvPr/>
        </p:nvSpPr>
        <p:spPr>
          <a:xfrm>
            <a:off x="3606800" y="4188123"/>
            <a:ext cx="44098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UPI, IMPS, e-NACH, GST IRP, AA, Caliper</a:t>
            </a:r>
            <a:endParaRPr lang="en-US" sz="1200" dirty="0"/>
          </a:p>
        </p:txBody>
      </p:sp>
      <p:sp>
        <p:nvSpPr>
          <p:cNvPr id="34" name="Text 32"/>
          <p:cNvSpPr/>
          <p:nvPr/>
        </p:nvSpPr>
        <p:spPr>
          <a:xfrm>
            <a:off x="8091438" y="4188123"/>
            <a:ext cx="32817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Real money and identity, no new rails</a:t>
            </a:r>
            <a:endParaRPr lang="en-US" sz="1200" dirty="0"/>
          </a:p>
        </p:txBody>
      </p:sp>
      <p:sp>
        <p:nvSpPr>
          <p:cNvPr id="35" name="Text 33"/>
          <p:cNvSpPr/>
          <p:nvPr/>
        </p:nvSpPr>
        <p:spPr>
          <a:xfrm>
            <a:off x="812800" y="471894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270"/>
                </a:solidFill>
                <a:latin typeface="Arial" pitchFamily="34" charset="0"/>
                <a:ea typeface="Arial" pitchFamily="34" charset="-122"/>
                <a:cs typeface="Arial" pitchFamily="34" charset="-120"/>
              </a:rPr>
              <a:t>Planned contributions back to DRUNIX (Apache 2.0)</a:t>
            </a:r>
            <a:endParaRPr lang="en-US" sz="1200" dirty="0"/>
          </a:p>
        </p:txBody>
      </p:sp>
      <p:sp>
        <p:nvSpPr>
          <p:cNvPr id="36" name="Shape 34"/>
          <p:cNvSpPr/>
          <p:nvPr/>
        </p:nvSpPr>
        <p:spPr>
          <a:xfrm>
            <a:off x="812800" y="5043388"/>
            <a:ext cx="3386634" cy="0"/>
          </a:xfrm>
          <a:prstGeom prst="line">
            <a:avLst/>
          </a:prstGeom>
          <a:noFill/>
          <a:ln w="19050">
            <a:solidFill>
              <a:srgbClr val="1F4E9A"/>
            </a:solidFill>
            <a:prstDash val="solid"/>
          </a:ln>
        </p:spPr>
      </p:sp>
      <p:sp>
        <p:nvSpPr>
          <p:cNvPr id="37" name="Text 35"/>
          <p:cNvSpPr/>
          <p:nvPr/>
        </p:nvSpPr>
        <p:spPr>
          <a:xfrm>
            <a:off x="812800" y="5129113"/>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Caliper benchmark pack</a:t>
            </a:r>
            <a:endParaRPr lang="en-US" sz="1200" dirty="0"/>
          </a:p>
        </p:txBody>
      </p:sp>
      <p:sp>
        <p:nvSpPr>
          <p:cNvPr id="38" name="Text 36"/>
          <p:cNvSpPr/>
          <p:nvPr/>
        </p:nvSpPr>
        <p:spPr>
          <a:xfrm>
            <a:off x="812800" y="5367834"/>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Invoice workloads to test lite-peer scaling</a:t>
            </a:r>
            <a:endParaRPr lang="en-US" sz="1200" dirty="0"/>
          </a:p>
        </p:txBody>
      </p:sp>
      <p:sp>
        <p:nvSpPr>
          <p:cNvPr id="39" name="Shape 37"/>
          <p:cNvSpPr/>
          <p:nvPr/>
        </p:nvSpPr>
        <p:spPr>
          <a:xfrm>
            <a:off x="4402634" y="5043388"/>
            <a:ext cx="3386683" cy="0"/>
          </a:xfrm>
          <a:prstGeom prst="line">
            <a:avLst/>
          </a:prstGeom>
          <a:noFill/>
          <a:ln w="19050">
            <a:solidFill>
              <a:srgbClr val="1F4E9A"/>
            </a:solidFill>
            <a:prstDash val="solid"/>
          </a:ln>
        </p:spPr>
      </p:sp>
      <p:sp>
        <p:nvSpPr>
          <p:cNvPr id="40" name="Text 38"/>
          <p:cNvSpPr/>
          <p:nvPr/>
        </p:nvSpPr>
        <p:spPr>
          <a:xfrm>
            <a:off x="4402634" y="5129113"/>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Sealed-bid auction module</a:t>
            </a:r>
            <a:endParaRPr lang="en-US" sz="1200" dirty="0"/>
          </a:p>
        </p:txBody>
      </p:sp>
      <p:sp>
        <p:nvSpPr>
          <p:cNvPr id="41" name="Text 39"/>
          <p:cNvSpPr/>
          <p:nvPr/>
        </p:nvSpPr>
        <p:spPr>
          <a:xfrm>
            <a:off x="4402634" y="5367834"/>
            <a:ext cx="34882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Reusable chaincode built on private data</a:t>
            </a:r>
            <a:endParaRPr lang="en-US" sz="1200" dirty="0"/>
          </a:p>
        </p:txBody>
      </p:sp>
      <p:sp>
        <p:nvSpPr>
          <p:cNvPr id="42" name="Shape 40"/>
          <p:cNvSpPr/>
          <p:nvPr/>
        </p:nvSpPr>
        <p:spPr>
          <a:xfrm>
            <a:off x="7992517" y="5043388"/>
            <a:ext cx="3386634" cy="0"/>
          </a:xfrm>
          <a:prstGeom prst="line">
            <a:avLst/>
          </a:prstGeom>
          <a:noFill/>
          <a:ln w="19050">
            <a:solidFill>
              <a:srgbClr val="1F4E9A"/>
            </a:solidFill>
            <a:prstDash val="solid"/>
          </a:ln>
        </p:spPr>
      </p:sp>
      <p:sp>
        <p:nvSpPr>
          <p:cNvPr id="43" name="Text 41"/>
          <p:cNvSpPr/>
          <p:nvPr/>
        </p:nvSpPr>
        <p:spPr>
          <a:xfrm>
            <a:off x="7992517" y="5129113"/>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Falcon autoscaling profiles</a:t>
            </a:r>
            <a:endParaRPr lang="en-US" sz="1200" dirty="0"/>
          </a:p>
        </p:txBody>
      </p:sp>
      <p:sp>
        <p:nvSpPr>
          <p:cNvPr id="44" name="Text 42"/>
          <p:cNvSpPr/>
          <p:nvPr/>
        </p:nvSpPr>
        <p:spPr>
          <a:xfrm>
            <a:off x="7992517" y="5367834"/>
            <a:ext cx="34882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KEDA rules that add lite peers under load</a:t>
            </a:r>
            <a:endParaRPr lang="en-US" sz="1200" dirty="0"/>
          </a:p>
        </p:txBody>
      </p:sp>
      <p:sp>
        <p:nvSpPr>
          <p:cNvPr id="45" name="Text 43"/>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46" name="Text 44"/>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At 5% of the delayed-payment pool, RASID saves about ₹790 crore a year</a:t>
            </a:r>
            <a:endParaRPr lang="en-US" sz="2200" dirty="0"/>
          </a:p>
        </p:txBody>
      </p:sp>
      <p:sp>
        <p:nvSpPr>
          <p:cNvPr id="3" name="Text 1"/>
          <p:cNvSpPr/>
          <p:nvPr/>
        </p:nvSpPr>
        <p:spPr>
          <a:xfrm>
            <a:off x="812800" y="1402060"/>
            <a:ext cx="51015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Assumptions (year 3)</a:t>
            </a:r>
            <a:endParaRPr lang="en-US" sz="1400" dirty="0"/>
          </a:p>
        </p:txBody>
      </p:sp>
      <p:sp>
        <p:nvSpPr>
          <p:cNvPr id="4" name="Shape 2"/>
          <p:cNvSpPr/>
          <p:nvPr/>
        </p:nvSpPr>
        <p:spPr>
          <a:xfrm>
            <a:off x="812800" y="1716980"/>
            <a:ext cx="4953000" cy="340320"/>
          </a:xfrm>
          <a:prstGeom prst="rect">
            <a:avLst/>
          </a:prstGeom>
          <a:solidFill>
            <a:srgbClr val="EAF0F8"/>
          </a:solidFill>
          <a:ln/>
        </p:spPr>
      </p:sp>
      <p:sp>
        <p:nvSpPr>
          <p:cNvPr id="5" name="Text 3"/>
          <p:cNvSpPr/>
          <p:nvPr/>
        </p:nvSpPr>
        <p:spPr>
          <a:xfrm>
            <a:off x="914400" y="1780480"/>
            <a:ext cx="19668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Input</a:t>
            </a:r>
            <a:endParaRPr lang="en-US" sz="1200" dirty="0"/>
          </a:p>
        </p:txBody>
      </p:sp>
      <p:sp>
        <p:nvSpPr>
          <p:cNvPr id="6" name="Text 4"/>
          <p:cNvSpPr/>
          <p:nvPr/>
        </p:nvSpPr>
        <p:spPr>
          <a:xfrm>
            <a:off x="3027164" y="1780480"/>
            <a:ext cx="27161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Value</a:t>
            </a:r>
            <a:endParaRPr lang="en-US" sz="1200" dirty="0"/>
          </a:p>
        </p:txBody>
      </p:sp>
      <p:sp>
        <p:nvSpPr>
          <p:cNvPr id="7" name="Text 5"/>
          <p:cNvSpPr/>
          <p:nvPr/>
        </p:nvSpPr>
        <p:spPr>
          <a:xfrm>
            <a:off x="914400" y="2120801"/>
            <a:ext cx="196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Volume financed</a:t>
            </a:r>
            <a:endParaRPr lang="en-US" sz="1200" dirty="0"/>
          </a:p>
        </p:txBody>
      </p:sp>
      <p:sp>
        <p:nvSpPr>
          <p:cNvPr id="8" name="Text 6"/>
          <p:cNvSpPr/>
          <p:nvPr/>
        </p:nvSpPr>
        <p:spPr>
          <a:xfrm>
            <a:off x="3027164" y="2120801"/>
            <a:ext cx="27161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₹50,000 cr, 5% of ₹10.7 lakh cr</a:t>
            </a:r>
            <a:endParaRPr lang="en-US" sz="1200" dirty="0"/>
          </a:p>
        </p:txBody>
      </p:sp>
      <p:sp>
        <p:nvSpPr>
          <p:cNvPr id="9" name="Shape 7"/>
          <p:cNvSpPr/>
          <p:nvPr/>
        </p:nvSpPr>
        <p:spPr>
          <a:xfrm>
            <a:off x="812800" y="2397621"/>
            <a:ext cx="4953000" cy="340320"/>
          </a:xfrm>
          <a:prstGeom prst="rect">
            <a:avLst/>
          </a:prstGeom>
          <a:solidFill>
            <a:srgbClr val="F1F4F9"/>
          </a:solidFill>
          <a:ln/>
        </p:spPr>
      </p:sp>
      <p:sp>
        <p:nvSpPr>
          <p:cNvPr id="10" name="Text 8"/>
          <p:cNvSpPr/>
          <p:nvPr/>
        </p:nvSpPr>
        <p:spPr>
          <a:xfrm>
            <a:off x="914400" y="2461121"/>
            <a:ext cx="196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Average invoice</a:t>
            </a:r>
            <a:endParaRPr lang="en-US" sz="1200" dirty="0"/>
          </a:p>
        </p:txBody>
      </p:sp>
      <p:sp>
        <p:nvSpPr>
          <p:cNvPr id="11" name="Text 9"/>
          <p:cNvSpPr/>
          <p:nvPr/>
        </p:nvSpPr>
        <p:spPr>
          <a:xfrm>
            <a:off x="3027164" y="2461121"/>
            <a:ext cx="27161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₹2 lakh, so 25 lakh invoices</a:t>
            </a:r>
            <a:endParaRPr lang="en-US" sz="1200" dirty="0"/>
          </a:p>
        </p:txBody>
      </p:sp>
      <p:sp>
        <p:nvSpPr>
          <p:cNvPr id="12" name="Text 10"/>
          <p:cNvSpPr/>
          <p:nvPr/>
        </p:nvSpPr>
        <p:spPr>
          <a:xfrm>
            <a:off x="914400" y="2801441"/>
            <a:ext cx="196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MSME cost of credit</a:t>
            </a:r>
            <a:endParaRPr lang="en-US" sz="1200" dirty="0"/>
          </a:p>
        </p:txBody>
      </p:sp>
      <p:sp>
        <p:nvSpPr>
          <p:cNvPr id="13" name="Text 11"/>
          <p:cNvSpPr/>
          <p:nvPr/>
        </p:nvSpPr>
        <p:spPr>
          <a:xfrm>
            <a:off x="3027164" y="2801441"/>
            <a:ext cx="27161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19% informal → 10% with RASID</a:t>
            </a:r>
            <a:endParaRPr lang="en-US" sz="1200" dirty="0"/>
          </a:p>
        </p:txBody>
      </p:sp>
      <p:sp>
        <p:nvSpPr>
          <p:cNvPr id="14" name="Shape 12"/>
          <p:cNvSpPr/>
          <p:nvPr/>
        </p:nvSpPr>
        <p:spPr>
          <a:xfrm>
            <a:off x="812800" y="3078262"/>
            <a:ext cx="4953000" cy="340320"/>
          </a:xfrm>
          <a:prstGeom prst="rect">
            <a:avLst/>
          </a:prstGeom>
          <a:solidFill>
            <a:srgbClr val="F1F4F9"/>
          </a:solidFill>
          <a:ln/>
        </p:spPr>
      </p:sp>
      <p:sp>
        <p:nvSpPr>
          <p:cNvPr id="15" name="Text 13"/>
          <p:cNvSpPr/>
          <p:nvPr/>
        </p:nvSpPr>
        <p:spPr>
          <a:xfrm>
            <a:off x="914400" y="3141762"/>
            <a:ext cx="196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Average tenor</a:t>
            </a:r>
            <a:endParaRPr lang="en-US" sz="1200" dirty="0"/>
          </a:p>
        </p:txBody>
      </p:sp>
      <p:sp>
        <p:nvSpPr>
          <p:cNvPr id="16" name="Text 14"/>
          <p:cNvSpPr/>
          <p:nvPr/>
        </p:nvSpPr>
        <p:spPr>
          <a:xfrm>
            <a:off x="3027164" y="3141762"/>
            <a:ext cx="27161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60 days</a:t>
            </a:r>
            <a:endParaRPr lang="en-US" sz="1200" dirty="0"/>
          </a:p>
        </p:txBody>
      </p:sp>
      <p:sp>
        <p:nvSpPr>
          <p:cNvPr id="17" name="Text 15"/>
          <p:cNvSpPr/>
          <p:nvPr/>
        </p:nvSpPr>
        <p:spPr>
          <a:xfrm>
            <a:off x="914400" y="3482082"/>
            <a:ext cx="196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Ops saving per invoice</a:t>
            </a:r>
            <a:endParaRPr lang="en-US" sz="1200" dirty="0"/>
          </a:p>
        </p:txBody>
      </p:sp>
      <p:sp>
        <p:nvSpPr>
          <p:cNvPr id="18" name="Text 16"/>
          <p:cNvSpPr/>
          <p:nvPr/>
        </p:nvSpPr>
        <p:spPr>
          <a:xfrm>
            <a:off x="3027164" y="3482082"/>
            <a:ext cx="27161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₹200 of manual checks</a:t>
            </a:r>
            <a:endParaRPr lang="en-US" sz="1200" dirty="0"/>
          </a:p>
        </p:txBody>
      </p:sp>
      <p:sp>
        <p:nvSpPr>
          <p:cNvPr id="19" name="Shape 17"/>
          <p:cNvSpPr/>
          <p:nvPr/>
        </p:nvSpPr>
        <p:spPr>
          <a:xfrm>
            <a:off x="812800" y="3758902"/>
            <a:ext cx="4953000" cy="340320"/>
          </a:xfrm>
          <a:prstGeom prst="rect">
            <a:avLst/>
          </a:prstGeom>
          <a:solidFill>
            <a:srgbClr val="F1F4F9"/>
          </a:solidFill>
          <a:ln/>
        </p:spPr>
      </p:sp>
      <p:sp>
        <p:nvSpPr>
          <p:cNvPr id="20" name="Text 18"/>
          <p:cNvSpPr/>
          <p:nvPr/>
        </p:nvSpPr>
        <p:spPr>
          <a:xfrm>
            <a:off x="914400" y="3822402"/>
            <a:ext cx="19668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Financed per MSME</a:t>
            </a:r>
            <a:endParaRPr lang="en-US" sz="1200" dirty="0"/>
          </a:p>
        </p:txBody>
      </p:sp>
      <p:sp>
        <p:nvSpPr>
          <p:cNvPr id="21" name="Text 19"/>
          <p:cNvSpPr/>
          <p:nvPr/>
        </p:nvSpPr>
        <p:spPr>
          <a:xfrm>
            <a:off x="3027164" y="3822402"/>
            <a:ext cx="27161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₹1 cr a year, so 50,000 MSMEs</a:t>
            </a:r>
            <a:endParaRPr lang="en-US" sz="1200" dirty="0"/>
          </a:p>
        </p:txBody>
      </p:sp>
      <p:sp>
        <p:nvSpPr>
          <p:cNvPr id="22" name="Text 20"/>
          <p:cNvSpPr/>
          <p:nvPr/>
        </p:nvSpPr>
        <p:spPr>
          <a:xfrm>
            <a:off x="812800" y="4200823"/>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19% is the conservative end of the 18–30% informal range.</a:t>
            </a:r>
            <a:endParaRPr lang="en-US" sz="1200" dirty="0"/>
          </a:p>
        </p:txBody>
      </p:sp>
      <p:sp>
        <p:nvSpPr>
          <p:cNvPr id="23" name="Text 21"/>
          <p:cNvSpPr/>
          <p:nvPr/>
        </p:nvSpPr>
        <p:spPr>
          <a:xfrm>
            <a:off x="6172200" y="1402060"/>
            <a:ext cx="53632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Cost of credit for an MSME</a:t>
            </a:r>
            <a:endParaRPr lang="en-US" sz="1400" dirty="0"/>
          </a:p>
        </p:txBody>
      </p:sp>
      <p:sp>
        <p:nvSpPr>
          <p:cNvPr id="24" name="Text 22"/>
          <p:cNvSpPr/>
          <p:nvPr/>
        </p:nvSpPr>
        <p:spPr>
          <a:xfrm>
            <a:off x="6172200" y="175002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Informal</a:t>
            </a:r>
            <a:endParaRPr lang="en-US" sz="1200" dirty="0"/>
          </a:p>
        </p:txBody>
      </p:sp>
      <p:sp>
        <p:nvSpPr>
          <p:cNvPr id="25" name="Shape 23"/>
          <p:cNvSpPr/>
          <p:nvPr/>
        </p:nvSpPr>
        <p:spPr>
          <a:xfrm>
            <a:off x="7569200" y="1716980"/>
            <a:ext cx="2921000" cy="279400"/>
          </a:xfrm>
          <a:prstGeom prst="rect">
            <a:avLst/>
          </a:prstGeom>
          <a:solidFill>
            <a:srgbClr val="9AA3AF"/>
          </a:solidFill>
          <a:ln/>
        </p:spPr>
      </p:sp>
      <p:sp>
        <p:nvSpPr>
          <p:cNvPr id="26" name="Text 24"/>
          <p:cNvSpPr/>
          <p:nvPr/>
        </p:nvSpPr>
        <p:spPr>
          <a:xfrm>
            <a:off x="10617200" y="1750020"/>
            <a:ext cx="3660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19%</a:t>
            </a:r>
            <a:endParaRPr lang="en-US" sz="1200" dirty="0"/>
          </a:p>
        </p:txBody>
      </p:sp>
      <p:sp>
        <p:nvSpPr>
          <p:cNvPr id="27" name="Text 25"/>
          <p:cNvSpPr/>
          <p:nvPr/>
        </p:nvSpPr>
        <p:spPr>
          <a:xfrm>
            <a:off x="6172200" y="2131020"/>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With RASID</a:t>
            </a:r>
            <a:endParaRPr lang="en-US" sz="1200" dirty="0"/>
          </a:p>
        </p:txBody>
      </p:sp>
      <p:sp>
        <p:nvSpPr>
          <p:cNvPr id="28" name="Shape 26"/>
          <p:cNvSpPr/>
          <p:nvPr/>
        </p:nvSpPr>
        <p:spPr>
          <a:xfrm>
            <a:off x="7569200" y="2097980"/>
            <a:ext cx="1536700" cy="279400"/>
          </a:xfrm>
          <a:prstGeom prst="rect">
            <a:avLst/>
          </a:prstGeom>
          <a:solidFill>
            <a:srgbClr val="1F4E9A"/>
          </a:solidFill>
          <a:ln/>
        </p:spPr>
      </p:sp>
      <p:sp>
        <p:nvSpPr>
          <p:cNvPr id="29" name="Text 27"/>
          <p:cNvSpPr/>
          <p:nvPr/>
        </p:nvSpPr>
        <p:spPr>
          <a:xfrm>
            <a:off x="9232900" y="2131020"/>
            <a:ext cx="3660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10%</a:t>
            </a:r>
            <a:endParaRPr lang="en-US" sz="1200" dirty="0"/>
          </a:p>
        </p:txBody>
      </p:sp>
      <p:sp>
        <p:nvSpPr>
          <p:cNvPr id="30" name="Text 28"/>
          <p:cNvSpPr/>
          <p:nvPr/>
        </p:nvSpPr>
        <p:spPr>
          <a:xfrm>
            <a:off x="6172200" y="2631380"/>
            <a:ext cx="536321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Annual savings, ₹ crore</a:t>
            </a:r>
            <a:endParaRPr lang="en-US" sz="1400" dirty="0"/>
          </a:p>
        </p:txBody>
      </p:sp>
      <p:sp>
        <p:nvSpPr>
          <p:cNvPr id="31" name="Text 29"/>
          <p:cNvSpPr/>
          <p:nvPr/>
        </p:nvSpPr>
        <p:spPr>
          <a:xfrm>
            <a:off x="6172200" y="297934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Interest</a:t>
            </a:r>
            <a:endParaRPr lang="en-US" sz="1200" dirty="0"/>
          </a:p>
        </p:txBody>
      </p:sp>
      <p:sp>
        <p:nvSpPr>
          <p:cNvPr id="32" name="Shape 30"/>
          <p:cNvSpPr/>
          <p:nvPr/>
        </p:nvSpPr>
        <p:spPr>
          <a:xfrm>
            <a:off x="7569200" y="2946301"/>
            <a:ext cx="2921000" cy="279400"/>
          </a:xfrm>
          <a:prstGeom prst="rect">
            <a:avLst/>
          </a:prstGeom>
          <a:solidFill>
            <a:srgbClr val="1F4E9A"/>
          </a:solidFill>
          <a:ln/>
        </p:spPr>
      </p:sp>
      <p:sp>
        <p:nvSpPr>
          <p:cNvPr id="33" name="Text 31"/>
          <p:cNvSpPr/>
          <p:nvPr/>
        </p:nvSpPr>
        <p:spPr>
          <a:xfrm>
            <a:off x="10617200" y="2979341"/>
            <a:ext cx="3051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740</a:t>
            </a:r>
            <a:endParaRPr lang="en-US" sz="1200" dirty="0"/>
          </a:p>
        </p:txBody>
      </p:sp>
      <p:sp>
        <p:nvSpPr>
          <p:cNvPr id="34" name="Text 32"/>
          <p:cNvSpPr/>
          <p:nvPr/>
        </p:nvSpPr>
        <p:spPr>
          <a:xfrm>
            <a:off x="6172200" y="336034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Operations</a:t>
            </a:r>
            <a:endParaRPr lang="en-US" sz="1200" dirty="0"/>
          </a:p>
        </p:txBody>
      </p:sp>
      <p:sp>
        <p:nvSpPr>
          <p:cNvPr id="35" name="Shape 33"/>
          <p:cNvSpPr/>
          <p:nvPr/>
        </p:nvSpPr>
        <p:spPr>
          <a:xfrm>
            <a:off x="7569200" y="3327301"/>
            <a:ext cx="196850" cy="279400"/>
          </a:xfrm>
          <a:prstGeom prst="rect">
            <a:avLst/>
          </a:prstGeom>
          <a:solidFill>
            <a:srgbClr val="1F4E9A"/>
          </a:solidFill>
          <a:ln/>
        </p:spPr>
      </p:sp>
      <p:sp>
        <p:nvSpPr>
          <p:cNvPr id="36" name="Text 34"/>
          <p:cNvSpPr/>
          <p:nvPr/>
        </p:nvSpPr>
        <p:spPr>
          <a:xfrm>
            <a:off x="7893050" y="3360341"/>
            <a:ext cx="2203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50</a:t>
            </a:r>
            <a:endParaRPr lang="en-US" sz="1200" dirty="0"/>
          </a:p>
        </p:txBody>
      </p:sp>
      <p:sp>
        <p:nvSpPr>
          <p:cNvPr id="37" name="Shape 35"/>
          <p:cNvSpPr/>
          <p:nvPr/>
        </p:nvSpPr>
        <p:spPr>
          <a:xfrm>
            <a:off x="6172200" y="3867051"/>
            <a:ext cx="5207000" cy="0"/>
          </a:xfrm>
          <a:prstGeom prst="line">
            <a:avLst/>
          </a:prstGeom>
          <a:noFill/>
          <a:ln w="12700">
            <a:solidFill>
              <a:srgbClr val="1A1D21"/>
            </a:solidFill>
            <a:prstDash val="solid"/>
          </a:ln>
        </p:spPr>
      </p:sp>
      <p:sp>
        <p:nvSpPr>
          <p:cNvPr id="38" name="Text 36"/>
          <p:cNvSpPr/>
          <p:nvPr/>
        </p:nvSpPr>
        <p:spPr>
          <a:xfrm>
            <a:off x="6172200" y="3975001"/>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Courier New" pitchFamily="49" charset="0"/>
                <a:ea typeface="Courier New" pitchFamily="49" charset="-122"/>
                <a:cs typeface="Courier New" pitchFamily="49" charset="-120"/>
              </a:rPr>
              <a:t>₹50,000 cr × 9% × 60/365 ≈ ₹740 cr</a:t>
            </a:r>
            <a:endParaRPr lang="en-US" sz="1200" dirty="0"/>
          </a:p>
        </p:txBody>
      </p:sp>
      <p:sp>
        <p:nvSpPr>
          <p:cNvPr id="39" name="Text 37"/>
          <p:cNvSpPr/>
          <p:nvPr/>
        </p:nvSpPr>
        <p:spPr>
          <a:xfrm>
            <a:off x="6172200" y="4213721"/>
            <a:ext cx="53632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Courier New" pitchFamily="49" charset="0"/>
                <a:ea typeface="Courier New" pitchFamily="49" charset="-122"/>
                <a:cs typeface="Courier New" pitchFamily="49" charset="-120"/>
              </a:rPr>
              <a:t>25 lakh invoices × ₹200 ≈ ₹50 cr</a:t>
            </a:r>
            <a:endParaRPr lang="en-US" sz="1200" dirty="0"/>
          </a:p>
        </p:txBody>
      </p:sp>
      <p:sp>
        <p:nvSpPr>
          <p:cNvPr id="40" name="Text 38"/>
          <p:cNvSpPr/>
          <p:nvPr/>
        </p:nvSpPr>
        <p:spPr>
          <a:xfrm>
            <a:off x="812800" y="46810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Savings scale with volume: about ₹316 cr at 2% of the pool and ₹1,580 cr at 10%. Time to cash falls by over 95%.</a:t>
            </a:r>
            <a:endParaRPr lang="en-US" sz="1200" dirty="0"/>
          </a:p>
        </p:txBody>
      </p:sp>
      <p:sp>
        <p:nvSpPr>
          <p:cNvPr id="41" name="Text 39"/>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42" name="Text 40"/>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RASID adds what today’s invoice-finance options lack</a:t>
            </a:r>
            <a:endParaRPr lang="en-US" sz="2200" dirty="0"/>
          </a:p>
        </p:txBody>
      </p:sp>
      <p:sp>
        <p:nvSpPr>
          <p:cNvPr id="3" name="Shape 1"/>
          <p:cNvSpPr/>
          <p:nvPr/>
        </p:nvSpPr>
        <p:spPr>
          <a:xfrm>
            <a:off x="812800" y="1402060"/>
            <a:ext cx="10566400" cy="340320"/>
          </a:xfrm>
          <a:prstGeom prst="rect">
            <a:avLst/>
          </a:prstGeom>
          <a:solidFill>
            <a:srgbClr val="EAF0F8"/>
          </a:solidFill>
          <a:ln/>
        </p:spPr>
      </p:sp>
      <p:sp>
        <p:nvSpPr>
          <p:cNvPr id="4" name="Text 2"/>
          <p:cNvSpPr/>
          <p:nvPr/>
        </p:nvSpPr>
        <p:spPr>
          <a:xfrm>
            <a:off x="914400" y="1465560"/>
            <a:ext cx="2666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Capability</a:t>
            </a:r>
            <a:endParaRPr lang="en-US" sz="1200" dirty="0"/>
          </a:p>
        </p:txBody>
      </p:sp>
      <p:sp>
        <p:nvSpPr>
          <p:cNvPr id="5" name="Text 3"/>
          <p:cNvSpPr/>
          <p:nvPr/>
        </p:nvSpPr>
        <p:spPr>
          <a:xfrm>
            <a:off x="3706366" y="1465560"/>
            <a:ext cx="379456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Typical today</a:t>
            </a:r>
            <a:endParaRPr lang="en-US" sz="1200" dirty="0"/>
          </a:p>
        </p:txBody>
      </p:sp>
      <p:sp>
        <p:nvSpPr>
          <p:cNvPr id="6" name="Text 4"/>
          <p:cNvSpPr/>
          <p:nvPr/>
        </p:nvSpPr>
        <p:spPr>
          <a:xfrm>
            <a:off x="7593608" y="1465560"/>
            <a:ext cx="37945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RASID on DRUNIX</a:t>
            </a:r>
            <a:endParaRPr lang="en-US" sz="1200" dirty="0"/>
          </a:p>
        </p:txBody>
      </p:sp>
      <p:sp>
        <p:nvSpPr>
          <p:cNvPr id="7" name="Text 5"/>
          <p:cNvSpPr/>
          <p:nvPr/>
        </p:nvSpPr>
        <p:spPr>
          <a:xfrm>
            <a:off x="914400" y="1805880"/>
            <a:ext cx="2666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Duplicate check</a:t>
            </a:r>
            <a:endParaRPr lang="en-US" sz="1200" dirty="0"/>
          </a:p>
        </p:txBody>
      </p:sp>
      <p:sp>
        <p:nvSpPr>
          <p:cNvPr id="8" name="Text 6"/>
          <p:cNvSpPr/>
          <p:nvPr/>
        </p:nvSpPr>
        <p:spPr>
          <a:xfrm>
            <a:off x="3706366" y="1805880"/>
            <a:ext cx="3794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Each lender checks its own books</a:t>
            </a:r>
            <a:endParaRPr lang="en-US" sz="1200" dirty="0"/>
          </a:p>
        </p:txBody>
      </p:sp>
      <p:sp>
        <p:nvSpPr>
          <p:cNvPr id="9" name="Text 7"/>
          <p:cNvSpPr/>
          <p:nvPr/>
        </p:nvSpPr>
        <p:spPr>
          <a:xfrm>
            <a:off x="7593608" y="1805880"/>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One registry across all lenders</a:t>
            </a:r>
            <a:endParaRPr lang="en-US" sz="1200" dirty="0"/>
          </a:p>
        </p:txBody>
      </p:sp>
      <p:sp>
        <p:nvSpPr>
          <p:cNvPr id="10" name="Shape 8"/>
          <p:cNvSpPr/>
          <p:nvPr/>
        </p:nvSpPr>
        <p:spPr>
          <a:xfrm>
            <a:off x="812800" y="2082701"/>
            <a:ext cx="10566400" cy="340320"/>
          </a:xfrm>
          <a:prstGeom prst="rect">
            <a:avLst/>
          </a:prstGeom>
          <a:solidFill>
            <a:srgbClr val="F1F4F9"/>
          </a:solidFill>
          <a:ln/>
        </p:spPr>
      </p:sp>
      <p:sp>
        <p:nvSpPr>
          <p:cNvPr id="11" name="Text 9"/>
          <p:cNvSpPr/>
          <p:nvPr/>
        </p:nvSpPr>
        <p:spPr>
          <a:xfrm>
            <a:off x="914400" y="2146201"/>
            <a:ext cx="2666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Invoice authenticity</a:t>
            </a:r>
            <a:endParaRPr lang="en-US" sz="1200" dirty="0"/>
          </a:p>
        </p:txBody>
      </p:sp>
      <p:sp>
        <p:nvSpPr>
          <p:cNvPr id="12" name="Text 10"/>
          <p:cNvSpPr/>
          <p:nvPr/>
        </p:nvSpPr>
        <p:spPr>
          <a:xfrm>
            <a:off x="3706366" y="2146201"/>
            <a:ext cx="3794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PDF upload and manual review</a:t>
            </a:r>
            <a:endParaRPr lang="en-US" sz="1200" dirty="0"/>
          </a:p>
        </p:txBody>
      </p:sp>
      <p:sp>
        <p:nvSpPr>
          <p:cNvPr id="13" name="Text 11"/>
          <p:cNvSpPr/>
          <p:nvPr/>
        </p:nvSpPr>
        <p:spPr>
          <a:xfrm>
            <a:off x="7593608" y="2146201"/>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IRP signature verified in chaincode</a:t>
            </a:r>
            <a:endParaRPr lang="en-US" sz="1200" dirty="0"/>
          </a:p>
        </p:txBody>
      </p:sp>
      <p:sp>
        <p:nvSpPr>
          <p:cNvPr id="14" name="Text 12"/>
          <p:cNvSpPr/>
          <p:nvPr/>
        </p:nvSpPr>
        <p:spPr>
          <a:xfrm>
            <a:off x="914400" y="2486521"/>
            <a:ext cx="2666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Lender pricing</a:t>
            </a:r>
            <a:endParaRPr lang="en-US" sz="1200" dirty="0"/>
          </a:p>
        </p:txBody>
      </p:sp>
      <p:sp>
        <p:nvSpPr>
          <p:cNvPr id="15" name="Text 13"/>
          <p:cNvSpPr/>
          <p:nvPr/>
        </p:nvSpPr>
        <p:spPr>
          <a:xfrm>
            <a:off x="3706366" y="2486521"/>
            <a:ext cx="3794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Bilateral deals or open quotes</a:t>
            </a:r>
            <a:endParaRPr lang="en-US" sz="1200" dirty="0"/>
          </a:p>
        </p:txBody>
      </p:sp>
      <p:sp>
        <p:nvSpPr>
          <p:cNvPr id="16" name="Text 14"/>
          <p:cNvSpPr/>
          <p:nvPr/>
        </p:nvSpPr>
        <p:spPr>
          <a:xfrm>
            <a:off x="7593608" y="2486521"/>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Sealed bids, provable by hash</a:t>
            </a:r>
            <a:endParaRPr lang="en-US" sz="1200" dirty="0"/>
          </a:p>
        </p:txBody>
      </p:sp>
      <p:sp>
        <p:nvSpPr>
          <p:cNvPr id="17" name="Shape 15"/>
          <p:cNvSpPr/>
          <p:nvPr/>
        </p:nvSpPr>
        <p:spPr>
          <a:xfrm>
            <a:off x="812800" y="2763341"/>
            <a:ext cx="10566400" cy="340320"/>
          </a:xfrm>
          <a:prstGeom prst="rect">
            <a:avLst/>
          </a:prstGeom>
          <a:solidFill>
            <a:srgbClr val="F1F4F9"/>
          </a:solidFill>
          <a:ln/>
        </p:spPr>
      </p:sp>
      <p:sp>
        <p:nvSpPr>
          <p:cNvPr id="18" name="Text 16"/>
          <p:cNvSpPr/>
          <p:nvPr/>
        </p:nvSpPr>
        <p:spPr>
          <a:xfrm>
            <a:off x="914400" y="2826841"/>
            <a:ext cx="2666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Settlement</a:t>
            </a:r>
            <a:endParaRPr lang="en-US" sz="1200" dirty="0"/>
          </a:p>
        </p:txBody>
      </p:sp>
      <p:sp>
        <p:nvSpPr>
          <p:cNvPr id="19" name="Text 17"/>
          <p:cNvSpPr/>
          <p:nvPr/>
        </p:nvSpPr>
        <p:spPr>
          <a:xfrm>
            <a:off x="3706366" y="2826841"/>
            <a:ext cx="3794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Manual reconciliation, days</a:t>
            </a:r>
            <a:endParaRPr lang="en-US" sz="1200" dirty="0"/>
          </a:p>
        </p:txBody>
      </p:sp>
      <p:sp>
        <p:nvSpPr>
          <p:cNvPr id="20" name="Text 18"/>
          <p:cNvSpPr/>
          <p:nvPr/>
        </p:nvSpPr>
        <p:spPr>
          <a:xfrm>
            <a:off x="7593608" y="2826841"/>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UTR-confirmed, within hours</a:t>
            </a:r>
            <a:endParaRPr lang="en-US" sz="1200" dirty="0"/>
          </a:p>
        </p:txBody>
      </p:sp>
      <p:sp>
        <p:nvSpPr>
          <p:cNvPr id="21" name="Text 19"/>
          <p:cNvSpPr/>
          <p:nvPr/>
        </p:nvSpPr>
        <p:spPr>
          <a:xfrm>
            <a:off x="914400" y="3167162"/>
            <a:ext cx="2666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Fraud detection</a:t>
            </a:r>
            <a:endParaRPr lang="en-US" sz="1200" dirty="0"/>
          </a:p>
        </p:txBody>
      </p:sp>
      <p:sp>
        <p:nvSpPr>
          <p:cNvPr id="22" name="Text 20"/>
          <p:cNvSpPr/>
          <p:nvPr/>
        </p:nvSpPr>
        <p:spPr>
          <a:xfrm>
            <a:off x="3706366" y="3167162"/>
            <a:ext cx="3794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One lender’s data only</a:t>
            </a:r>
            <a:endParaRPr lang="en-US" sz="1200" dirty="0"/>
          </a:p>
        </p:txBody>
      </p:sp>
      <p:sp>
        <p:nvSpPr>
          <p:cNvPr id="23" name="Text 21"/>
          <p:cNvSpPr/>
          <p:nvPr/>
        </p:nvSpPr>
        <p:spPr>
          <a:xfrm>
            <a:off x="7593608" y="3167162"/>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AI on the network-wide invoice graph</a:t>
            </a:r>
            <a:endParaRPr lang="en-US" sz="1200" dirty="0"/>
          </a:p>
        </p:txBody>
      </p:sp>
      <p:sp>
        <p:nvSpPr>
          <p:cNvPr id="24" name="Shape 22"/>
          <p:cNvSpPr/>
          <p:nvPr/>
        </p:nvSpPr>
        <p:spPr>
          <a:xfrm>
            <a:off x="812800" y="3443982"/>
            <a:ext cx="10566400" cy="340320"/>
          </a:xfrm>
          <a:prstGeom prst="rect">
            <a:avLst/>
          </a:prstGeom>
          <a:solidFill>
            <a:srgbClr val="F1F4F9"/>
          </a:solidFill>
          <a:ln/>
        </p:spPr>
      </p:sp>
      <p:sp>
        <p:nvSpPr>
          <p:cNvPr id="25" name="Text 23"/>
          <p:cNvSpPr/>
          <p:nvPr/>
        </p:nvSpPr>
        <p:spPr>
          <a:xfrm>
            <a:off x="914400" y="3507482"/>
            <a:ext cx="2666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Neutrality</a:t>
            </a:r>
            <a:endParaRPr lang="en-US" sz="1200" dirty="0"/>
          </a:p>
        </p:txBody>
      </p:sp>
      <p:sp>
        <p:nvSpPr>
          <p:cNvPr id="26" name="Text 24"/>
          <p:cNvSpPr/>
          <p:nvPr/>
        </p:nvSpPr>
        <p:spPr>
          <a:xfrm>
            <a:off x="3706366" y="3507482"/>
            <a:ext cx="3794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Platform owned by one party</a:t>
            </a:r>
            <a:endParaRPr lang="en-US" sz="1200" dirty="0"/>
          </a:p>
        </p:txBody>
      </p:sp>
      <p:sp>
        <p:nvSpPr>
          <p:cNvPr id="27" name="Text 25"/>
          <p:cNvSpPr/>
          <p:nvPr/>
        </p:nvSpPr>
        <p:spPr>
          <a:xfrm>
            <a:off x="7593608" y="3507482"/>
            <a:ext cx="37945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Run with NPCI; no member controls it</a:t>
            </a:r>
            <a:endParaRPr lang="en-US" sz="1200" dirty="0"/>
          </a:p>
        </p:txBody>
      </p:sp>
      <p:sp>
        <p:nvSpPr>
          <p:cNvPr id="28" name="Text 26"/>
          <p:cNvSpPr/>
          <p:nvPr/>
        </p:nvSpPr>
        <p:spPr>
          <a:xfrm>
            <a:off x="812800" y="40383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270"/>
                </a:solidFill>
                <a:latin typeface="Arial" pitchFamily="34" charset="0"/>
                <a:ea typeface="Arial" pitchFamily="34" charset="-122"/>
                <a:cs typeface="Arial" pitchFamily="34" charset="-120"/>
              </a:rPr>
              <a:t>Why it is hard to copy</a:t>
            </a:r>
            <a:endParaRPr lang="en-US" sz="1200" dirty="0"/>
          </a:p>
        </p:txBody>
      </p:sp>
      <p:sp>
        <p:nvSpPr>
          <p:cNvPr id="29" name="Shape 27"/>
          <p:cNvSpPr/>
          <p:nvPr/>
        </p:nvSpPr>
        <p:spPr>
          <a:xfrm>
            <a:off x="812800" y="4362748"/>
            <a:ext cx="3386634" cy="0"/>
          </a:xfrm>
          <a:prstGeom prst="line">
            <a:avLst/>
          </a:prstGeom>
          <a:noFill/>
          <a:ln w="19050">
            <a:solidFill>
              <a:srgbClr val="1F4E9A"/>
            </a:solidFill>
            <a:prstDash val="solid"/>
          </a:ln>
        </p:spPr>
      </p:sp>
      <p:sp>
        <p:nvSpPr>
          <p:cNvPr id="30" name="Text 28"/>
          <p:cNvSpPr/>
          <p:nvPr/>
        </p:nvSpPr>
        <p:spPr>
          <a:xfrm>
            <a:off x="812800" y="4448473"/>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Network effect</a:t>
            </a:r>
            <a:endParaRPr lang="en-US" sz="1200" dirty="0"/>
          </a:p>
        </p:txBody>
      </p:sp>
      <p:sp>
        <p:nvSpPr>
          <p:cNvPr id="31" name="Text 29"/>
          <p:cNvSpPr/>
          <p:nvPr/>
        </p:nvSpPr>
        <p:spPr>
          <a:xfrm>
            <a:off x="812800" y="4687193"/>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Each new lender makes double financing harder for every member.</a:t>
            </a:r>
            <a:endParaRPr lang="en-US" sz="1200" dirty="0"/>
          </a:p>
        </p:txBody>
      </p:sp>
      <p:sp>
        <p:nvSpPr>
          <p:cNvPr id="32" name="Shape 30"/>
          <p:cNvSpPr/>
          <p:nvPr/>
        </p:nvSpPr>
        <p:spPr>
          <a:xfrm>
            <a:off x="4402634" y="4362748"/>
            <a:ext cx="3386683" cy="0"/>
          </a:xfrm>
          <a:prstGeom prst="line">
            <a:avLst/>
          </a:prstGeom>
          <a:noFill/>
          <a:ln w="19050">
            <a:solidFill>
              <a:srgbClr val="1F4E9A"/>
            </a:solidFill>
            <a:prstDash val="solid"/>
          </a:ln>
        </p:spPr>
      </p:sp>
      <p:sp>
        <p:nvSpPr>
          <p:cNvPr id="33" name="Text 31"/>
          <p:cNvSpPr/>
          <p:nvPr/>
        </p:nvSpPr>
        <p:spPr>
          <a:xfrm>
            <a:off x="4402634" y="4448473"/>
            <a:ext cx="34882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Neutral operator</a:t>
            </a:r>
            <a:endParaRPr lang="en-US" sz="1200" dirty="0"/>
          </a:p>
        </p:txBody>
      </p:sp>
      <p:sp>
        <p:nvSpPr>
          <p:cNvPr id="34" name="Text 32"/>
          <p:cNvSpPr/>
          <p:nvPr/>
        </p:nvSpPr>
        <p:spPr>
          <a:xfrm>
            <a:off x="4402634" y="4687193"/>
            <a:ext cx="34882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A shared ledger run with NPCI is something no single lender can build.</a:t>
            </a:r>
            <a:endParaRPr lang="en-US" sz="1200" dirty="0"/>
          </a:p>
        </p:txBody>
      </p:sp>
      <p:sp>
        <p:nvSpPr>
          <p:cNvPr id="35" name="Shape 33"/>
          <p:cNvSpPr/>
          <p:nvPr/>
        </p:nvSpPr>
        <p:spPr>
          <a:xfrm>
            <a:off x="7992517" y="4362748"/>
            <a:ext cx="3386634" cy="0"/>
          </a:xfrm>
          <a:prstGeom prst="line">
            <a:avLst/>
          </a:prstGeom>
          <a:noFill/>
          <a:ln w="19050">
            <a:solidFill>
              <a:srgbClr val="1F4E9A"/>
            </a:solidFill>
            <a:prstDash val="solid"/>
          </a:ln>
        </p:spPr>
      </p:sp>
      <p:sp>
        <p:nvSpPr>
          <p:cNvPr id="36" name="Text 34"/>
          <p:cNvSpPr/>
          <p:nvPr/>
        </p:nvSpPr>
        <p:spPr>
          <a:xfrm>
            <a:off x="7992517" y="4448473"/>
            <a:ext cx="348823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Open contributions</a:t>
            </a:r>
            <a:endParaRPr lang="en-US" sz="1200" dirty="0"/>
          </a:p>
        </p:txBody>
      </p:sp>
      <p:sp>
        <p:nvSpPr>
          <p:cNvPr id="37" name="Text 35"/>
          <p:cNvSpPr/>
          <p:nvPr/>
        </p:nvSpPr>
        <p:spPr>
          <a:xfrm>
            <a:off x="7992517" y="4687193"/>
            <a:ext cx="34882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Our DRUNIX modules keep RASID aligned with the platform’s roadmap.</a:t>
            </a:r>
            <a:endParaRPr lang="en-US" sz="1200" dirty="0"/>
          </a:p>
        </p:txBody>
      </p:sp>
      <p:sp>
        <p:nvSpPr>
          <p:cNvPr id="38" name="Text 36"/>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39" name="Text 37"/>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Key risks and how we handle them</a:t>
            </a:r>
            <a:endParaRPr lang="en-US" sz="2200" dirty="0"/>
          </a:p>
        </p:txBody>
      </p:sp>
      <p:sp>
        <p:nvSpPr>
          <p:cNvPr id="3" name="Shape 1"/>
          <p:cNvSpPr/>
          <p:nvPr/>
        </p:nvSpPr>
        <p:spPr>
          <a:xfrm>
            <a:off x="812800" y="1402060"/>
            <a:ext cx="10566400" cy="340320"/>
          </a:xfrm>
          <a:prstGeom prst="rect">
            <a:avLst/>
          </a:prstGeom>
          <a:solidFill>
            <a:srgbClr val="EAF0F8"/>
          </a:solidFill>
          <a:ln/>
        </p:spPr>
      </p:sp>
      <p:sp>
        <p:nvSpPr>
          <p:cNvPr id="4" name="Text 2"/>
          <p:cNvSpPr/>
          <p:nvPr/>
        </p:nvSpPr>
        <p:spPr>
          <a:xfrm>
            <a:off x="914400" y="1465560"/>
            <a:ext cx="18460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Risk</a:t>
            </a:r>
            <a:endParaRPr lang="en-US" sz="1200" dirty="0"/>
          </a:p>
        </p:txBody>
      </p:sp>
      <p:sp>
        <p:nvSpPr>
          <p:cNvPr id="5" name="Text 3"/>
          <p:cNvSpPr/>
          <p:nvPr/>
        </p:nvSpPr>
        <p:spPr>
          <a:xfrm>
            <a:off x="2909838" y="1465560"/>
            <a:ext cx="34868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Why it matters</a:t>
            </a:r>
            <a:endParaRPr lang="en-US" sz="1200" dirty="0"/>
          </a:p>
        </p:txBody>
      </p:sp>
      <p:sp>
        <p:nvSpPr>
          <p:cNvPr id="6" name="Text 4"/>
          <p:cNvSpPr/>
          <p:nvPr/>
        </p:nvSpPr>
        <p:spPr>
          <a:xfrm>
            <a:off x="6498332" y="1465560"/>
            <a:ext cx="49226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Mitigation</a:t>
            </a:r>
            <a:endParaRPr lang="en-US" sz="1200" dirty="0"/>
          </a:p>
        </p:txBody>
      </p:sp>
      <p:sp>
        <p:nvSpPr>
          <p:cNvPr id="7" name="Text 5"/>
          <p:cNvSpPr/>
          <p:nvPr/>
        </p:nvSpPr>
        <p:spPr>
          <a:xfrm>
            <a:off x="914400" y="1805880"/>
            <a:ext cx="184600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Regulation</a:t>
            </a:r>
            <a:endParaRPr lang="en-US" sz="1200" dirty="0"/>
          </a:p>
        </p:txBody>
      </p:sp>
      <p:sp>
        <p:nvSpPr>
          <p:cNvPr id="8" name="Text 6"/>
          <p:cNvSpPr/>
          <p:nvPr/>
        </p:nvSpPr>
        <p:spPr>
          <a:xfrm>
            <a:off x="2909838" y="1805880"/>
            <a:ext cx="34868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Tokenized receivables are new for regulators</a:t>
            </a:r>
            <a:endParaRPr lang="en-US" sz="1200" dirty="0"/>
          </a:p>
        </p:txBody>
      </p:sp>
      <p:sp>
        <p:nvSpPr>
          <p:cNvPr id="9" name="Text 7"/>
          <p:cNvSpPr/>
          <p:nvPr/>
        </p:nvSpPr>
        <p:spPr>
          <a:xfrm>
            <a:off x="6498332" y="1805880"/>
            <a:ext cx="49226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Work within TReDS and factoring rules; apply to the RBI regulatory sandbox</a:t>
            </a:r>
            <a:endParaRPr lang="en-US" sz="1200" dirty="0"/>
          </a:p>
        </p:txBody>
      </p:sp>
      <p:sp>
        <p:nvSpPr>
          <p:cNvPr id="10" name="Shape 8"/>
          <p:cNvSpPr/>
          <p:nvPr/>
        </p:nvSpPr>
        <p:spPr>
          <a:xfrm>
            <a:off x="812800" y="2296021"/>
            <a:ext cx="10566400" cy="553641"/>
          </a:xfrm>
          <a:prstGeom prst="rect">
            <a:avLst/>
          </a:prstGeom>
          <a:solidFill>
            <a:srgbClr val="F1F4F9"/>
          </a:solidFill>
          <a:ln/>
        </p:spPr>
      </p:sp>
      <p:sp>
        <p:nvSpPr>
          <p:cNvPr id="11" name="Text 9"/>
          <p:cNvSpPr/>
          <p:nvPr/>
        </p:nvSpPr>
        <p:spPr>
          <a:xfrm>
            <a:off x="914400" y="2359521"/>
            <a:ext cx="184600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Adoption</a:t>
            </a:r>
            <a:endParaRPr lang="en-US" sz="1200" dirty="0"/>
          </a:p>
        </p:txBody>
      </p:sp>
      <p:sp>
        <p:nvSpPr>
          <p:cNvPr id="12" name="Text 10"/>
          <p:cNvSpPr/>
          <p:nvPr/>
        </p:nvSpPr>
        <p:spPr>
          <a:xfrm>
            <a:off x="2909838" y="2359521"/>
            <a:ext cx="34868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Value grows only as lenders join</a:t>
            </a:r>
            <a:endParaRPr lang="en-US" sz="1200" dirty="0"/>
          </a:p>
        </p:txBody>
      </p:sp>
      <p:sp>
        <p:nvSpPr>
          <p:cNvPr id="13" name="Text 11"/>
          <p:cNvSpPr/>
          <p:nvPr/>
        </p:nvSpPr>
        <p:spPr>
          <a:xfrm>
            <a:off x="6498332" y="2359521"/>
            <a:ext cx="49226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Pilot with one anchor bank and its NBFC partners; buyers accept once for all lenders</a:t>
            </a:r>
            <a:endParaRPr lang="en-US" sz="1200" dirty="0"/>
          </a:p>
        </p:txBody>
      </p:sp>
      <p:sp>
        <p:nvSpPr>
          <p:cNvPr id="14" name="Text 12"/>
          <p:cNvSpPr/>
          <p:nvPr/>
        </p:nvSpPr>
        <p:spPr>
          <a:xfrm>
            <a:off x="914400" y="2913162"/>
            <a:ext cx="184600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Data privacy</a:t>
            </a:r>
            <a:endParaRPr lang="en-US" sz="1200" dirty="0"/>
          </a:p>
        </p:txBody>
      </p:sp>
      <p:sp>
        <p:nvSpPr>
          <p:cNvPr id="15" name="Text 13"/>
          <p:cNvSpPr/>
          <p:nvPr/>
        </p:nvSpPr>
        <p:spPr>
          <a:xfrm>
            <a:off x="2909838" y="2913162"/>
            <a:ext cx="34868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GST and bank data are personal data under DPDP</a:t>
            </a:r>
            <a:endParaRPr lang="en-US" sz="1200" dirty="0"/>
          </a:p>
        </p:txBody>
      </p:sp>
      <p:sp>
        <p:nvSpPr>
          <p:cNvPr id="16" name="Text 14"/>
          <p:cNvSpPr/>
          <p:nvPr/>
        </p:nvSpPr>
        <p:spPr>
          <a:xfrm>
            <a:off x="6498332" y="2913162"/>
            <a:ext cx="49226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Only hashes on-chain; private collections purged on schedule; consent via Account Aggregator</a:t>
            </a:r>
            <a:endParaRPr lang="en-US" sz="1200" dirty="0"/>
          </a:p>
        </p:txBody>
      </p:sp>
      <p:sp>
        <p:nvSpPr>
          <p:cNvPr id="17" name="Shape 15"/>
          <p:cNvSpPr/>
          <p:nvPr/>
        </p:nvSpPr>
        <p:spPr>
          <a:xfrm>
            <a:off x="812800" y="3403302"/>
            <a:ext cx="10566400" cy="340320"/>
          </a:xfrm>
          <a:prstGeom prst="rect">
            <a:avLst/>
          </a:prstGeom>
          <a:solidFill>
            <a:srgbClr val="F1F4F9"/>
          </a:solidFill>
          <a:ln/>
        </p:spPr>
      </p:sp>
      <p:sp>
        <p:nvSpPr>
          <p:cNvPr id="18" name="Text 16"/>
          <p:cNvSpPr/>
          <p:nvPr/>
        </p:nvSpPr>
        <p:spPr>
          <a:xfrm>
            <a:off x="914400" y="3466802"/>
            <a:ext cx="18460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Throughput</a:t>
            </a:r>
            <a:endParaRPr lang="en-US" sz="1200" dirty="0"/>
          </a:p>
        </p:txBody>
      </p:sp>
      <p:sp>
        <p:nvSpPr>
          <p:cNvPr id="19" name="Text 17"/>
          <p:cNvSpPr/>
          <p:nvPr/>
        </p:nvSpPr>
        <p:spPr>
          <a:xfrm>
            <a:off x="2909838" y="3466802"/>
            <a:ext cx="34868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Month-end GST filing creates sharp peaks</a:t>
            </a:r>
            <a:endParaRPr lang="en-US" sz="1200" dirty="0"/>
          </a:p>
        </p:txBody>
      </p:sp>
      <p:sp>
        <p:nvSpPr>
          <p:cNvPr id="20" name="Text 18"/>
          <p:cNvSpPr/>
          <p:nvPr/>
        </p:nvSpPr>
        <p:spPr>
          <a:xfrm>
            <a:off x="6498332" y="3466802"/>
            <a:ext cx="4922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Lite peers autoscale; Caliper benchmarks before any pilot</a:t>
            </a:r>
            <a:endParaRPr lang="en-US" sz="1200" dirty="0"/>
          </a:p>
        </p:txBody>
      </p:sp>
      <p:sp>
        <p:nvSpPr>
          <p:cNvPr id="21" name="Text 19"/>
          <p:cNvSpPr/>
          <p:nvPr/>
        </p:nvSpPr>
        <p:spPr>
          <a:xfrm>
            <a:off x="914400" y="3807123"/>
            <a:ext cx="184600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Model risk</a:t>
            </a:r>
            <a:endParaRPr lang="en-US" sz="1200" dirty="0"/>
          </a:p>
        </p:txBody>
      </p:sp>
      <p:sp>
        <p:nvSpPr>
          <p:cNvPr id="22" name="Text 20"/>
          <p:cNvSpPr/>
          <p:nvPr/>
        </p:nvSpPr>
        <p:spPr>
          <a:xfrm>
            <a:off x="2909838" y="3807123"/>
            <a:ext cx="34868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A false flag could block an honest MSME</a:t>
            </a:r>
            <a:endParaRPr lang="en-US" sz="1200" dirty="0"/>
          </a:p>
        </p:txBody>
      </p:sp>
      <p:sp>
        <p:nvSpPr>
          <p:cNvPr id="23" name="Text 21"/>
          <p:cNvSpPr/>
          <p:nvPr/>
        </p:nvSpPr>
        <p:spPr>
          <a:xfrm>
            <a:off x="6498332" y="3807123"/>
            <a:ext cx="49226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AI only holds invoices for review, never rejects; scores signed and versioned</a:t>
            </a:r>
            <a:endParaRPr lang="en-US" sz="1200" dirty="0"/>
          </a:p>
        </p:txBody>
      </p:sp>
      <p:sp>
        <p:nvSpPr>
          <p:cNvPr id="24" name="Shape 22"/>
          <p:cNvSpPr/>
          <p:nvPr/>
        </p:nvSpPr>
        <p:spPr>
          <a:xfrm>
            <a:off x="812800" y="4297263"/>
            <a:ext cx="10566400" cy="553641"/>
          </a:xfrm>
          <a:prstGeom prst="rect">
            <a:avLst/>
          </a:prstGeom>
          <a:solidFill>
            <a:srgbClr val="F1F4F9"/>
          </a:solidFill>
          <a:ln/>
        </p:spPr>
      </p:sp>
      <p:sp>
        <p:nvSpPr>
          <p:cNvPr id="25" name="Text 23"/>
          <p:cNvSpPr/>
          <p:nvPr/>
        </p:nvSpPr>
        <p:spPr>
          <a:xfrm>
            <a:off x="914400" y="4360763"/>
            <a:ext cx="1846005"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D21"/>
                </a:solidFill>
                <a:latin typeface="Arial" pitchFamily="34" charset="0"/>
                <a:ea typeface="Arial" pitchFamily="34" charset="-122"/>
                <a:cs typeface="Arial" pitchFamily="34" charset="-120"/>
              </a:rPr>
              <a:t>Buyer default</a:t>
            </a:r>
            <a:endParaRPr lang="en-US" sz="1200" dirty="0"/>
          </a:p>
        </p:txBody>
      </p:sp>
      <p:sp>
        <p:nvSpPr>
          <p:cNvPr id="26" name="Text 24"/>
          <p:cNvSpPr/>
          <p:nvPr/>
        </p:nvSpPr>
        <p:spPr>
          <a:xfrm>
            <a:off x="2909838" y="4360763"/>
            <a:ext cx="348685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Lenders lose if the buyer does not pay</a:t>
            </a:r>
            <a:endParaRPr lang="en-US" sz="1200" dirty="0"/>
          </a:p>
        </p:txBody>
      </p:sp>
      <p:sp>
        <p:nvSpPr>
          <p:cNvPr id="27" name="Text 25"/>
          <p:cNvSpPr/>
          <p:nvPr/>
        </p:nvSpPr>
        <p:spPr>
          <a:xfrm>
            <a:off x="6498332" y="4360763"/>
            <a:ext cx="49226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e-NACH mandate at acceptance; priced on buyer risk; OVERDUE and DEFAULTED paths on-chain</a:t>
            </a:r>
            <a:endParaRPr lang="en-US" sz="1200" dirty="0"/>
          </a:p>
        </p:txBody>
      </p:sp>
      <p:sp>
        <p:nvSpPr>
          <p:cNvPr id="28" name="Text 26"/>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29" name="Text 27"/>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60660"/>
          </a:xfrm>
          <a:prstGeom prst="rect">
            <a:avLst/>
          </a:prstGeom>
          <a:noFill/>
          <a:ln/>
        </p:spPr>
        <p:txBody>
          <a:bodyPr wrap="square" lIns="0" tIns="0" rIns="0" bIns="0" rtlCol="0" anchor="t">
            <a:normAutofit/>
          </a:bodyPr>
          <a:lstStyle/>
          <a:p>
            <a:pPr algn="l" indent="0" marL="0">
              <a:lnSpc>
                <a:spcPts val="2640"/>
              </a:lnSpc>
              <a:buNone/>
            </a:pPr>
            <a:r>
              <a:rPr lang="en-US" sz="2200" b="1" i="0" dirty="0">
                <a:solidFill>
                  <a:srgbClr val="1A1D21"/>
                </a:solidFill>
                <a:latin typeface="Georgia" pitchFamily="18" charset="0"/>
                <a:ea typeface="Georgia" pitchFamily="18" charset="-122"/>
                <a:cs typeface="Georgia" pitchFamily="18" charset="-120"/>
              </a:rPr>
              <a:t>Plan: prototype by 22 November, pilot with one bank in 2027</a:t>
            </a:r>
            <a:endParaRPr lang="en-US" sz="2200" dirty="0"/>
          </a:p>
        </p:txBody>
      </p:sp>
      <p:sp>
        <p:nvSpPr>
          <p:cNvPr id="3" name="Text 1"/>
          <p:cNvSpPr/>
          <p:nvPr/>
        </p:nvSpPr>
        <p:spPr>
          <a:xfrm>
            <a:off x="812800" y="1402060"/>
            <a:ext cx="2051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25 Oct</a:t>
            </a:r>
            <a:endParaRPr lang="en-US" sz="1200" dirty="0"/>
          </a:p>
        </p:txBody>
      </p:sp>
      <p:sp>
        <p:nvSpPr>
          <p:cNvPr id="4" name="Text 2"/>
          <p:cNvSpPr/>
          <p:nvPr/>
        </p:nvSpPr>
        <p:spPr>
          <a:xfrm>
            <a:off x="2956520" y="14020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10–22 Nov</a:t>
            </a:r>
            <a:endParaRPr lang="en-US" sz="1200" dirty="0"/>
          </a:p>
        </p:txBody>
      </p:sp>
      <p:sp>
        <p:nvSpPr>
          <p:cNvPr id="5" name="Text 3"/>
          <p:cNvSpPr/>
          <p:nvPr/>
        </p:nvSpPr>
        <p:spPr>
          <a:xfrm>
            <a:off x="5100290" y="14020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22 Nov</a:t>
            </a:r>
            <a:endParaRPr lang="en-US" sz="1200" dirty="0"/>
          </a:p>
        </p:txBody>
      </p:sp>
      <p:sp>
        <p:nvSpPr>
          <p:cNvPr id="6" name="Text 4"/>
          <p:cNvSpPr/>
          <p:nvPr/>
        </p:nvSpPr>
        <p:spPr>
          <a:xfrm>
            <a:off x="7244060" y="14020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4 Dec</a:t>
            </a:r>
            <a:endParaRPr lang="en-US" sz="1200" dirty="0"/>
          </a:p>
        </p:txBody>
      </p:sp>
      <p:sp>
        <p:nvSpPr>
          <p:cNvPr id="7" name="Text 5"/>
          <p:cNvSpPr/>
          <p:nvPr/>
        </p:nvSpPr>
        <p:spPr>
          <a:xfrm>
            <a:off x="9387830" y="1402060"/>
            <a:ext cx="20511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E9A"/>
                </a:solidFill>
                <a:latin typeface="Courier New" pitchFamily="49" charset="0"/>
                <a:ea typeface="Courier New" pitchFamily="49" charset="-122"/>
                <a:cs typeface="Courier New" pitchFamily="49" charset="-120"/>
              </a:rPr>
              <a:t>2027</a:t>
            </a:r>
            <a:endParaRPr lang="en-US" sz="1200" dirty="0"/>
          </a:p>
        </p:txBody>
      </p:sp>
      <p:sp>
        <p:nvSpPr>
          <p:cNvPr id="8" name="Shape 6"/>
          <p:cNvSpPr/>
          <p:nvPr/>
        </p:nvSpPr>
        <p:spPr>
          <a:xfrm>
            <a:off x="812800" y="1786830"/>
            <a:ext cx="10566400" cy="12700"/>
          </a:xfrm>
          <a:prstGeom prst="rect">
            <a:avLst/>
          </a:prstGeom>
          <a:solidFill>
            <a:srgbClr val="A9BEE0"/>
          </a:solidFill>
          <a:ln/>
        </p:spPr>
      </p:sp>
      <p:pic>
        <p:nvPicPr>
          <p:cNvPr id="9" name="Image 0" descr="ellipse">    </p:cNvPr>
          <p:cNvPicPr>
            <a:picLocks noChangeAspect="1"/>
          </p:cNvPicPr>
          <p:nvPr/>
        </p:nvPicPr>
        <p:blipFill>
          <a:blip r:embed="rId1"/>
          <a:srcRect l="0" r="0" t="0" b="0"/>
          <a:stretch/>
        </p:blipFill>
        <p:spPr>
          <a:xfrm>
            <a:off x="812800" y="1742380"/>
            <a:ext cx="101600" cy="101600"/>
          </a:xfrm>
          <a:prstGeom prst="rect">
            <a:avLst/>
          </a:prstGeom>
        </p:spPr>
      </p:pic>
      <p:pic>
        <p:nvPicPr>
          <p:cNvPr id="10" name="Image 1" descr="ellipse">    </p:cNvPr>
          <p:cNvPicPr>
            <a:picLocks noChangeAspect="1"/>
          </p:cNvPicPr>
          <p:nvPr/>
        </p:nvPicPr>
        <p:blipFill>
          <a:blip r:embed="rId2"/>
          <a:srcRect l="0" r="0" t="0" b="0"/>
          <a:stretch/>
        </p:blipFill>
        <p:spPr>
          <a:xfrm>
            <a:off x="2959100" y="1742380"/>
            <a:ext cx="101600" cy="101600"/>
          </a:xfrm>
          <a:prstGeom prst="rect">
            <a:avLst/>
          </a:prstGeom>
        </p:spPr>
      </p:pic>
      <p:pic>
        <p:nvPicPr>
          <p:cNvPr id="11" name="Image 2" descr="ellipse">    </p:cNvPr>
          <p:cNvPicPr>
            <a:picLocks noChangeAspect="1"/>
          </p:cNvPicPr>
          <p:nvPr/>
        </p:nvPicPr>
        <p:blipFill>
          <a:blip r:embed="rId3"/>
          <a:srcRect l="0" r="0" t="0" b="0"/>
          <a:stretch/>
        </p:blipFill>
        <p:spPr>
          <a:xfrm>
            <a:off x="5099050" y="1742380"/>
            <a:ext cx="101600" cy="101600"/>
          </a:xfrm>
          <a:prstGeom prst="rect">
            <a:avLst/>
          </a:prstGeom>
        </p:spPr>
      </p:pic>
      <p:pic>
        <p:nvPicPr>
          <p:cNvPr id="12" name="Image 3" descr="ellipse">    </p:cNvPr>
          <p:cNvPicPr>
            <a:picLocks noChangeAspect="1"/>
          </p:cNvPicPr>
          <p:nvPr/>
        </p:nvPicPr>
        <p:blipFill>
          <a:blip r:embed="rId4"/>
          <a:srcRect l="0" r="0" t="0" b="0"/>
          <a:stretch/>
        </p:blipFill>
        <p:spPr>
          <a:xfrm>
            <a:off x="7245350" y="1742380"/>
            <a:ext cx="101600" cy="101600"/>
          </a:xfrm>
          <a:prstGeom prst="rect">
            <a:avLst/>
          </a:prstGeom>
        </p:spPr>
      </p:pic>
      <p:pic>
        <p:nvPicPr>
          <p:cNvPr id="13" name="Image 4" descr="ellipse">    </p:cNvPr>
          <p:cNvPicPr>
            <a:picLocks noChangeAspect="1"/>
          </p:cNvPicPr>
          <p:nvPr/>
        </p:nvPicPr>
        <p:blipFill>
          <a:blip r:embed="rId5"/>
          <a:srcRect l="0" r="0" t="0" b="0"/>
          <a:stretch/>
        </p:blipFill>
        <p:spPr>
          <a:xfrm>
            <a:off x="9385300" y="1742380"/>
            <a:ext cx="101600" cy="101600"/>
          </a:xfrm>
          <a:prstGeom prst="rect">
            <a:avLst/>
          </a:prstGeom>
        </p:spPr>
      </p:pic>
      <p:sp>
        <p:nvSpPr>
          <p:cNvPr id="14" name="Text 7"/>
          <p:cNvSpPr/>
          <p:nvPr/>
        </p:nvSpPr>
        <p:spPr>
          <a:xfrm>
            <a:off x="812800" y="1970980"/>
            <a:ext cx="205106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Pitch</a:t>
            </a:r>
            <a:endParaRPr lang="en-US" sz="1600" dirty="0"/>
          </a:p>
        </p:txBody>
      </p:sp>
      <p:sp>
        <p:nvSpPr>
          <p:cNvPr id="15" name="Text 8"/>
          <p:cNvSpPr/>
          <p:nvPr/>
        </p:nvSpPr>
        <p:spPr>
          <a:xfrm>
            <a:off x="812800" y="2240211"/>
            <a:ext cx="205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Proposal and this deck submitted</a:t>
            </a:r>
            <a:endParaRPr lang="en-US" sz="1200" dirty="0"/>
          </a:p>
        </p:txBody>
      </p:sp>
      <p:sp>
        <p:nvSpPr>
          <p:cNvPr id="16" name="Text 9"/>
          <p:cNvSpPr/>
          <p:nvPr/>
        </p:nvSpPr>
        <p:spPr>
          <a:xfrm>
            <a:off x="2956520" y="197098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Build</a:t>
            </a:r>
            <a:endParaRPr lang="en-US" sz="1600" dirty="0"/>
          </a:p>
        </p:txBody>
      </p:sp>
      <p:sp>
        <p:nvSpPr>
          <p:cNvPr id="17" name="Text 10"/>
          <p:cNvSpPr/>
          <p:nvPr/>
        </p:nvSpPr>
        <p:spPr>
          <a:xfrm>
            <a:off x="2956520" y="224021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Network, contracts, AI model and demo app</a:t>
            </a:r>
            <a:endParaRPr lang="en-US" sz="1200" dirty="0"/>
          </a:p>
        </p:txBody>
      </p:sp>
      <p:sp>
        <p:nvSpPr>
          <p:cNvPr id="18" name="Text 11"/>
          <p:cNvSpPr/>
          <p:nvPr/>
        </p:nvSpPr>
        <p:spPr>
          <a:xfrm>
            <a:off x="5100290" y="197098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Ship</a:t>
            </a:r>
            <a:endParaRPr lang="en-US" sz="1600" dirty="0"/>
          </a:p>
        </p:txBody>
      </p:sp>
      <p:sp>
        <p:nvSpPr>
          <p:cNvPr id="19" name="Text 12"/>
          <p:cNvSpPr/>
          <p:nvPr/>
        </p:nvSpPr>
        <p:spPr>
          <a:xfrm>
            <a:off x="5100290" y="224021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Code and README in rasid-drunix</a:t>
            </a:r>
            <a:endParaRPr lang="en-US" sz="1200" dirty="0"/>
          </a:p>
        </p:txBody>
      </p:sp>
      <p:sp>
        <p:nvSpPr>
          <p:cNvPr id="20" name="Text 13"/>
          <p:cNvSpPr/>
          <p:nvPr/>
        </p:nvSpPr>
        <p:spPr>
          <a:xfrm>
            <a:off x="7244060" y="197098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Finale</a:t>
            </a:r>
            <a:endParaRPr lang="en-US" sz="1600" dirty="0"/>
          </a:p>
        </p:txBody>
      </p:sp>
      <p:sp>
        <p:nvSpPr>
          <p:cNvPr id="21" name="Text 14"/>
          <p:cNvSpPr/>
          <p:nvPr/>
        </p:nvSpPr>
        <p:spPr>
          <a:xfrm>
            <a:off x="7244060" y="224021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Live demo of one invoice, end to end</a:t>
            </a:r>
            <a:endParaRPr lang="en-US" sz="1200" dirty="0"/>
          </a:p>
        </p:txBody>
      </p:sp>
      <p:sp>
        <p:nvSpPr>
          <p:cNvPr id="22" name="Text 15"/>
          <p:cNvSpPr/>
          <p:nvPr/>
        </p:nvSpPr>
        <p:spPr>
          <a:xfrm>
            <a:off x="9387830" y="1970980"/>
            <a:ext cx="205111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1D21"/>
                </a:solidFill>
                <a:latin typeface="Georgia" pitchFamily="18" charset="0"/>
                <a:ea typeface="Georgia" pitchFamily="18" charset="-122"/>
                <a:cs typeface="Georgia" pitchFamily="18" charset="-120"/>
              </a:rPr>
              <a:t>Pilot</a:t>
            </a:r>
            <a:endParaRPr lang="en-US" sz="1600" dirty="0"/>
          </a:p>
        </p:txBody>
      </p:sp>
      <p:sp>
        <p:nvSpPr>
          <p:cNvPr id="23" name="Text 16"/>
          <p:cNvSpPr/>
          <p:nvPr/>
        </p:nvSpPr>
        <p:spPr>
          <a:xfrm>
            <a:off x="9387830" y="2240211"/>
            <a:ext cx="20511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One anchor bank and its NBFC partners</a:t>
            </a:r>
            <a:endParaRPr lang="en-US" sz="1200" dirty="0"/>
          </a:p>
        </p:txBody>
      </p:sp>
      <p:sp>
        <p:nvSpPr>
          <p:cNvPr id="24" name="Text 17"/>
          <p:cNvSpPr/>
          <p:nvPr/>
        </p:nvSpPr>
        <p:spPr>
          <a:xfrm>
            <a:off x="812800" y="2920851"/>
            <a:ext cx="52324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Prototype scope</a:t>
            </a:r>
            <a:endParaRPr lang="en-US" sz="1400" dirty="0"/>
          </a:p>
        </p:txBody>
      </p:sp>
      <p:sp>
        <p:nvSpPr>
          <p:cNvPr id="25" name="Text 18"/>
          <p:cNvSpPr/>
          <p:nvPr/>
        </p:nvSpPr>
        <p:spPr>
          <a:xfrm>
            <a:off x="812800" y="327387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Three-organisation DRUNIX network deployed with Falcon</a:t>
            </a:r>
            <a:endParaRPr lang="en-US" sz="1200" dirty="0"/>
          </a:p>
        </p:txBody>
      </p:sp>
      <p:sp>
        <p:nvSpPr>
          <p:cNvPr id="26" name="Text 19"/>
          <p:cNvSpPr/>
          <p:nvPr/>
        </p:nvSpPr>
        <p:spPr>
          <a:xfrm>
            <a:off x="812800" y="3614192"/>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Four Go contracts with unit tests</a:t>
            </a:r>
            <a:endParaRPr lang="en-US" sz="1200" dirty="0"/>
          </a:p>
        </p:txBody>
      </p:sp>
      <p:sp>
        <p:nvSpPr>
          <p:cNvPr id="27" name="Text 20"/>
          <p:cNvSpPr/>
          <p:nvPr/>
        </p:nvSpPr>
        <p:spPr>
          <a:xfrm>
            <a:off x="812800" y="3954512"/>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Mock IRP signer and UPI/IMPS sandbox adapters</a:t>
            </a:r>
            <a:endParaRPr lang="en-US" sz="1200" dirty="0"/>
          </a:p>
        </p:txBody>
      </p:sp>
      <p:sp>
        <p:nvSpPr>
          <p:cNvPr id="28" name="Text 21"/>
          <p:cNvSpPr/>
          <p:nvPr/>
        </p:nvSpPr>
        <p:spPr>
          <a:xfrm>
            <a:off x="812800" y="4294832"/>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Fraud model on synthetic invoice graphs</a:t>
            </a:r>
            <a:endParaRPr lang="en-US" sz="1200" dirty="0"/>
          </a:p>
        </p:txBody>
      </p:sp>
      <p:sp>
        <p:nvSpPr>
          <p:cNvPr id="29" name="Text 22"/>
          <p:cNvSpPr/>
          <p:nvPr/>
        </p:nvSpPr>
        <p:spPr>
          <a:xfrm>
            <a:off x="812800" y="4635153"/>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Caliper benchmark of lite-peer scaling</a:t>
            </a:r>
            <a:endParaRPr lang="en-US" sz="1200" dirty="0"/>
          </a:p>
        </p:txBody>
      </p:sp>
      <p:sp>
        <p:nvSpPr>
          <p:cNvPr id="30" name="Text 23"/>
          <p:cNvSpPr/>
          <p:nvPr/>
        </p:nvSpPr>
        <p:spPr>
          <a:xfrm>
            <a:off x="6299200" y="2920851"/>
            <a:ext cx="52324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A1D21"/>
                </a:solidFill>
                <a:latin typeface="Arial" pitchFamily="34" charset="0"/>
                <a:ea typeface="Arial" pitchFamily="34" charset="-122"/>
                <a:cs typeface="Arial" pitchFamily="34" charset="-120"/>
              </a:rPr>
              <a:t>Budget: ₹3,00,000 over 45 days</a:t>
            </a:r>
            <a:endParaRPr lang="en-US" sz="1400" dirty="0"/>
          </a:p>
        </p:txBody>
      </p:sp>
      <p:sp>
        <p:nvSpPr>
          <p:cNvPr id="31" name="Shape 24"/>
          <p:cNvSpPr/>
          <p:nvPr/>
        </p:nvSpPr>
        <p:spPr>
          <a:xfrm>
            <a:off x="6299200" y="3261171"/>
            <a:ext cx="2032000" cy="304800"/>
          </a:xfrm>
          <a:prstGeom prst="rect">
            <a:avLst/>
          </a:prstGeom>
          <a:solidFill>
            <a:srgbClr val="1F4E9A"/>
          </a:solidFill>
          <a:ln/>
        </p:spPr>
      </p:sp>
      <p:sp>
        <p:nvSpPr>
          <p:cNvPr id="32" name="Shape 25"/>
          <p:cNvSpPr/>
          <p:nvPr/>
        </p:nvSpPr>
        <p:spPr>
          <a:xfrm>
            <a:off x="8331200" y="3261171"/>
            <a:ext cx="844550" cy="304800"/>
          </a:xfrm>
          <a:prstGeom prst="rect">
            <a:avLst/>
          </a:prstGeom>
          <a:solidFill>
            <a:srgbClr val="2D5FAF"/>
          </a:solidFill>
          <a:ln/>
        </p:spPr>
      </p:sp>
      <p:sp>
        <p:nvSpPr>
          <p:cNvPr id="33" name="Shape 26"/>
          <p:cNvSpPr/>
          <p:nvPr/>
        </p:nvSpPr>
        <p:spPr>
          <a:xfrm>
            <a:off x="9175750" y="3261171"/>
            <a:ext cx="508000" cy="304800"/>
          </a:xfrm>
          <a:prstGeom prst="rect">
            <a:avLst/>
          </a:prstGeom>
          <a:solidFill>
            <a:srgbClr val="6F8FC7"/>
          </a:solidFill>
          <a:ln/>
        </p:spPr>
      </p:sp>
      <p:sp>
        <p:nvSpPr>
          <p:cNvPr id="34" name="Shape 27"/>
          <p:cNvSpPr/>
          <p:nvPr/>
        </p:nvSpPr>
        <p:spPr>
          <a:xfrm>
            <a:off x="9683750" y="3261171"/>
            <a:ext cx="508000" cy="304800"/>
          </a:xfrm>
          <a:prstGeom prst="rect">
            <a:avLst/>
          </a:prstGeom>
          <a:solidFill>
            <a:srgbClr val="A9BEE0"/>
          </a:solidFill>
          <a:ln/>
        </p:spPr>
      </p:sp>
      <p:sp>
        <p:nvSpPr>
          <p:cNvPr id="35" name="Shape 28"/>
          <p:cNvSpPr/>
          <p:nvPr/>
        </p:nvSpPr>
        <p:spPr>
          <a:xfrm>
            <a:off x="10191750" y="3261171"/>
            <a:ext cx="342900" cy="304800"/>
          </a:xfrm>
          <a:prstGeom prst="rect">
            <a:avLst/>
          </a:prstGeom>
          <a:solidFill>
            <a:srgbClr val="D6E2F5"/>
          </a:solidFill>
          <a:ln/>
        </p:spPr>
      </p:sp>
      <p:sp>
        <p:nvSpPr>
          <p:cNvPr id="36" name="Shape 29"/>
          <p:cNvSpPr/>
          <p:nvPr/>
        </p:nvSpPr>
        <p:spPr>
          <a:xfrm>
            <a:off x="10534650" y="3261171"/>
            <a:ext cx="844550" cy="304800"/>
          </a:xfrm>
          <a:prstGeom prst="rect">
            <a:avLst/>
          </a:prstGeom>
          <a:solidFill>
            <a:srgbClr val="9AA3AF"/>
          </a:solidFill>
          <a:ln/>
        </p:spPr>
      </p:sp>
      <p:sp>
        <p:nvSpPr>
          <p:cNvPr id="37" name="Shape 30"/>
          <p:cNvSpPr/>
          <p:nvPr/>
        </p:nvSpPr>
        <p:spPr>
          <a:xfrm>
            <a:off x="6299200" y="3736132"/>
            <a:ext cx="127000" cy="127000"/>
          </a:xfrm>
          <a:prstGeom prst="rect">
            <a:avLst/>
          </a:prstGeom>
          <a:solidFill>
            <a:srgbClr val="1F4E9A"/>
          </a:solidFill>
          <a:ln/>
        </p:spPr>
      </p:sp>
      <p:sp>
        <p:nvSpPr>
          <p:cNvPr id="38" name="Text 31"/>
          <p:cNvSpPr/>
          <p:nvPr/>
        </p:nvSpPr>
        <p:spPr>
          <a:xfrm>
            <a:off x="6502400" y="3692971"/>
            <a:ext cx="233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Cloud and Kubernetes · ₹1.2 L</a:t>
            </a:r>
            <a:endParaRPr lang="en-US" sz="1200" dirty="0"/>
          </a:p>
        </p:txBody>
      </p:sp>
      <p:sp>
        <p:nvSpPr>
          <p:cNvPr id="39" name="Shape 32"/>
          <p:cNvSpPr/>
          <p:nvPr/>
        </p:nvSpPr>
        <p:spPr>
          <a:xfrm>
            <a:off x="8839200" y="3736132"/>
            <a:ext cx="127000" cy="127000"/>
          </a:xfrm>
          <a:prstGeom prst="rect">
            <a:avLst/>
          </a:prstGeom>
          <a:solidFill>
            <a:srgbClr val="2D5FAF"/>
          </a:solidFill>
          <a:ln/>
        </p:spPr>
      </p:sp>
      <p:sp>
        <p:nvSpPr>
          <p:cNvPr id="40" name="Text 33"/>
          <p:cNvSpPr/>
          <p:nvPr/>
        </p:nvSpPr>
        <p:spPr>
          <a:xfrm>
            <a:off x="9042400" y="3692971"/>
            <a:ext cx="24702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AI model and assistant · ₹50 k</a:t>
            </a:r>
            <a:endParaRPr lang="en-US" sz="1200" dirty="0"/>
          </a:p>
        </p:txBody>
      </p:sp>
      <p:sp>
        <p:nvSpPr>
          <p:cNvPr id="41" name="Shape 34"/>
          <p:cNvSpPr/>
          <p:nvPr/>
        </p:nvSpPr>
        <p:spPr>
          <a:xfrm>
            <a:off x="6299200" y="3949452"/>
            <a:ext cx="127000" cy="127000"/>
          </a:xfrm>
          <a:prstGeom prst="rect">
            <a:avLst/>
          </a:prstGeom>
          <a:solidFill>
            <a:srgbClr val="6F8FC7"/>
          </a:solidFill>
          <a:ln/>
        </p:spPr>
      </p:sp>
      <p:sp>
        <p:nvSpPr>
          <p:cNvPr id="42" name="Text 35"/>
          <p:cNvSpPr/>
          <p:nvPr/>
        </p:nvSpPr>
        <p:spPr>
          <a:xfrm>
            <a:off x="6502400" y="3906292"/>
            <a:ext cx="15757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Integrations · ₹30 k</a:t>
            </a:r>
            <a:endParaRPr lang="en-US" sz="1200" dirty="0"/>
          </a:p>
        </p:txBody>
      </p:sp>
      <p:sp>
        <p:nvSpPr>
          <p:cNvPr id="43" name="Shape 36"/>
          <p:cNvSpPr/>
          <p:nvPr/>
        </p:nvSpPr>
        <p:spPr>
          <a:xfrm>
            <a:off x="8839200" y="3949452"/>
            <a:ext cx="127000" cy="127000"/>
          </a:xfrm>
          <a:prstGeom prst="rect">
            <a:avLst/>
          </a:prstGeom>
          <a:solidFill>
            <a:srgbClr val="A9BEE0"/>
          </a:solidFill>
          <a:ln/>
        </p:spPr>
      </p:sp>
      <p:sp>
        <p:nvSpPr>
          <p:cNvPr id="44" name="Text 37"/>
          <p:cNvSpPr/>
          <p:nvPr/>
        </p:nvSpPr>
        <p:spPr>
          <a:xfrm>
            <a:off x="9042400" y="3906292"/>
            <a:ext cx="1280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Security · ₹30 k</a:t>
            </a:r>
            <a:endParaRPr lang="en-US" sz="1200" dirty="0"/>
          </a:p>
        </p:txBody>
      </p:sp>
      <p:sp>
        <p:nvSpPr>
          <p:cNvPr id="45" name="Shape 38"/>
          <p:cNvSpPr/>
          <p:nvPr/>
        </p:nvSpPr>
        <p:spPr>
          <a:xfrm>
            <a:off x="6299200" y="4162772"/>
            <a:ext cx="127000" cy="127000"/>
          </a:xfrm>
          <a:prstGeom prst="rect">
            <a:avLst/>
          </a:prstGeom>
          <a:solidFill>
            <a:srgbClr val="D6E2F5"/>
          </a:solidFill>
          <a:ln/>
        </p:spPr>
      </p:sp>
      <p:sp>
        <p:nvSpPr>
          <p:cNvPr id="46" name="Text 39"/>
          <p:cNvSpPr/>
          <p:nvPr/>
        </p:nvSpPr>
        <p:spPr>
          <a:xfrm>
            <a:off x="6502400" y="4119612"/>
            <a:ext cx="19520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Data and design · ₹20 k</a:t>
            </a:r>
            <a:endParaRPr lang="en-US" sz="1200" dirty="0"/>
          </a:p>
        </p:txBody>
      </p:sp>
      <p:sp>
        <p:nvSpPr>
          <p:cNvPr id="47" name="Shape 40"/>
          <p:cNvSpPr/>
          <p:nvPr/>
        </p:nvSpPr>
        <p:spPr>
          <a:xfrm>
            <a:off x="8839200" y="4162772"/>
            <a:ext cx="127000" cy="127000"/>
          </a:xfrm>
          <a:prstGeom prst="rect">
            <a:avLst/>
          </a:prstGeom>
          <a:solidFill>
            <a:srgbClr val="9AA3AF"/>
          </a:solidFill>
          <a:ln/>
        </p:spPr>
      </p:sp>
      <p:sp>
        <p:nvSpPr>
          <p:cNvPr id="48" name="Text 41"/>
          <p:cNvSpPr/>
          <p:nvPr/>
        </p:nvSpPr>
        <p:spPr>
          <a:xfrm>
            <a:off x="9042400" y="4119612"/>
            <a:ext cx="16367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D21"/>
                </a:solidFill>
                <a:latin typeface="Arial" pitchFamily="34" charset="0"/>
                <a:ea typeface="Arial" pitchFamily="34" charset="-122"/>
                <a:cs typeface="Arial" pitchFamily="34" charset="-120"/>
              </a:rPr>
              <a:t>Contingency · ₹50 k</a:t>
            </a:r>
            <a:endParaRPr lang="en-US" sz="1200" dirty="0"/>
          </a:p>
        </p:txBody>
      </p:sp>
      <p:sp>
        <p:nvSpPr>
          <p:cNvPr id="49" name="Text 42"/>
          <p:cNvSpPr/>
          <p:nvPr/>
        </p:nvSpPr>
        <p:spPr>
          <a:xfrm>
            <a:off x="812800" y="6238280"/>
            <a:ext cx="47988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Arial" pitchFamily="34" charset="0"/>
                <a:ea typeface="Arial" pitchFamily="34" charset="-122"/>
                <a:cs typeface="Arial" pitchFamily="34" charset="-120"/>
              </a:rPr>
              <a:t>RASID · Team ARD · Citi × NPCI DRUNIX Hackathon 2026</a:t>
            </a:r>
            <a:endParaRPr lang="en-US" sz="1200" dirty="0"/>
          </a:p>
        </p:txBody>
      </p:sp>
      <p:sp>
        <p:nvSpPr>
          <p:cNvPr id="50" name="Text 43"/>
          <p:cNvSpPr/>
          <p:nvPr/>
        </p:nvSpPr>
        <p:spPr>
          <a:xfrm>
            <a:off x="11158885" y="6238280"/>
            <a:ext cx="22031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812800" y="812800"/>
            <a:ext cx="609600" cy="38100"/>
          </a:xfrm>
          <a:prstGeom prst="rect">
            <a:avLst/>
          </a:prstGeom>
          <a:solidFill>
            <a:srgbClr val="6F8FC7"/>
          </a:solidFill>
          <a:ln/>
        </p:spPr>
      </p:sp>
      <p:sp>
        <p:nvSpPr>
          <p:cNvPr id="3" name="Text 1"/>
          <p:cNvSpPr/>
          <p:nvPr>
            <p:ph type="title"/>
          </p:nvPr>
        </p:nvSpPr>
        <p:spPr>
          <a:xfrm>
            <a:off x="812800" y="10033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AFAF8"/>
                </a:solidFill>
                <a:latin typeface="Georgia" pitchFamily="18" charset="0"/>
                <a:ea typeface="Georgia" pitchFamily="18" charset="-122"/>
                <a:cs typeface="Georgia" pitchFamily="18" charset="-120"/>
              </a:rPr>
              <a:t>RASID</a:t>
            </a:r>
            <a:endParaRPr lang="en-US" sz="4800" dirty="0"/>
          </a:p>
        </p:txBody>
      </p:sp>
      <p:sp>
        <p:nvSpPr>
          <p:cNvPr id="4" name="Text 2"/>
          <p:cNvSpPr/>
          <p:nvPr/>
        </p:nvSpPr>
        <p:spPr>
          <a:xfrm>
            <a:off x="812800" y="1826220"/>
            <a:ext cx="9156700"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AFAF8"/>
                </a:solidFill>
                <a:latin typeface="Georgia" pitchFamily="18" charset="0"/>
                <a:ea typeface="Georgia" pitchFamily="18" charset="-122"/>
                <a:cs typeface="Georgia" pitchFamily="18" charset="-120"/>
              </a:rPr>
              <a:t>The trust layer for India’s MSME receivables, built on DRUNIX.</a:t>
            </a:r>
            <a:endParaRPr lang="en-US" sz="2200" dirty="0"/>
          </a:p>
        </p:txBody>
      </p:sp>
      <p:sp>
        <p:nvSpPr>
          <p:cNvPr id="5" name="Text 3"/>
          <p:cNvSpPr/>
          <p:nvPr/>
        </p:nvSpPr>
        <p:spPr>
          <a:xfrm>
            <a:off x="812800" y="3510310"/>
            <a:ext cx="3418484"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AFAF8"/>
                </a:solidFill>
                <a:latin typeface="Georgia" pitchFamily="18" charset="0"/>
                <a:ea typeface="Georgia" pitchFamily="18" charset="-122"/>
                <a:cs typeface="Georgia" pitchFamily="18" charset="-120"/>
              </a:rPr>
              <a:t>₹790 cr</a:t>
            </a:r>
            <a:endParaRPr lang="en-US" sz="3600" dirty="0"/>
          </a:p>
        </p:txBody>
      </p:sp>
      <p:sp>
        <p:nvSpPr>
          <p:cNvPr id="6" name="Text 4"/>
          <p:cNvSpPr/>
          <p:nvPr/>
        </p:nvSpPr>
        <p:spPr>
          <a:xfrm>
            <a:off x="812800" y="4064000"/>
            <a:ext cx="3418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AF"/>
                </a:solidFill>
                <a:latin typeface="Arial" pitchFamily="34" charset="0"/>
                <a:ea typeface="Arial" pitchFamily="34" charset="-122"/>
                <a:cs typeface="Arial" pitchFamily="34" charset="-120"/>
              </a:rPr>
              <a:t>saved a year at 5% of the pool</a:t>
            </a:r>
            <a:endParaRPr lang="en-US" sz="1200" dirty="0"/>
          </a:p>
        </p:txBody>
      </p:sp>
      <p:sp>
        <p:nvSpPr>
          <p:cNvPr id="7" name="Text 5"/>
          <p:cNvSpPr/>
          <p:nvPr/>
        </p:nvSpPr>
        <p:spPr>
          <a:xfrm>
            <a:off x="4436517" y="3510310"/>
            <a:ext cx="3418484"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AFAF8"/>
                </a:solidFill>
                <a:latin typeface="Georgia" pitchFamily="18" charset="0"/>
                <a:ea typeface="Georgia" pitchFamily="18" charset="-122"/>
                <a:cs typeface="Georgia" pitchFamily="18" charset="-120"/>
              </a:rPr>
              <a:t>50,000</a:t>
            </a:r>
            <a:endParaRPr lang="en-US" sz="3600" dirty="0"/>
          </a:p>
        </p:txBody>
      </p:sp>
      <p:sp>
        <p:nvSpPr>
          <p:cNvPr id="8" name="Text 6"/>
          <p:cNvSpPr/>
          <p:nvPr/>
        </p:nvSpPr>
        <p:spPr>
          <a:xfrm>
            <a:off x="4436517" y="4064000"/>
            <a:ext cx="3418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AF"/>
                </a:solidFill>
                <a:latin typeface="Arial" pitchFamily="34" charset="0"/>
                <a:ea typeface="Arial" pitchFamily="34" charset="-122"/>
                <a:cs typeface="Arial" pitchFamily="34" charset="-120"/>
              </a:rPr>
              <a:t>MSMEs reached</a:t>
            </a:r>
            <a:endParaRPr lang="en-US" sz="1200" dirty="0"/>
          </a:p>
        </p:txBody>
      </p:sp>
      <p:sp>
        <p:nvSpPr>
          <p:cNvPr id="9" name="Text 7"/>
          <p:cNvSpPr/>
          <p:nvPr/>
        </p:nvSpPr>
        <p:spPr>
          <a:xfrm>
            <a:off x="8060234" y="3510310"/>
            <a:ext cx="3418535"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AFAF8"/>
                </a:solidFill>
                <a:latin typeface="Georgia" pitchFamily="18" charset="0"/>
                <a:ea typeface="Georgia" pitchFamily="18" charset="-122"/>
                <a:cs typeface="Georgia" pitchFamily="18" charset="-120"/>
              </a:rPr>
              <a:t>Hours</a:t>
            </a:r>
            <a:endParaRPr lang="en-US" sz="3600" dirty="0"/>
          </a:p>
        </p:txBody>
      </p:sp>
      <p:sp>
        <p:nvSpPr>
          <p:cNvPr id="10" name="Text 8"/>
          <p:cNvSpPr/>
          <p:nvPr/>
        </p:nvSpPr>
        <p:spPr>
          <a:xfrm>
            <a:off x="8060234" y="4064000"/>
            <a:ext cx="34185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AF"/>
                </a:solidFill>
                <a:latin typeface="Arial" pitchFamily="34" charset="0"/>
                <a:ea typeface="Arial" pitchFamily="34" charset="-122"/>
                <a:cs typeface="Arial" pitchFamily="34" charset="-120"/>
              </a:rPr>
              <a:t>to cash, not months</a:t>
            </a:r>
            <a:endParaRPr lang="en-US" sz="1200" dirty="0"/>
          </a:p>
        </p:txBody>
      </p:sp>
      <p:sp>
        <p:nvSpPr>
          <p:cNvPr id="11" name="Text 9"/>
          <p:cNvSpPr/>
          <p:nvPr/>
        </p:nvSpPr>
        <p:spPr>
          <a:xfrm>
            <a:off x="812800" y="54712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AFAF8"/>
                </a:solidFill>
                <a:latin typeface="Courier New" pitchFamily="49" charset="0"/>
                <a:ea typeface="Courier New" pitchFamily="49" charset="-122"/>
                <a:cs typeface="Courier New" pitchFamily="49" charset="-120"/>
              </a:rPr>
              <a:t>github.com/AradhyaSomani/rasid-drunix</a:t>
            </a:r>
            <a:endParaRPr lang="en-US" sz="1600" dirty="0"/>
          </a:p>
        </p:txBody>
      </p:sp>
      <p:sp>
        <p:nvSpPr>
          <p:cNvPr id="12" name="Text 10"/>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AF"/>
                </a:solidFill>
                <a:latin typeface="Arial" pitchFamily="34" charset="0"/>
                <a:ea typeface="Arial" pitchFamily="34" charset="-122"/>
                <a:cs typeface="Arial" pitchFamily="34" charset="-120"/>
              </a:rPr>
              <a:t>Team ARD · Registration ID STU5011</a:t>
            </a:r>
            <a:endParaRPr lang="en-US" sz="1200" dirty="0"/>
          </a:p>
        </p:txBody>
      </p:sp>
    </p:spTree>
  </p:cSld>
  <p:clrMapOvr>
    <a:masterClrMapping/>
  </p:clrMapOvr>
</p:sld>
</file>

<file path=ppt/theme/theme1.xml><?xml version="1.0" encoding="utf-8"?>
<a:theme xmlns:a="http://schemas.openxmlformats.org/drawingml/2006/main" name="RASID: DRUNIX Hackathon Pitch">
  <a:themeElements>
    <a:clrScheme name="RASID: DRUNIX Hackathon Pitch">
      <a:dk1>
        <a:srgbClr val="1A1D21"/>
      </a:dk1>
      <a:lt1>
        <a:srgbClr val="FAFAF8"/>
      </a:lt1>
      <a:dk2>
        <a:srgbClr val="525457"/>
      </a:dk2>
      <a:lt2>
        <a:srgbClr val="E4E4E3"/>
      </a:lt2>
      <a:accent1>
        <a:srgbClr val="1F4E9A"/>
      </a:accent1>
      <a:accent2>
        <a:srgbClr val="B54A1C"/>
      </a:accent2>
      <a:accent3>
        <a:srgbClr val="2D5FAF"/>
      </a:accent3>
      <a:accent4>
        <a:srgbClr val="A9BEE0"/>
      </a:accent4>
      <a:accent5>
        <a:srgbClr val="6F8FC7"/>
      </a:accent5>
      <a:accent6>
        <a:srgbClr val="5A6270"/>
      </a:accent6>
      <a:hlink>
        <a:srgbClr val="0563C1"/>
      </a:hlink>
      <a:folHlink>
        <a:srgbClr val="954F72"/>
      </a:folHlink>
    </a:clrScheme>
    <a:fontScheme name="RASID: DRUNIX Hackathon Pitch">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RASID: DRUNIX Hackathon Pitch</dc:title>
  <dc:subject/>
  <dc:creator/>
  <cp:lastModifiedBy/>
  <cp:revision>1</cp:revision>
  <dcterms:created xsi:type="dcterms:W3CDTF">2026-10-17T21:35:57Z</dcterms:created>
  <dcterms:modified xsi:type="dcterms:W3CDTF">2026-10-17T21:35:57Z</dcterms:modified>
</cp:coreProperties>
</file>